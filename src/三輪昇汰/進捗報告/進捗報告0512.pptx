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23B077B0-5A48-4F22-966A-CBA46A167659}">
          <p14:sldIdLst>
            <p14:sldId id="256"/>
          </p14:sldIdLst>
        </p14:section>
        <p14:section name="タイトルなしのセクション" id="{82878AC2-6D3B-40CA-A538-F1C8234AEA16}">
          <p14:sldIdLst>
            <p14:sldId id="257"/>
            <p14:sldId id="258"/>
            <p14:sldId id="259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>
        <p:scale>
          <a:sx n="100" d="100"/>
          <a:sy n="100" d="100"/>
        </p:scale>
        <p:origin x="-540" y="-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182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65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13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3938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22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60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34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45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452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70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296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6200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6587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553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339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1229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312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1403161-174B-45C0-81DC-FECA86F771D7}" type="datetimeFigureOut">
              <a:rPr kumimoji="1" lang="ja-JP" altLang="en-US" smtClean="0"/>
              <a:t>2025/5/12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EE66A-4437-4DF9-BB3F-CDAE259149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8174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8D9DEE-D03F-1341-9FD8-DCC44CDCF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進捗報告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ABFBFF-35F0-2588-54E6-8EC500CC84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AL21120 </a:t>
            </a:r>
            <a:r>
              <a:rPr kumimoji="1" lang="ja-JP" altLang="en-US" dirty="0"/>
              <a:t>三輪昇汰</a:t>
            </a:r>
          </a:p>
        </p:txBody>
      </p:sp>
    </p:spTree>
    <p:extLst>
      <p:ext uri="{BB962C8B-B14F-4D97-AF65-F5344CB8AC3E}">
        <p14:creationId xmlns:p14="http://schemas.microsoft.com/office/powerpoint/2010/main" val="35344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E583B2-D23D-89DC-F3FB-573C0FC2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進捗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B5F374-6569-DEA4-0DAE-3C87EA0F7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論文調査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“</a:t>
            </a:r>
            <a:r>
              <a:rPr lang="en-US" altLang="ja-JP" dirty="0"/>
              <a:t>An Empirical Study of Topic Transition in Dialogue</a:t>
            </a:r>
            <a:r>
              <a:rPr lang="ja-JP" altLang="en-US" dirty="0"/>
              <a:t>”，</a:t>
            </a:r>
            <a:r>
              <a:rPr lang="en-US" altLang="ja-JP" dirty="0"/>
              <a:t> Mayank Soni</a:t>
            </a:r>
            <a:r>
              <a:rPr lang="ja-JP" altLang="en-US" dirty="0"/>
              <a:t>他，</a:t>
            </a:r>
            <a:r>
              <a:rPr lang="en-US" altLang="ja-JP" i="1" dirty="0"/>
              <a:t>Proceedings of the 3rd Workshop on Computational Approaches to Discourse</a:t>
            </a:r>
            <a:r>
              <a:rPr lang="en-US" altLang="ja-JP" dirty="0"/>
              <a:t>, 2022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8280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AEB7CD-2AAC-E5A0-9078-0CA33527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DAC7D9-9D3A-26BC-0C9A-E8CCE93D2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ja-JP" altLang="en-US" dirty="0"/>
              <a:t>対話の長さとトピック遷移の数の関係</a:t>
            </a:r>
          </a:p>
          <a:p>
            <a:pPr>
              <a:buFont typeface="+mj-lt"/>
              <a:buAutoNum type="arabicPeriod"/>
            </a:pPr>
            <a:r>
              <a:rPr lang="ja-JP" altLang="en-US" dirty="0"/>
              <a:t>トピック遷移が対話参加者間でどのように分配されているか</a:t>
            </a:r>
          </a:p>
          <a:p>
            <a:pPr>
              <a:buFont typeface="+mj-lt"/>
              <a:buAutoNum type="arabicPeriod"/>
            </a:pPr>
            <a:r>
              <a:rPr lang="ja-JP" altLang="en-US" dirty="0"/>
              <a:t>トピック遷移の時間的な進行パターン</a:t>
            </a:r>
          </a:p>
          <a:p>
            <a:pPr>
              <a:buFont typeface="+mj-lt"/>
              <a:buAutoNum type="arabicPeriod"/>
            </a:pPr>
            <a:r>
              <a:rPr lang="ja-JP" altLang="en-US" dirty="0"/>
              <a:t>トピック遷移を自動的に検出するモデルの構築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1637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DA256-F34A-F498-9ABA-527BBDE85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手法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35FB69-5309-5F2F-351D-CE1DD3D89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Switchboard</a:t>
            </a:r>
            <a:r>
              <a:rPr lang="ja-JP" altLang="en-US" dirty="0"/>
              <a:t>コーパスから</a:t>
            </a:r>
            <a:r>
              <a:rPr lang="en-US" altLang="ja-JP" dirty="0"/>
              <a:t>215</a:t>
            </a:r>
            <a:r>
              <a:rPr lang="ja-JP" altLang="en-US" dirty="0"/>
              <a:t>の対話を無作為に抽出し、手動でアノテーションを行った。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アノテーション項目：対話の開始（</a:t>
            </a:r>
            <a:r>
              <a:rPr lang="en-US" altLang="ja-JP" dirty="0"/>
              <a:t>S</a:t>
            </a:r>
            <a:r>
              <a:rPr lang="ja-JP" altLang="en-US" dirty="0"/>
              <a:t>）・終了（</a:t>
            </a:r>
            <a:r>
              <a:rPr lang="en-US" altLang="ja-JP" dirty="0"/>
              <a:t>E</a:t>
            </a:r>
            <a:r>
              <a:rPr lang="ja-JP" altLang="en-US" dirty="0"/>
              <a:t>）、挨拶・別れ（</a:t>
            </a:r>
            <a:r>
              <a:rPr lang="en-US" altLang="ja-JP" dirty="0"/>
              <a:t>GIL</a:t>
            </a:r>
            <a:r>
              <a:rPr lang="ja-JP" altLang="en-US" dirty="0"/>
              <a:t>）、トピック、トピック遷移（</a:t>
            </a:r>
            <a:r>
              <a:rPr lang="en-US" altLang="ja-JP" dirty="0"/>
              <a:t>C</a:t>
            </a:r>
            <a:r>
              <a:rPr lang="ja-JP" altLang="en-US" dirty="0"/>
              <a:t>）、失敗したトピック遷移（</a:t>
            </a:r>
            <a:r>
              <a:rPr lang="en-US" altLang="ja-JP" dirty="0"/>
              <a:t>X</a:t>
            </a:r>
            <a:r>
              <a:rPr lang="ja-JP" altLang="en-US" dirty="0"/>
              <a:t>）。</a:t>
            </a:r>
            <a:endParaRPr lang="en-US" altLang="ja-JP" dirty="0"/>
          </a:p>
          <a:p>
            <a:endParaRPr kumimoji="1" lang="en-US" altLang="ja-JP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 dirty="0"/>
              <a:t>教師なし学習</a:t>
            </a:r>
            <a:r>
              <a:rPr lang="ja-JP" altLang="en-US" dirty="0"/>
              <a:t>：</a:t>
            </a:r>
            <a:r>
              <a:rPr lang="en-US" altLang="ja-JP" dirty="0" err="1"/>
              <a:t>TextTiling</a:t>
            </a:r>
            <a:r>
              <a:rPr lang="ja-JP" altLang="en-US" dirty="0"/>
              <a:t>（語彙的結束性に基づくセグメンテーション）。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b="1" dirty="0"/>
              <a:t>教師あり学習</a:t>
            </a:r>
            <a:r>
              <a:rPr lang="ja-JP" altLang="en-US" dirty="0"/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古典的機械学習（</a:t>
            </a:r>
            <a:r>
              <a:rPr lang="en-US" altLang="ja-JP" dirty="0"/>
              <a:t>Naive Bayes</a:t>
            </a:r>
            <a:r>
              <a:rPr lang="ja-JP" altLang="en-US" dirty="0"/>
              <a:t>、</a:t>
            </a:r>
            <a:r>
              <a:rPr lang="en-US" altLang="ja-JP" dirty="0" err="1"/>
              <a:t>LightGBM</a:t>
            </a:r>
            <a:r>
              <a:rPr lang="ja-JP" altLang="en-US" dirty="0"/>
              <a:t>）。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深層学習（</a:t>
            </a:r>
            <a:r>
              <a:rPr lang="en-US" altLang="ja-JP" dirty="0" err="1"/>
              <a:t>XLNet</a:t>
            </a:r>
            <a:r>
              <a:rPr lang="en-US" altLang="ja-JP" dirty="0"/>
              <a:t>-base</a:t>
            </a:r>
            <a:r>
              <a:rPr lang="ja-JP" altLang="en-US" dirty="0"/>
              <a:t>、</a:t>
            </a:r>
            <a:r>
              <a:rPr lang="en-US" altLang="ja-JP" dirty="0"/>
              <a:t>Hugging Face</a:t>
            </a:r>
            <a:r>
              <a:rPr lang="ja-JP" altLang="en-US" dirty="0"/>
              <a:t>の</a:t>
            </a:r>
            <a:r>
              <a:rPr lang="en-US" altLang="ja-JP" dirty="0"/>
              <a:t>Transformers</a:t>
            </a:r>
            <a:r>
              <a:rPr lang="ja-JP" altLang="en-US" dirty="0"/>
              <a:t>を使用）。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0339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5F057-1F18-6351-C6ED-7D4CE09D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C98009-8BE0-8406-1989-917D8629E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実験方法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844A30-67FF-1672-8AFF-8DCF541C4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ja-JP" altLang="en-US" b="1" dirty="0"/>
              <a:t>データセット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ja-JP" dirty="0"/>
              <a:t>215</a:t>
            </a:r>
            <a:r>
              <a:rPr lang="ja-JP" altLang="en-US" dirty="0"/>
              <a:t>の対話、</a:t>
            </a:r>
            <a:r>
              <a:rPr lang="en-US" altLang="ja-JP" dirty="0"/>
              <a:t>20,566</a:t>
            </a:r>
            <a:r>
              <a:rPr lang="ja-JP" altLang="en-US" dirty="0"/>
              <a:t>ターン（</a:t>
            </a:r>
            <a:r>
              <a:rPr lang="en-US" altLang="ja-JP" dirty="0"/>
              <a:t>1</a:t>
            </a:r>
            <a:r>
              <a:rPr lang="ja-JP" altLang="en-US" dirty="0"/>
              <a:t>対話あたり平均</a:t>
            </a:r>
            <a:r>
              <a:rPr lang="en-US" altLang="ja-JP" dirty="0"/>
              <a:t>96</a:t>
            </a:r>
            <a:r>
              <a:rPr lang="ja-JP" altLang="en-US" dirty="0"/>
              <a:t>ターン）。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各トピックの平均発話数は</a:t>
            </a:r>
            <a:r>
              <a:rPr lang="en-US" altLang="ja-JP" dirty="0"/>
              <a:t>12</a:t>
            </a:r>
            <a:r>
              <a:rPr lang="ja-JP" altLang="en-US" dirty="0"/>
              <a:t>ターン。</a:t>
            </a:r>
          </a:p>
          <a:p>
            <a:pPr>
              <a:buFont typeface="+mj-lt"/>
              <a:buAutoNum type="arabicPeriod"/>
            </a:pPr>
            <a:r>
              <a:rPr lang="ja-JP" altLang="en-US" b="1" dirty="0"/>
              <a:t>評価指標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精度（</a:t>
            </a:r>
            <a:r>
              <a:rPr lang="en-US" altLang="ja-JP" dirty="0"/>
              <a:t>Precision</a:t>
            </a:r>
            <a:r>
              <a:rPr lang="ja-JP" altLang="en-US" dirty="0"/>
              <a:t>）、再現率（</a:t>
            </a:r>
            <a:r>
              <a:rPr lang="en-US" altLang="ja-JP" dirty="0"/>
              <a:t>Recall</a:t>
            </a:r>
            <a:r>
              <a:rPr lang="ja-JP" altLang="en-US" dirty="0"/>
              <a:t>）、</a:t>
            </a:r>
            <a:r>
              <a:rPr lang="en-US" altLang="ja-JP" dirty="0"/>
              <a:t>F1</a:t>
            </a:r>
            <a:r>
              <a:rPr lang="ja-JP" altLang="en-US" dirty="0"/>
              <a:t>スコア（</a:t>
            </a:r>
            <a:r>
              <a:rPr lang="ja-JP" altLang="en-US" b="1" dirty="0"/>
              <a:t>調和平均</a:t>
            </a:r>
            <a:r>
              <a:rPr lang="ja-JP" altLang="en-US" dirty="0"/>
              <a:t>）</a:t>
            </a:r>
          </a:p>
          <a:p>
            <a:pPr>
              <a:buFont typeface="+mj-lt"/>
              <a:buAutoNum type="arabicPeriod"/>
            </a:pPr>
            <a:r>
              <a:rPr lang="ja-JP" altLang="en-US" b="1" dirty="0"/>
              <a:t>モデル間の比較</a:t>
            </a:r>
            <a:endParaRPr lang="ja-JP" altLang="en-US" dirty="0"/>
          </a:p>
          <a:p>
            <a:pPr marL="457200" lvl="1" indent="0">
              <a:buNone/>
            </a:pPr>
            <a:r>
              <a:rPr lang="en-US" altLang="ja-JP" dirty="0" err="1"/>
              <a:t>XLNet</a:t>
            </a:r>
            <a:r>
              <a:rPr lang="en-US" altLang="ja-JP" dirty="0"/>
              <a:t>-base</a:t>
            </a:r>
            <a:r>
              <a:rPr lang="ja-JP" altLang="en-US" dirty="0"/>
              <a:t>は</a:t>
            </a:r>
            <a:r>
              <a:rPr lang="en-US" altLang="ja-JP" dirty="0"/>
              <a:t>4</a:t>
            </a:r>
            <a:r>
              <a:rPr lang="ja-JP" altLang="en-US" dirty="0"/>
              <a:t>エポックで学習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7958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E253CD-D96C-B1F5-0B9C-68D843A4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7BC50C-C553-C85C-DCDB-BE5CF62C8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+mj-lt"/>
              <a:buAutoNum type="arabicPeriod"/>
            </a:pPr>
            <a:r>
              <a:rPr lang="ja-JP" altLang="en-US" b="1" dirty="0"/>
              <a:t>対話の長さとトピック遷移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ピアソン相関係数：</a:t>
            </a:r>
            <a:r>
              <a:rPr lang="en-US" altLang="ja-JP" dirty="0"/>
              <a:t>0.74</a:t>
            </a:r>
            <a:r>
              <a:rPr lang="ja-JP" altLang="en-US" dirty="0"/>
              <a:t>（強い正の相関）。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線形回帰の決定係数（</a:t>
            </a:r>
            <a:r>
              <a:rPr lang="en-US" altLang="ja-JP" dirty="0"/>
              <a:t>R²</a:t>
            </a:r>
            <a:r>
              <a:rPr lang="ja-JP" altLang="en-US" dirty="0"/>
              <a:t>）：</a:t>
            </a:r>
            <a:r>
              <a:rPr lang="en-US" altLang="ja-JP" dirty="0"/>
              <a:t>0.55</a:t>
            </a:r>
            <a:r>
              <a:rPr lang="ja-JP" altLang="en-US" dirty="0"/>
              <a:t>（</a:t>
            </a:r>
            <a:r>
              <a:rPr lang="en-US" altLang="ja-JP" dirty="0"/>
              <a:t>p &lt; 0.001</a:t>
            </a:r>
            <a:r>
              <a:rPr lang="ja-JP" altLang="en-US" dirty="0"/>
              <a:t>）。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長い対話ほどトピック遷移が多い傾向。</a:t>
            </a:r>
          </a:p>
          <a:p>
            <a:pPr>
              <a:buFont typeface="+mj-lt"/>
              <a:buAutoNum type="arabicPeriod"/>
            </a:pPr>
            <a:r>
              <a:rPr lang="ja-JP" altLang="en-US" b="1" dirty="0"/>
              <a:t>トピック遷移の分配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ja-JP" dirty="0"/>
              <a:t>62%</a:t>
            </a:r>
            <a:r>
              <a:rPr lang="ja-JP" altLang="en-US" dirty="0"/>
              <a:t>の対話で、一方の参加者が他方より</a:t>
            </a:r>
            <a:r>
              <a:rPr lang="en-US" altLang="ja-JP" dirty="0"/>
              <a:t>2</a:t>
            </a:r>
            <a:r>
              <a:rPr lang="ja-JP" altLang="en-US" dirty="0"/>
              <a:t>回以上多くトピック遷移を主導（</a:t>
            </a:r>
            <a:r>
              <a:rPr lang="en-US" altLang="ja-JP" dirty="0"/>
              <a:t>χ² = 403.41, p &lt; 0.005</a:t>
            </a:r>
            <a:r>
              <a:rPr lang="ja-JP" altLang="en-US" dirty="0"/>
              <a:t>）。</a:t>
            </a:r>
          </a:p>
          <a:p>
            <a:pPr>
              <a:buFont typeface="+mj-lt"/>
              <a:buAutoNum type="arabicPeriod"/>
            </a:pPr>
            <a:r>
              <a:rPr lang="ja-JP" altLang="en-US" b="1" dirty="0"/>
              <a:t>時間的進行パターン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トピックごとの発話数に明確なパターンはなく、弱い相関（</a:t>
            </a:r>
            <a:r>
              <a:rPr lang="en-US" altLang="ja-JP" dirty="0"/>
              <a:t>r = 0.21</a:t>
            </a:r>
            <a:r>
              <a:rPr lang="ja-JP" altLang="en-US" dirty="0"/>
              <a:t>）。</a:t>
            </a:r>
          </a:p>
          <a:p>
            <a:pPr>
              <a:buFont typeface="+mj-lt"/>
              <a:buAutoNum type="arabicPeriod"/>
            </a:pPr>
            <a:r>
              <a:rPr lang="ja-JP" altLang="en-US" b="1" dirty="0"/>
              <a:t>モデリングの性能</a:t>
            </a:r>
            <a:endParaRPr lang="ja-JP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ja-JP" b="1" dirty="0" err="1"/>
              <a:t>LightGBM</a:t>
            </a:r>
            <a:r>
              <a:rPr lang="ja-JP" altLang="en-US" dirty="0"/>
              <a:t>：精度</a:t>
            </a:r>
            <a:r>
              <a:rPr lang="en-US" altLang="ja-JP" dirty="0"/>
              <a:t>91%</a:t>
            </a:r>
            <a:r>
              <a:rPr lang="ja-JP" altLang="en-US" dirty="0"/>
              <a:t>で最高。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ja-JP" b="1" dirty="0" err="1"/>
              <a:t>XLNet</a:t>
            </a:r>
            <a:r>
              <a:rPr lang="en-US" altLang="ja-JP" b="1" dirty="0"/>
              <a:t>-base</a:t>
            </a:r>
            <a:r>
              <a:rPr lang="ja-JP" altLang="en-US" dirty="0"/>
              <a:t>：再現率</a:t>
            </a:r>
            <a:r>
              <a:rPr lang="en-US" altLang="ja-JP" dirty="0"/>
              <a:t>61%</a:t>
            </a:r>
            <a:r>
              <a:rPr lang="ja-JP" altLang="en-US" dirty="0"/>
              <a:t>、</a:t>
            </a:r>
            <a:r>
              <a:rPr lang="en-US" altLang="ja-JP" dirty="0"/>
              <a:t>F1</a:t>
            </a:r>
            <a:r>
              <a:rPr lang="ja-JP" altLang="en-US" dirty="0"/>
              <a:t>スコア</a:t>
            </a:r>
            <a:r>
              <a:rPr lang="en-US" altLang="ja-JP" dirty="0"/>
              <a:t>62%</a:t>
            </a:r>
            <a:r>
              <a:rPr lang="ja-JP" altLang="en-US" dirty="0"/>
              <a:t>で最高。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ja-JP" dirty="0" err="1"/>
              <a:t>TextTiling</a:t>
            </a:r>
            <a:r>
              <a:rPr lang="ja-JP" altLang="en-US" dirty="0"/>
              <a:t>は対話テキストには不向き（</a:t>
            </a:r>
            <a:r>
              <a:rPr lang="en-US" altLang="ja-JP" dirty="0"/>
              <a:t>F1</a:t>
            </a:r>
            <a:r>
              <a:rPr lang="ja-JP" altLang="en-US" dirty="0"/>
              <a:t>スコア</a:t>
            </a:r>
            <a:r>
              <a:rPr lang="en-US" altLang="ja-JP" dirty="0"/>
              <a:t>58%</a:t>
            </a:r>
            <a:r>
              <a:rPr lang="ja-JP" altLang="en-US" dirty="0"/>
              <a:t>）。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863293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イオン">
  <a:themeElements>
    <a:clrScheme name="イオン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イオン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イオン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310</TotalTime>
  <Words>364</Words>
  <Application>Microsoft Office PowerPoint</Application>
  <PresentationFormat>ワイド画面</PresentationFormat>
  <Paragraphs>40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イオン</vt:lpstr>
      <vt:lpstr>進捗報告</vt:lpstr>
      <vt:lpstr>進捗</vt:lpstr>
      <vt:lpstr>研究目的</vt:lpstr>
      <vt:lpstr>手法</vt:lpstr>
      <vt:lpstr>実験方法</vt:lpstr>
      <vt:lpstr>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昇汰 三輪</dc:creator>
  <cp:lastModifiedBy>昇汰 三輪</cp:lastModifiedBy>
  <cp:revision>1</cp:revision>
  <dcterms:created xsi:type="dcterms:W3CDTF">2025-05-11T23:25:54Z</dcterms:created>
  <dcterms:modified xsi:type="dcterms:W3CDTF">2025-05-12T04:36:49Z</dcterms:modified>
</cp:coreProperties>
</file>