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56" r:id="rId2"/>
    <p:sldId id="300" r:id="rId3"/>
    <p:sldId id="301" r:id="rId4"/>
    <p:sldId id="297" r:id="rId5"/>
    <p:sldId id="298" r:id="rId6"/>
    <p:sldId id="302" r:id="rId7"/>
  </p:sldIdLst>
  <p:sldSz cx="12192000" cy="6858000"/>
  <p:notesSz cx="6858000" cy="9144000"/>
  <p:embeddedFontLst>
    <p:embeddedFont>
      <p:font typeface="Cambria Math" panose="02040503050406030204" pitchFamily="18" charset="0"/>
      <p:regular r:id="rId9"/>
    </p:embeddedFont>
    <p:embeddedFont>
      <p:font typeface="Open Sans" panose="020B0606030504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35034" autoAdjust="0"/>
  </p:normalViewPr>
  <p:slideViewPr>
    <p:cSldViewPr snapToGrid="0">
      <p:cViewPr varScale="1">
        <p:scale>
          <a:sx n="33" d="100"/>
          <a:sy n="33" d="100"/>
        </p:scale>
        <p:origin x="251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研究方針　ヒートマップ（正解）を再現するモデル作り</a:t>
            </a:r>
            <a:endParaRPr lang="en-US" altLang="ja-JP" dirty="0"/>
          </a:p>
          <a:p>
            <a:pPr marL="0" lvl="0" indent="0" algn="l" rtl="0">
              <a:lnSpc>
                <a:spcPct val="100000"/>
              </a:lnSpc>
              <a:spcBef>
                <a:spcPts val="0"/>
              </a:spcBef>
              <a:spcAft>
                <a:spcPts val="0"/>
              </a:spcAft>
              <a:buSzPts val="1400"/>
              <a:buNone/>
            </a:pPr>
            <a:r>
              <a:rPr lang="ja-JP" altLang="en-US" dirty="0"/>
              <a:t>→ヒートマップ情報が入手できるならモデルいらないじゃんとなりそう</a:t>
            </a:r>
            <a:endParaRPr lang="en-US" altLang="ja-JP" dirty="0"/>
          </a:p>
          <a:p>
            <a:pPr marL="0" lvl="0" indent="0" algn="l" rtl="0">
              <a:lnSpc>
                <a:spcPct val="100000"/>
              </a:lnSpc>
              <a:spcBef>
                <a:spcPts val="0"/>
              </a:spcBef>
              <a:spcAft>
                <a:spcPts val="0"/>
              </a:spcAft>
              <a:buSzPts val="1400"/>
              <a:buNone/>
            </a:pPr>
            <a:r>
              <a:rPr lang="ja-JP" altLang="en-US" dirty="0"/>
              <a:t>→ヒートマップが本当に的を捉えているのか</a:t>
            </a:r>
            <a:endParaRPr lang="en-US" dirty="0"/>
          </a:p>
          <a:p>
            <a:pPr marL="0" lvl="0" indent="0" algn="l" rtl="0">
              <a:lnSpc>
                <a:spcPct val="100000"/>
              </a:lnSpc>
              <a:spcBef>
                <a:spcPts val="0"/>
              </a:spcBef>
              <a:spcAft>
                <a:spcPts val="0"/>
              </a:spcAft>
              <a:buSzPts val="1400"/>
              <a:buNone/>
            </a:pPr>
            <a:r>
              <a:rPr lang="ja-JP" altLang="en-US" dirty="0"/>
              <a:t>→ヒートマップが捉えなかった注目区間を見つける研究</a:t>
            </a:r>
            <a:endParaRPr lang="en-US" altLang="ja-JP" dirty="0"/>
          </a:p>
          <a:p>
            <a:pPr marL="0" lvl="0" indent="0" algn="l" rtl="0">
              <a:lnSpc>
                <a:spcPct val="100000"/>
              </a:lnSpc>
              <a:spcBef>
                <a:spcPts val="0"/>
              </a:spcBef>
              <a:spcAft>
                <a:spcPts val="0"/>
              </a:spcAft>
              <a:buSzPts val="1400"/>
              <a:buNone/>
            </a:pPr>
            <a:r>
              <a:rPr lang="ja-JP" altLang="en-US" dirty="0"/>
              <a:t>１ヒートマップによる一般的な盛り上がりを学習</a:t>
            </a:r>
            <a:endParaRPr lang="en-US" altLang="ja-JP"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dirty="0"/>
              <a:t>２予備実験によってつくったデータで再学習（</a:t>
            </a:r>
            <a:r>
              <a:rPr lang="en-US" altLang="ja-JP" dirty="0"/>
              <a:t>fine-tuning</a:t>
            </a:r>
            <a:r>
              <a:rPr lang="ja-JP" altLang="en-US" dirty="0"/>
              <a:t>）</a:t>
            </a: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ja-JP" altLang="en-US" dirty="0"/>
              <a:t>この流れで研究が行えるかを確かめるために</a:t>
            </a:r>
            <a:r>
              <a:rPr lang="en-US" altLang="ja-JP" dirty="0"/>
              <a:t>1</a:t>
            </a:r>
            <a:r>
              <a:rPr lang="ja-JP" altLang="en-US" dirty="0"/>
              <a:t>のあとに予備実験</a:t>
            </a:r>
            <a:endParaRPr lang="en-US" altLang="ja-JP" dirty="0"/>
          </a:p>
          <a:p>
            <a:pPr marL="0" lvl="0" indent="0" algn="l" rtl="0">
              <a:lnSpc>
                <a:spcPct val="100000"/>
              </a:lnSpc>
              <a:spcBef>
                <a:spcPts val="0"/>
              </a:spcBef>
              <a:spcAft>
                <a:spcPts val="0"/>
              </a:spcAft>
              <a:buSzPts val="1400"/>
              <a:buNone/>
            </a:pPr>
            <a:r>
              <a:rPr lang="ja-JP" altLang="en-US" dirty="0"/>
              <a:t>ヒートマップの「高い区間」と「低い区間」をサンプリングし、被験者に「面白さ」を評価してもらう。</a:t>
            </a:r>
            <a:endParaRPr lang="en-US" altLang="ja-JP" dirty="0"/>
          </a:p>
          <a:p>
            <a:pPr marL="0" lvl="0" indent="0" algn="l" rtl="0">
              <a:lnSpc>
                <a:spcPct val="100000"/>
              </a:lnSpc>
              <a:spcBef>
                <a:spcPts val="0"/>
              </a:spcBef>
              <a:spcAft>
                <a:spcPts val="0"/>
              </a:spcAft>
              <a:buSzPts val="1400"/>
              <a:buNone/>
            </a:pPr>
            <a:r>
              <a:rPr lang="ja-JP" altLang="en-US" b="1" dirty="0"/>
              <a:t>目的</a:t>
            </a:r>
            <a:r>
              <a:rPr lang="en-US" altLang="ja-JP" b="1" dirty="0"/>
              <a:t>:</a:t>
            </a:r>
            <a:r>
              <a:rPr lang="ja-JP" altLang="en-US" dirty="0"/>
              <a:t> 「ヒートマップが低くても面白い場所がある」という事実を突き止める。</a:t>
            </a:r>
            <a:endParaRPr lang="en-US" altLang="ja-JP" dirty="0"/>
          </a:p>
          <a:p>
            <a:pPr marL="0" lvl="0" indent="0" algn="l" rtl="0">
              <a:lnSpc>
                <a:spcPct val="100000"/>
              </a:lnSpc>
              <a:spcBef>
                <a:spcPts val="0"/>
              </a:spcBef>
              <a:spcAft>
                <a:spcPts val="0"/>
              </a:spcAft>
              <a:buSzPts val="1400"/>
              <a:buNone/>
            </a:pPr>
            <a:endParaRPr lang="en-US" altLang="ja-JP" dirty="0"/>
          </a:p>
          <a:p>
            <a:r>
              <a:rPr lang="ja-JP" altLang="en-US" dirty="0"/>
              <a:t>ダイジェスト動画の比較評価（</a:t>
            </a:r>
            <a:r>
              <a:rPr lang="en-US" altLang="ja-JP" dirty="0"/>
              <a:t>AB</a:t>
            </a:r>
            <a:r>
              <a:rPr lang="ja-JP" altLang="en-US" dirty="0"/>
              <a:t>テスト）</a:t>
            </a:r>
            <a:endParaRPr lang="en-US" altLang="ja-JP" b="1" dirty="0"/>
          </a:p>
          <a:p>
            <a:r>
              <a:rPr lang="ja-JP" altLang="en-US" b="1" dirty="0"/>
              <a:t>実験方法</a:t>
            </a:r>
            <a:r>
              <a:rPr lang="en-US" altLang="ja-JP" b="1" dirty="0"/>
              <a:t>:</a:t>
            </a:r>
            <a:r>
              <a:rPr lang="ja-JP" altLang="en-US" dirty="0"/>
              <a:t> </a:t>
            </a:r>
            <a:endParaRPr lang="en-US" altLang="ja-JP" dirty="0"/>
          </a:p>
          <a:p>
            <a:r>
              <a:rPr lang="ja-JP" altLang="en-US" b="1" dirty="0"/>
              <a:t>パターン</a:t>
            </a:r>
            <a:r>
              <a:rPr lang="en-US" altLang="ja-JP" b="1" dirty="0"/>
              <a:t>A:</a:t>
            </a:r>
            <a:r>
              <a:rPr lang="ja-JP" altLang="en-US" dirty="0"/>
              <a:t> ヒートマップの上位区間だけで作ったダイジェスト動画。</a:t>
            </a:r>
          </a:p>
          <a:p>
            <a:r>
              <a:rPr lang="ja-JP" altLang="en-US" b="1" dirty="0"/>
              <a:t>パターン</a:t>
            </a:r>
            <a:r>
              <a:rPr lang="en-US" altLang="ja-JP" b="1" dirty="0"/>
              <a:t>B:</a:t>
            </a:r>
            <a:r>
              <a:rPr lang="ja-JP" altLang="en-US" dirty="0"/>
              <a:t> 提案モデルのスコア上位区間で作ったダイジェスト動画。</a:t>
            </a:r>
          </a:p>
          <a:p>
            <a:r>
              <a:rPr lang="ja-JP" altLang="en-US" b="1" dirty="0"/>
              <a:t>評価</a:t>
            </a:r>
            <a:r>
              <a:rPr lang="en-US" altLang="ja-JP" b="1" dirty="0"/>
              <a:t>:</a:t>
            </a:r>
            <a:r>
              <a:rPr lang="ja-JP" altLang="en-US" dirty="0"/>
              <a:t> 両方を被験者に見せ、「どちらが動画の内容をより深く理解できたか」「どちらが満足度が高いか」を比較してもらう</a:t>
            </a:r>
          </a:p>
          <a:p>
            <a:r>
              <a:rPr lang="ja-JP" altLang="en-US" b="1" dirty="0"/>
              <a:t>狙い</a:t>
            </a:r>
            <a:r>
              <a:rPr lang="en-US" altLang="ja-JP" b="1" dirty="0"/>
              <a:t>:</a:t>
            </a:r>
            <a:r>
              <a:rPr lang="ja-JP" altLang="en-US" dirty="0"/>
              <a:t> 単なる盛り上がり（ヒートマップ）よりも、あなたのモデルの方が「コンテンツの本質」を捉えていることを示す</a:t>
            </a:r>
            <a:endParaRPr lang="en-US" altLang="ja-JP" dirty="0"/>
          </a:p>
          <a:p>
            <a:endParaRPr lang="en-US" altLang="ja-JP" dirty="0"/>
          </a:p>
          <a:p>
            <a:r>
              <a:rPr lang="ja-JP" altLang="en-US" dirty="0"/>
              <a:t>特徴量の寄与度分析（説明性の検証）</a:t>
            </a:r>
          </a:p>
          <a:p>
            <a:pPr marL="0" lvl="0" indent="0" algn="l" rtl="0">
              <a:lnSpc>
                <a:spcPct val="100000"/>
              </a:lnSpc>
              <a:spcBef>
                <a:spcPts val="0"/>
              </a:spcBef>
              <a:spcAft>
                <a:spcPts val="0"/>
              </a:spcAft>
              <a:buSzPts val="1400"/>
              <a:buNone/>
            </a:pPr>
            <a:endParaRPr lang="en-US" altLang="ja-JP" dirty="0"/>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1200" b="0" i="0" u="none" strike="noStrike" cap="none" dirty="0" err="1">
                <a:solidFill>
                  <a:schemeClr val="dk1"/>
                </a:solidFill>
                <a:effectLst/>
                <a:latin typeface="Arial"/>
                <a:ea typeface="Arial"/>
                <a:cs typeface="Arial"/>
                <a:sym typeface="Arial"/>
              </a:rPr>
              <a:t>start_time</a:t>
            </a:r>
            <a:r>
              <a:rPr lang="en-US" altLang="ja-JP" sz="1200" b="0" i="0" u="none" strike="noStrike" cap="none" dirty="0">
                <a:solidFill>
                  <a:schemeClr val="dk1"/>
                </a:solidFill>
                <a:effectLst/>
                <a:latin typeface="Arial"/>
                <a:ea typeface="Arial"/>
                <a:cs typeface="Arial"/>
                <a:sym typeface="Arial"/>
              </a:rPr>
              <a:t>“:</a:t>
            </a:r>
            <a:r>
              <a:rPr lang="en-US" altLang="ja-JP" dirty="0"/>
              <a:t> </a:t>
            </a:r>
            <a:r>
              <a:rPr lang="en-US" altLang="ja-JP" sz="1200" b="0" i="0" u="none" strike="noStrike" cap="none" dirty="0">
                <a:solidFill>
                  <a:schemeClr val="dk1"/>
                </a:solidFill>
                <a:effectLst/>
                <a:latin typeface="Arial"/>
                <a:ea typeface="Arial"/>
                <a:cs typeface="Arial"/>
                <a:sym typeface="Arial"/>
              </a:rPr>
              <a:t>0.0,</a:t>
            </a:r>
            <a:r>
              <a:rPr lang="en-US" altLang="ja-JP" dirty="0"/>
              <a:t> </a:t>
            </a:r>
            <a:r>
              <a:rPr lang="en-US" altLang="ja-JP" sz="1200" b="0" i="0" u="none" strike="noStrike" cap="none" dirty="0">
                <a:solidFill>
                  <a:schemeClr val="dk1"/>
                </a:solidFill>
                <a:effectLst/>
                <a:latin typeface="Arial"/>
                <a:ea typeface="Arial"/>
                <a:cs typeface="Arial"/>
                <a:sym typeface="Arial"/>
              </a:rPr>
              <a:t>”</a:t>
            </a:r>
            <a:r>
              <a:rPr lang="en-US" altLang="ja-JP" sz="1200" b="0" i="0" u="none" strike="noStrike" cap="none" dirty="0" err="1">
                <a:solidFill>
                  <a:schemeClr val="dk1"/>
                </a:solidFill>
                <a:effectLst/>
                <a:latin typeface="Arial"/>
                <a:ea typeface="Arial"/>
                <a:cs typeface="Arial"/>
                <a:sym typeface="Arial"/>
              </a:rPr>
              <a:t>end_time</a:t>
            </a:r>
            <a:r>
              <a:rPr lang="en-US" altLang="ja-JP" sz="1200" b="0" i="0" u="none" strike="noStrike" cap="none" dirty="0">
                <a:solidFill>
                  <a:schemeClr val="dk1"/>
                </a:solidFill>
                <a:effectLst/>
                <a:latin typeface="Arial"/>
                <a:ea typeface="Arial"/>
                <a:cs typeface="Arial"/>
                <a:sym typeface="Arial"/>
              </a:rPr>
              <a:t>“:</a:t>
            </a:r>
            <a:r>
              <a:rPr lang="en-US" altLang="ja-JP" dirty="0"/>
              <a:t> </a:t>
            </a:r>
            <a:r>
              <a:rPr lang="en-US" altLang="ja-JP" sz="1200" b="0" i="0" u="none" strike="noStrike" cap="none" dirty="0">
                <a:solidFill>
                  <a:schemeClr val="dk1"/>
                </a:solidFill>
                <a:effectLst/>
                <a:latin typeface="Arial"/>
                <a:ea typeface="Arial"/>
                <a:cs typeface="Arial"/>
                <a:sym typeface="Arial"/>
              </a:rPr>
              <a:t>10.0,</a:t>
            </a:r>
            <a:r>
              <a:rPr lang="en-US" altLang="ja-JP" dirty="0"/>
              <a:t> </a:t>
            </a:r>
            <a:r>
              <a:rPr lang="en-US" altLang="ja-JP" sz="1200" b="0" i="0" u="none" strike="noStrike" cap="none" dirty="0">
                <a:solidFill>
                  <a:schemeClr val="dk1"/>
                </a:solidFill>
                <a:effectLst/>
                <a:latin typeface="Arial"/>
                <a:ea typeface="Arial"/>
                <a:cs typeface="Arial"/>
                <a:sym typeface="Arial"/>
              </a:rPr>
              <a:t>”value“:</a:t>
            </a:r>
            <a:r>
              <a:rPr lang="en-US" altLang="ja-JP" dirty="0"/>
              <a:t> </a:t>
            </a:r>
            <a:r>
              <a:rPr lang="en-US" altLang="ja-JP" sz="1200" b="0" i="0" u="none" strike="noStrike" cap="none" dirty="0">
                <a:solidFill>
                  <a:schemeClr val="dk1"/>
                </a:solidFill>
                <a:effectLst/>
                <a:latin typeface="Arial"/>
                <a:ea typeface="Arial"/>
                <a:cs typeface="Arial"/>
                <a:sym typeface="Arial"/>
              </a:rPr>
              <a:t>0.45 </a:t>
            </a:r>
            <a:r>
              <a:rPr lang="ja-JP" altLang="en-US" sz="1200" b="0" i="0" u="none" strike="noStrike" cap="none" dirty="0">
                <a:solidFill>
                  <a:schemeClr val="dk1"/>
                </a:solidFill>
                <a:effectLst/>
                <a:latin typeface="Arial"/>
                <a:ea typeface="Arial"/>
                <a:cs typeface="Arial"/>
                <a:sym typeface="Arial"/>
              </a:rPr>
              <a:t>といった形式で</a:t>
            </a:r>
            <a:r>
              <a:rPr lang="en-US" altLang="ja-JP" sz="1200" b="0" i="0" u="none" strike="noStrike" cap="none" dirty="0">
                <a:solidFill>
                  <a:schemeClr val="dk1"/>
                </a:solidFill>
                <a:effectLst/>
                <a:latin typeface="Arial"/>
                <a:ea typeface="Arial"/>
                <a:cs typeface="Arial"/>
                <a:sym typeface="Arial"/>
              </a:rPr>
              <a:t>heatmap</a:t>
            </a:r>
            <a:r>
              <a:rPr lang="ja-JP" altLang="en-US" sz="1200" b="0" i="0" u="none" strike="noStrike" cap="none" dirty="0">
                <a:solidFill>
                  <a:schemeClr val="dk1"/>
                </a:solidFill>
                <a:effectLst/>
                <a:latin typeface="Arial"/>
                <a:ea typeface="Arial"/>
                <a:cs typeface="Arial"/>
                <a:sym typeface="Arial"/>
              </a:rPr>
              <a:t>情報は取得可能。</a:t>
            </a:r>
            <a:endParaRPr lang="en-US" altLang="ja-JP" sz="1200" b="0" i="0" u="none" strike="noStrike" cap="none" dirty="0">
              <a:solidFill>
                <a:schemeClr val="dk1"/>
              </a:solidFill>
              <a:effectLst/>
              <a:latin typeface="Arial"/>
              <a:ea typeface="Arial"/>
              <a:cs typeface="Arial"/>
              <a:sym typeface="Arial"/>
            </a:endParaRPr>
          </a:p>
          <a:p>
            <a:r>
              <a:rPr kumimoji="1" lang="ja-JP" altLang="en-US" dirty="0"/>
              <a:t>トピック境界検出で得たセグメントに対して、その区間の</a:t>
            </a:r>
            <a:r>
              <a:rPr kumimoji="1" lang="en-US" altLang="ja-JP" dirty="0"/>
              <a:t>heatmap</a:t>
            </a:r>
            <a:r>
              <a:rPr kumimoji="1" lang="ja-JP" altLang="en-US" dirty="0"/>
              <a:t>値を平均してラベルとする</a:t>
            </a:r>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93231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30875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ヒートマップによってつくった学習データ</a:t>
            </a:r>
            <a:endParaRPr kumimoji="1" lang="en-US" altLang="ja-JP" dirty="0"/>
          </a:p>
          <a:p>
            <a:r>
              <a:rPr kumimoji="1" lang="ja-JP" altLang="en-US" dirty="0"/>
              <a:t>被験者によってつくった学習データ</a:t>
            </a:r>
            <a:endParaRPr kumimoji="1" lang="en-US" altLang="ja-JP" dirty="0"/>
          </a:p>
          <a:p>
            <a:endParaRPr kumimoji="1" lang="en-US" altLang="ja-JP" dirty="0"/>
          </a:p>
          <a:p>
            <a:r>
              <a:rPr kumimoji="1" lang="ja-JP" altLang="en-US" dirty="0"/>
              <a:t>まずヒートマップでやってみて、どうなるか見る</a:t>
            </a:r>
            <a:endParaRPr kumimoji="1" lang="en-US" altLang="ja-JP" dirty="0"/>
          </a:p>
          <a:p>
            <a:endParaRPr kumimoji="1" lang="en-US" altLang="ja-JP" dirty="0"/>
          </a:p>
          <a:p>
            <a:r>
              <a:rPr kumimoji="1" lang="ja-JP" altLang="en-US" dirty="0"/>
              <a:t>研究の方針</a:t>
            </a:r>
            <a:endParaRPr kumimoji="1" lang="en-US" altLang="ja-JP" dirty="0"/>
          </a:p>
          <a:p>
            <a:r>
              <a:rPr kumimoji="1" lang="ja-JP" altLang="en-US" dirty="0"/>
              <a:t>１ヒートマップでつくったデータで学習したモデルで抽出した結果が本当に的を得ているのかを確認する</a:t>
            </a:r>
            <a:endParaRPr kumimoji="1" lang="en-US" altLang="ja-JP" dirty="0"/>
          </a:p>
          <a:p>
            <a:r>
              <a:rPr kumimoji="1" lang="ja-JP" altLang="en-US" dirty="0"/>
              <a:t>２</a:t>
            </a:r>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72734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dirty="0"/>
              <a:t>実装、学習後は</a:t>
            </a:r>
            <a:r>
              <a:rPr lang="en-US" altLang="ja-JP" dirty="0"/>
              <a:t>R²</a:t>
            </a:r>
            <a:r>
              <a:rPr lang="ja-JP" altLang="en-US" dirty="0"/>
              <a:t>「コメント密度や感情スコアなどの特徴量で</a:t>
            </a:r>
            <a:r>
              <a:rPr lang="en-US" altLang="ja-JP" dirty="0"/>
              <a:t>heatmap</a:t>
            </a:r>
            <a:r>
              <a:rPr lang="ja-JP" altLang="en-US" dirty="0"/>
              <a:t>の○</a:t>
            </a:r>
            <a:r>
              <a:rPr lang="en-US" altLang="ja-JP" dirty="0"/>
              <a:t>%</a:t>
            </a:r>
            <a:r>
              <a:rPr lang="ja-JP" altLang="en-US" dirty="0"/>
              <a:t>を説明できた」</a:t>
            </a:r>
            <a:r>
              <a:rPr lang="en-US" altLang="ja-JP" dirty="0"/>
              <a:t>MSE</a:t>
            </a:r>
            <a:r>
              <a:rPr lang="ja-JP" altLang="en-US" dirty="0"/>
              <a:t>「ベース手法（コメント密度のみ）と比べて予測誤差が○</a:t>
            </a:r>
            <a:r>
              <a:rPr lang="en-US" altLang="ja-JP" dirty="0"/>
              <a:t>%</a:t>
            </a:r>
            <a:r>
              <a:rPr lang="ja-JP" altLang="en-US" dirty="0"/>
              <a:t>改善した」をテスト</a:t>
            </a:r>
          </a:p>
          <a:p>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5680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google.com/youtube/answer/9314415?co=GENIE.Platform%3DDesktop&amp;hl=en&amp;utm_source=chatgpt.com#zippy=%2Cspikes%2Cdip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ubos.tech/news/understanding-youtubes-most-replayed-heatmap-a-deep-dive/?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ja-JP" altLang="en-US" sz="7200" dirty="0">
                <a:solidFill>
                  <a:srgbClr val="FFFFFF"/>
                </a:solidFill>
              </a:rPr>
              <a:t>今後の展望</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a:t>
            </a:r>
            <a:r>
              <a:rPr lang="en-US" altLang="ja-JP" dirty="0">
                <a:solidFill>
                  <a:srgbClr val="FFFFFF"/>
                </a:solidFill>
              </a:rPr>
              <a:t>6</a:t>
            </a:r>
            <a:r>
              <a:rPr lang="en-US" dirty="0">
                <a:solidFill>
                  <a:srgbClr val="FFFFFF"/>
                </a:solidFill>
              </a:rPr>
              <a:t>/ 4</a:t>
            </a:r>
            <a:r>
              <a:rPr lang="en-US">
                <a:solidFill>
                  <a:srgbClr val="FFFFFF"/>
                </a:solidFill>
              </a:rPr>
              <a:t>/ </a:t>
            </a:r>
            <a:r>
              <a:rPr lang="en-US" altLang="ja-JP">
                <a:solidFill>
                  <a:srgbClr val="FFFFFF"/>
                </a:solidFill>
              </a:rPr>
              <a:t>23</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E33979A-DBA3-5B88-6DA1-2003B88729BA}"/>
              </a:ext>
            </a:extLst>
          </p:cNvPr>
          <p:cNvSpPr>
            <a:spLocks noGrp="1"/>
          </p:cNvSpPr>
          <p:nvPr>
            <p:ph type="body" idx="1"/>
          </p:nvPr>
        </p:nvSpPr>
        <p:spPr>
          <a:xfrm>
            <a:off x="838200" y="440871"/>
            <a:ext cx="10515600" cy="5736092"/>
          </a:xfrm>
        </p:spPr>
        <p:txBody>
          <a:bodyPr/>
          <a:lstStyle/>
          <a:p>
            <a:r>
              <a:rPr lang="ja-JP" altLang="en-US" dirty="0"/>
              <a:t>研究内容</a:t>
            </a:r>
            <a:endParaRPr lang="en-US" altLang="ja-JP" dirty="0"/>
          </a:p>
          <a:p>
            <a:pPr lvl="1"/>
            <a:r>
              <a:rPr lang="ja-JP" altLang="en-US" dirty="0"/>
              <a:t>長時間ライブ配信の注目区間抽出（切り抜き動画作成）の自動化</a:t>
            </a:r>
            <a:endParaRPr lang="en-US" altLang="ja-JP" dirty="0"/>
          </a:p>
          <a:p>
            <a:r>
              <a:rPr lang="ja-JP" altLang="en-US" dirty="0"/>
              <a:t>切り抜き動画作成手順</a:t>
            </a:r>
            <a:endParaRPr lang="en-US" altLang="ja-JP" dirty="0"/>
          </a:p>
          <a:p>
            <a:pPr lvl="1"/>
            <a:r>
              <a:rPr lang="ja-JP" altLang="en-US" dirty="0"/>
              <a:t>話題トピックでセグメント分け </a:t>
            </a:r>
            <a:r>
              <a:rPr lang="en-US" altLang="ja-JP" dirty="0"/>
              <a:t>+ </a:t>
            </a:r>
            <a:r>
              <a:rPr lang="ja-JP" altLang="en-US" dirty="0"/>
              <a:t>セグメントごとに視聴者コメントの分析　→　注目度の高いセグメントの特定</a:t>
            </a:r>
            <a:endParaRPr lang="en-US" altLang="ja-JP" dirty="0"/>
          </a:p>
          <a:p>
            <a:r>
              <a:rPr lang="ja-JP" altLang="en-US" dirty="0"/>
              <a:t>現在の研究の進捗</a:t>
            </a:r>
            <a:endParaRPr lang="en-US" altLang="ja-JP" dirty="0"/>
          </a:p>
          <a:p>
            <a:pPr lvl="1"/>
            <a:r>
              <a:rPr lang="ja-JP" altLang="en-US" dirty="0"/>
              <a:t>トピックセグメント分け（済）</a:t>
            </a:r>
            <a:endParaRPr lang="en-US" altLang="ja-JP" dirty="0"/>
          </a:p>
          <a:p>
            <a:pPr lvl="1"/>
            <a:r>
              <a:rPr kumimoji="1" lang="ja-JP" altLang="en-US" dirty="0"/>
              <a:t>視聴者の注目したセグメントの特定（現在）</a:t>
            </a:r>
            <a:endParaRPr lang="en-US" altLang="ja-JP" dirty="0"/>
          </a:p>
          <a:p>
            <a:endParaRPr lang="en-US" altLang="ja-JP" dirty="0"/>
          </a:p>
        </p:txBody>
      </p:sp>
      <p:sp>
        <p:nvSpPr>
          <p:cNvPr id="4" name="スライド番号プレースホルダー 3">
            <a:extLst>
              <a:ext uri="{FF2B5EF4-FFF2-40B4-BE49-F238E27FC236}">
                <a16:creationId xmlns:a16="http://schemas.microsoft.com/office/drawing/2014/main" id="{BA036E3D-F52D-15D4-4C8F-339B3F53C8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2044400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FF0FE-9817-81E7-C52D-93A78D0710EF}"/>
              </a:ext>
            </a:extLst>
          </p:cNvPr>
          <p:cNvSpPr>
            <a:spLocks noGrp="1"/>
          </p:cNvSpPr>
          <p:nvPr>
            <p:ph type="title"/>
          </p:nvPr>
        </p:nvSpPr>
        <p:spPr/>
        <p:txBody>
          <a:bodyPr/>
          <a:lstStyle/>
          <a:p>
            <a:r>
              <a:rPr lang="ja-JP" altLang="en-US" dirty="0"/>
              <a:t>注目度スコアの算出</a:t>
            </a:r>
            <a:endParaRPr kumimoji="1" lang="ja-JP" altLang="en-US" dirty="0"/>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5F4BF3CB-70F9-6F21-5E18-5095973B9F52}"/>
                  </a:ext>
                </a:extLst>
              </p:cNvPr>
              <p:cNvSpPr>
                <a:spLocks noGrp="1"/>
              </p:cNvSpPr>
              <p:nvPr>
                <p:ph type="body" idx="1"/>
              </p:nvPr>
            </p:nvSpPr>
            <p:spPr/>
            <p:txBody>
              <a:bodyPr/>
              <a:lstStyle/>
              <a:p>
                <a:r>
                  <a:rPr lang="ja-JP" altLang="en-US" dirty="0"/>
                  <a:t>各トピックセグメントの特徴量（コメント密度・感情など）を定義</a:t>
                </a:r>
                <a:endParaRPr lang="en-US" altLang="ja-JP" dirty="0"/>
              </a:p>
              <a:p>
                <a:r>
                  <a:rPr lang="ja-JP" altLang="en-US" dirty="0"/>
                  <a:t>線形回帰で</a:t>
                </a:r>
                <a:r>
                  <a:rPr lang="en-US" altLang="ja-JP" dirty="0"/>
                  <a:t>heatmap</a:t>
                </a:r>
                <a:r>
                  <a:rPr lang="ja-JP" altLang="en-US" dirty="0"/>
                  <a:t>を正解ラベルとして重みを学習</a:t>
                </a:r>
                <a:endParaRPr lang="en-US" altLang="ja-JP" dirty="0"/>
              </a:p>
              <a:p>
                <a:r>
                  <a:rPr lang="ja-JP" altLang="en-US" dirty="0"/>
                  <a:t>→ 注目度スコアを出力</a:t>
                </a:r>
                <a:endParaRPr lang="en-US" altLang="ja-JP" dirty="0"/>
              </a:p>
              <a:p>
                <a:r>
                  <a:rPr kumimoji="1" lang="ja-JP" altLang="en-US" b="0" dirty="0"/>
                  <a:t>注目度</a:t>
                </a:r>
                <a14:m>
                  <m:oMath xmlns:m="http://schemas.openxmlformats.org/officeDocument/2006/math">
                    <m:r>
                      <a:rPr kumimoji="1" lang="ja-JP" altLang="en-US">
                        <a:latin typeface="Cambria Math" panose="02040503050406030204" pitchFamily="18" charset="0"/>
                      </a:rPr>
                      <m:t>スコア</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𝑆</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1</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2</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𝑛</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𝑛</m:t>
                        </m:r>
                      </m:sub>
                    </m:sSub>
                  </m:oMath>
                </a14:m>
                <a:endParaRPr kumimoji="1" lang="en-US" altLang="ja-JP" b="0" dirty="0"/>
              </a:p>
              <a:p>
                <a:pPr lvl="1"/>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𝑤</m:t>
                        </m:r>
                      </m:e>
                      <m:sub>
                        <m:r>
                          <a:rPr kumimoji="1" lang="en-US" altLang="ja-JP" b="0" i="1" smtClean="0">
                            <a:latin typeface="Cambria Math" panose="02040503050406030204" pitchFamily="18" charset="0"/>
                          </a:rPr>
                          <m:t>𝑛</m:t>
                        </m:r>
                      </m:sub>
                    </m:sSub>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m:t>
                        </m:r>
                        <m:r>
                          <a:rPr kumimoji="1" lang="ja-JP" altLang="en-US" i="1">
                            <a:latin typeface="Cambria Math" panose="02040503050406030204" pitchFamily="18" charset="0"/>
                          </a:rPr>
                          <m:t>学習に</m:t>
                        </m:r>
                        <m:r>
                          <a:rPr kumimoji="1" lang="ja-JP" altLang="en-US" i="1" smtClean="0">
                            <a:latin typeface="Cambria Math" panose="02040503050406030204" pitchFamily="18" charset="0"/>
                          </a:rPr>
                          <m:t>より決定される</m:t>
                        </m:r>
                        <m:r>
                          <a:rPr kumimoji="1" lang="ja-JP" altLang="en-US" i="1">
                            <a:latin typeface="Cambria Math" panose="02040503050406030204" pitchFamily="18" charset="0"/>
                          </a:rPr>
                          <m:t>重み</m:t>
                        </m:r>
                        <m:r>
                          <a:rPr kumimoji="1" lang="en-US" altLang="ja-JP" b="0" i="1" smtClean="0">
                            <a:latin typeface="Cambria Math" panose="02040503050406030204" pitchFamily="18" charset="0"/>
                          </a:rPr>
                          <m:t> </m:t>
                        </m:r>
                        <m:r>
                          <a:rPr kumimoji="1" lang="ja-JP" altLang="en-US" i="1">
                            <a:latin typeface="Cambria Math" panose="02040503050406030204" pitchFamily="18" charset="0"/>
                          </a:rPr>
                          <m:t>　</m:t>
                        </m:r>
                        <m:r>
                          <a:rPr kumimoji="1" lang="en-US" altLang="ja-JP" i="1">
                            <a:latin typeface="Cambria Math" panose="02040503050406030204" pitchFamily="18" charset="0"/>
                          </a:rPr>
                          <m:t>𝑓</m:t>
                        </m:r>
                      </m:e>
                      <m:sub>
                        <m:r>
                          <a:rPr kumimoji="1" lang="en-US" altLang="ja-JP" b="0" i="1" smtClean="0">
                            <a:latin typeface="Cambria Math" panose="02040503050406030204" pitchFamily="18" charset="0"/>
                          </a:rPr>
                          <m:t>𝑛</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各</m:t>
                    </m:r>
                    <m:r>
                      <a:rPr kumimoji="1" lang="ja-JP" altLang="en-US" i="1" smtClean="0">
                        <a:latin typeface="Cambria Math" panose="02040503050406030204" pitchFamily="18" charset="0"/>
                      </a:rPr>
                      <m:t>特徴</m:t>
                    </m:r>
                    <m:r>
                      <a:rPr kumimoji="1" lang="ja-JP" altLang="en-US" i="1">
                        <a:latin typeface="Cambria Math" panose="02040503050406030204" pitchFamily="18" charset="0"/>
                      </a:rPr>
                      <m:t>量</m:t>
                    </m:r>
                  </m:oMath>
                </a14:m>
                <a:endParaRPr kumimoji="1" lang="en-US" altLang="ja-JP" dirty="0"/>
              </a:p>
            </p:txBody>
          </p:sp>
        </mc:Choice>
        <mc:Fallback xmlns="">
          <p:sp>
            <p:nvSpPr>
              <p:cNvPr id="3" name="テキスト プレースホルダー 2">
                <a:extLst>
                  <a:ext uri="{FF2B5EF4-FFF2-40B4-BE49-F238E27FC236}">
                    <a16:creationId xmlns:a16="http://schemas.microsoft.com/office/drawing/2014/main" id="{5F4BF3CB-70F9-6F21-5E18-5095973B9F52}"/>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C47E9569-9F74-A6C9-B533-B83019DFC6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062300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EDABAE-F1B5-8502-2DAB-F80136DE25C1}"/>
              </a:ext>
            </a:extLst>
          </p:cNvPr>
          <p:cNvSpPr>
            <a:spLocks noGrp="1"/>
          </p:cNvSpPr>
          <p:nvPr>
            <p:ph type="title"/>
          </p:nvPr>
        </p:nvSpPr>
        <p:spPr/>
        <p:txBody>
          <a:bodyPr/>
          <a:lstStyle/>
          <a:p>
            <a:r>
              <a:rPr kumimoji="1" lang="en-US" altLang="ja-JP" dirty="0"/>
              <a:t>Heatmap</a:t>
            </a:r>
            <a:r>
              <a:rPr kumimoji="1" lang="ja-JP" altLang="en-US" dirty="0"/>
              <a:t>について</a:t>
            </a:r>
          </a:p>
        </p:txBody>
      </p:sp>
      <p:sp>
        <p:nvSpPr>
          <p:cNvPr id="3" name="テキスト プレースホルダー 2">
            <a:extLst>
              <a:ext uri="{FF2B5EF4-FFF2-40B4-BE49-F238E27FC236}">
                <a16:creationId xmlns:a16="http://schemas.microsoft.com/office/drawing/2014/main" id="{A1464BE5-3D2C-6BF2-93F9-0219C7F70615}"/>
              </a:ext>
            </a:extLst>
          </p:cNvPr>
          <p:cNvSpPr>
            <a:spLocks noGrp="1"/>
          </p:cNvSpPr>
          <p:nvPr>
            <p:ph type="body" idx="1"/>
          </p:nvPr>
        </p:nvSpPr>
        <p:spPr/>
        <p:txBody>
          <a:bodyPr/>
          <a:lstStyle/>
          <a:p>
            <a:r>
              <a:rPr lang="ja-JP" altLang="en-US" b="1" dirty="0"/>
              <a:t>スパイク（</a:t>
            </a:r>
            <a:r>
              <a:rPr lang="en-US" altLang="ja-JP" b="1" dirty="0"/>
              <a:t>Spikes</a:t>
            </a:r>
            <a:r>
              <a:rPr lang="ja-JP" altLang="en-US" b="1" dirty="0"/>
              <a:t>）：</a:t>
            </a:r>
            <a:r>
              <a:rPr lang="ja-JP" altLang="en-US" dirty="0"/>
              <a:t> グラフが高い地点。視聴者が「リプレイした」</a:t>
            </a:r>
            <a:r>
              <a:rPr lang="ja-JP" altLang="en-US" b="1" dirty="0"/>
              <a:t>、</a:t>
            </a:r>
            <a:r>
              <a:rPr lang="ja-JP" altLang="en-US" dirty="0"/>
              <a:t>あるいは「特定のリンクから飛んできた」回数が多い区間。</a:t>
            </a:r>
            <a:endParaRPr kumimoji="1" lang="en-US" altLang="ja-JP" dirty="0"/>
          </a:p>
          <a:p>
            <a:r>
              <a:rPr lang="ja-JP" altLang="en-US" b="1" dirty="0"/>
              <a:t>谷（</a:t>
            </a:r>
            <a:r>
              <a:rPr lang="en-US" altLang="ja-JP" b="1" dirty="0"/>
              <a:t>Dips</a:t>
            </a:r>
            <a:r>
              <a:rPr lang="ja-JP" altLang="en-US" b="1" dirty="0"/>
              <a:t>）：</a:t>
            </a:r>
            <a:r>
              <a:rPr lang="ja-JP" altLang="en-US" dirty="0"/>
              <a:t> グラフが低い地点。視聴者が「スキップ」したり、視聴を完全にやめた区間。</a:t>
            </a:r>
            <a:endParaRPr lang="en-US" altLang="ja-JP" dirty="0"/>
          </a:p>
          <a:p>
            <a:r>
              <a:rPr lang="en-US" altLang="ja-JP" sz="2000" dirty="0">
                <a:hlinkClick r:id="rId3"/>
              </a:rPr>
              <a:t>https://support.google.com/youtube/answer/9314415?co=GENIE.Platform%3DDesktop&amp;hl=en&amp;utm_source=chatgpt.com#zippy=%2Cspikes%2Cdips</a:t>
            </a:r>
            <a:endParaRPr kumimoji="1" lang="ja-JP" altLang="en-US" sz="2000" dirty="0"/>
          </a:p>
        </p:txBody>
      </p:sp>
      <p:sp>
        <p:nvSpPr>
          <p:cNvPr id="4" name="スライド番号プレースホルダー 3">
            <a:extLst>
              <a:ext uri="{FF2B5EF4-FFF2-40B4-BE49-F238E27FC236}">
                <a16:creationId xmlns:a16="http://schemas.microsoft.com/office/drawing/2014/main" id="{3EAB0F88-D346-5303-AD81-9702636D2A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788048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15889E-C06E-28A0-605E-9C25D260EB24}"/>
              </a:ext>
            </a:extLst>
          </p:cNvPr>
          <p:cNvSpPr>
            <a:spLocks noGrp="1"/>
          </p:cNvSpPr>
          <p:nvPr>
            <p:ph type="title"/>
          </p:nvPr>
        </p:nvSpPr>
        <p:spPr/>
        <p:txBody>
          <a:bodyPr/>
          <a:lstStyle/>
          <a:p>
            <a:r>
              <a:rPr kumimoji="1" lang="en-US" altLang="ja-JP" dirty="0"/>
              <a:t>Heatmap</a:t>
            </a:r>
            <a:r>
              <a:rPr kumimoji="1" lang="ja-JP" altLang="en-US" dirty="0"/>
              <a:t>について</a:t>
            </a:r>
          </a:p>
        </p:txBody>
      </p:sp>
      <p:sp>
        <p:nvSpPr>
          <p:cNvPr id="3" name="テキスト プレースホルダー 2">
            <a:extLst>
              <a:ext uri="{FF2B5EF4-FFF2-40B4-BE49-F238E27FC236}">
                <a16:creationId xmlns:a16="http://schemas.microsoft.com/office/drawing/2014/main" id="{EB836CC6-F39F-944C-AD2E-DD2BECA4D68A}"/>
              </a:ext>
            </a:extLst>
          </p:cNvPr>
          <p:cNvSpPr>
            <a:spLocks noGrp="1"/>
          </p:cNvSpPr>
          <p:nvPr>
            <p:ph type="body" idx="1"/>
          </p:nvPr>
        </p:nvSpPr>
        <p:spPr>
          <a:xfrm>
            <a:off x="838200" y="1825625"/>
            <a:ext cx="10515600" cy="4667250"/>
          </a:xfrm>
        </p:spPr>
        <p:txBody>
          <a:bodyPr/>
          <a:lstStyle/>
          <a:p>
            <a:r>
              <a:rPr lang="ja-JP" altLang="en-US" b="1" dirty="0"/>
              <a:t>セグメンテーション：</a:t>
            </a:r>
            <a:r>
              <a:rPr lang="ja-JP" altLang="en-US" dirty="0"/>
              <a:t> 動画を約</a:t>
            </a:r>
            <a:r>
              <a:rPr lang="en-US" altLang="ja-JP" dirty="0"/>
              <a:t>100</a:t>
            </a:r>
            <a:r>
              <a:rPr lang="ja-JP" altLang="en-US" dirty="0"/>
              <a:t>個の区間に分割し、それぞれの「延べ視聴回数」を集計。</a:t>
            </a:r>
            <a:endParaRPr lang="en-US" altLang="ja-JP" dirty="0"/>
          </a:p>
          <a:p>
            <a:r>
              <a:rPr lang="en-US" altLang="ja-JP" b="1" dirty="0" err="1"/>
              <a:t>start_time</a:t>
            </a:r>
            <a:r>
              <a:rPr lang="en-US" altLang="ja-JP" dirty="0"/>
              <a:t>“: 0.0, ”</a:t>
            </a:r>
            <a:r>
              <a:rPr lang="en-US" altLang="ja-JP" b="1" dirty="0" err="1"/>
              <a:t>end_time</a:t>
            </a:r>
            <a:r>
              <a:rPr lang="en-US" altLang="ja-JP" dirty="0"/>
              <a:t>“: 10.0, ”</a:t>
            </a:r>
            <a:r>
              <a:rPr lang="en-US" altLang="ja-JP" b="1" dirty="0"/>
              <a:t>value</a:t>
            </a:r>
            <a:r>
              <a:rPr lang="en-US" altLang="ja-JP" dirty="0"/>
              <a:t>“: 0.45 </a:t>
            </a:r>
          </a:p>
          <a:p>
            <a:pPr marL="114300" indent="0">
              <a:buNone/>
            </a:pPr>
            <a:r>
              <a:rPr lang="ja-JP" altLang="en-US" dirty="0"/>
              <a:t>といった形式で</a:t>
            </a:r>
            <a:r>
              <a:rPr lang="en-US" altLang="ja-JP" dirty="0"/>
              <a:t>heatmap</a:t>
            </a:r>
            <a:r>
              <a:rPr lang="ja-JP" altLang="en-US" dirty="0"/>
              <a:t>情報は取得可能</a:t>
            </a:r>
            <a:endParaRPr lang="en-US" altLang="ja-JP" dirty="0"/>
          </a:p>
          <a:p>
            <a:pPr marL="114300" indent="0">
              <a:buNone/>
            </a:pPr>
            <a:r>
              <a:rPr lang="en-US" altLang="ja-JP" b="1" dirty="0"/>
              <a:t>value</a:t>
            </a:r>
            <a:r>
              <a:rPr lang="ja-JP" altLang="en-US" b="1" dirty="0"/>
              <a:t>：</a:t>
            </a:r>
            <a:r>
              <a:rPr lang="ja-JP" altLang="en-US" dirty="0"/>
              <a:t> 動画内の最もリプレイされた地点を「</a:t>
            </a:r>
            <a:r>
              <a:rPr lang="en-US" altLang="ja-JP" dirty="0"/>
              <a:t>1.0</a:t>
            </a:r>
            <a:r>
              <a:rPr lang="ja-JP" altLang="en-US" dirty="0"/>
              <a:t>（最大）」とし、他の地点をその比率で数値化。</a:t>
            </a:r>
            <a:endParaRPr lang="en-US" altLang="ja-JP" dirty="0">
              <a:hlinkClick r:id="rId3"/>
            </a:endParaRPr>
          </a:p>
          <a:p>
            <a:pPr marL="114300" indent="0">
              <a:buNone/>
            </a:pPr>
            <a:r>
              <a:rPr lang="en-US" altLang="ja-JP" sz="2000" dirty="0">
                <a:hlinkClick r:id="rId3"/>
              </a:rPr>
              <a:t>https://ubos.tech/news/understanding-youtubes-most-replayed-heatmap-a-deep-dive/?utm_source=chatgpt.com</a:t>
            </a:r>
            <a:endParaRPr lang="en-US" altLang="ja-JP" sz="2000" dirty="0"/>
          </a:p>
          <a:p>
            <a:endParaRPr lang="en-US" altLang="ja-JP" dirty="0"/>
          </a:p>
        </p:txBody>
      </p:sp>
      <p:sp>
        <p:nvSpPr>
          <p:cNvPr id="4" name="スライド番号プレースホルダー 3">
            <a:extLst>
              <a:ext uri="{FF2B5EF4-FFF2-40B4-BE49-F238E27FC236}">
                <a16:creationId xmlns:a16="http://schemas.microsoft.com/office/drawing/2014/main" id="{8BF9716F-5FE9-66C5-2A7D-6AC847A135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62821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98212F-BF2C-F6B8-9BA3-022ABBD0B92E}"/>
              </a:ext>
            </a:extLst>
          </p:cNvPr>
          <p:cNvSpPr>
            <a:spLocks noGrp="1"/>
          </p:cNvSpPr>
          <p:nvPr>
            <p:ph type="title"/>
          </p:nvPr>
        </p:nvSpPr>
        <p:spPr/>
        <p:txBody>
          <a:bodyPr/>
          <a:lstStyle/>
          <a:p>
            <a:r>
              <a:rPr kumimoji="1" lang="ja-JP" altLang="en-US" dirty="0"/>
              <a:t>今週の予定</a:t>
            </a:r>
          </a:p>
        </p:txBody>
      </p:sp>
      <p:sp>
        <p:nvSpPr>
          <p:cNvPr id="3" name="テキスト プレースホルダー 2">
            <a:extLst>
              <a:ext uri="{FF2B5EF4-FFF2-40B4-BE49-F238E27FC236}">
                <a16:creationId xmlns:a16="http://schemas.microsoft.com/office/drawing/2014/main" id="{AE835202-1313-87E3-C04E-A0C8B01ACD8A}"/>
              </a:ext>
            </a:extLst>
          </p:cNvPr>
          <p:cNvSpPr>
            <a:spLocks noGrp="1"/>
          </p:cNvSpPr>
          <p:nvPr>
            <p:ph type="body" idx="1"/>
          </p:nvPr>
        </p:nvSpPr>
        <p:spPr/>
        <p:txBody>
          <a:bodyPr/>
          <a:lstStyle/>
          <a:p>
            <a:r>
              <a:rPr lang="ja-JP" altLang="en-US" b="1" dirty="0"/>
              <a:t>特徴量の候補を決める</a:t>
            </a:r>
            <a:endParaRPr lang="en-US" altLang="ja-JP" b="1" dirty="0"/>
          </a:p>
          <a:p>
            <a:r>
              <a:rPr lang="ja-JP" altLang="en-US" b="1" dirty="0"/>
              <a:t>注目度に関係しそうな特徴量を文献・直感から列挙する</a:t>
            </a:r>
            <a:endParaRPr lang="en-US" altLang="ja-JP" b="1" dirty="0"/>
          </a:p>
          <a:p>
            <a:pPr lvl="1"/>
            <a:r>
              <a:rPr lang="ja-JP" altLang="en-US" b="1" dirty="0"/>
              <a:t>コメント密度、感情スコア、コメント速度変化量、特定語彙の出現頻度など</a:t>
            </a:r>
            <a:endParaRPr lang="en-US" altLang="ja-JP" b="1" dirty="0"/>
          </a:p>
          <a:p>
            <a:r>
              <a:rPr lang="en-US" altLang="ja-JP" dirty="0">
                <a:solidFill>
                  <a:schemeClr val="bg1">
                    <a:lumMod val="65000"/>
                  </a:schemeClr>
                </a:solidFill>
              </a:rPr>
              <a:t>heatmap</a:t>
            </a:r>
            <a:r>
              <a:rPr lang="ja-JP" altLang="en-US" dirty="0">
                <a:solidFill>
                  <a:schemeClr val="bg1">
                    <a:lumMod val="65000"/>
                  </a:schemeClr>
                </a:solidFill>
              </a:rPr>
              <a:t>データの取得</a:t>
            </a:r>
            <a:endParaRPr lang="en-US" altLang="ja-JP" dirty="0">
              <a:solidFill>
                <a:schemeClr val="bg1">
                  <a:lumMod val="65000"/>
                </a:schemeClr>
              </a:solidFill>
            </a:endParaRPr>
          </a:p>
          <a:p>
            <a:r>
              <a:rPr lang="ja-JP" altLang="en-US" dirty="0">
                <a:solidFill>
                  <a:schemeClr val="bg1">
                    <a:lumMod val="65000"/>
                  </a:schemeClr>
                </a:solidFill>
              </a:rPr>
              <a:t>線形回帰モデルの実装・学習</a:t>
            </a:r>
            <a:endParaRPr lang="en-US" altLang="ja-JP" dirty="0">
              <a:solidFill>
                <a:schemeClr val="bg1">
                  <a:lumMod val="65000"/>
                </a:schemeClr>
              </a:solidFill>
            </a:endParaRPr>
          </a:p>
          <a:p>
            <a:r>
              <a:rPr lang="ja-JP" altLang="en-US" dirty="0">
                <a:solidFill>
                  <a:schemeClr val="bg1">
                    <a:lumMod val="65000"/>
                  </a:schemeClr>
                </a:solidFill>
              </a:rPr>
              <a:t>評価実験、考察</a:t>
            </a:r>
            <a:endParaRPr lang="en-US" altLang="ja-JP" dirty="0">
              <a:solidFill>
                <a:schemeClr val="bg1">
                  <a:lumMod val="65000"/>
                </a:schemeClr>
              </a:solidFill>
            </a:endParaRPr>
          </a:p>
        </p:txBody>
      </p:sp>
      <p:sp>
        <p:nvSpPr>
          <p:cNvPr id="4" name="スライド番号プレースホルダー 3">
            <a:extLst>
              <a:ext uri="{FF2B5EF4-FFF2-40B4-BE49-F238E27FC236}">
                <a16:creationId xmlns:a16="http://schemas.microsoft.com/office/drawing/2014/main" id="{ECE2C13C-8717-1508-802F-5120475EF9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744215359"/>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23547</TotalTime>
  <Words>748</Words>
  <Application>Microsoft Office PowerPoint</Application>
  <PresentationFormat>ワイド画面</PresentationFormat>
  <Paragraphs>72</Paragraphs>
  <Slides>6</Slides>
  <Notes>5</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Open Sans</vt:lpstr>
      <vt:lpstr>Cambria Math</vt:lpstr>
      <vt:lpstr>Arial</vt:lpstr>
      <vt:lpstr>GradientVTI</vt:lpstr>
      <vt:lpstr>今後の展望</vt:lpstr>
      <vt:lpstr>PowerPoint プレゼンテーション</vt:lpstr>
      <vt:lpstr>注目度スコアの算出</vt:lpstr>
      <vt:lpstr>Heatmapについて</vt:lpstr>
      <vt:lpstr>Heatmapについて</vt:lpstr>
      <vt:lpstr>今週の予定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昇汰 三輪</cp:lastModifiedBy>
  <cp:revision>72</cp:revision>
  <dcterms:created xsi:type="dcterms:W3CDTF">2025-05-18T22:20:18Z</dcterms:created>
  <dcterms:modified xsi:type="dcterms:W3CDTF">2026-04-27T02:42:45Z</dcterms:modified>
</cp:coreProperties>
</file>