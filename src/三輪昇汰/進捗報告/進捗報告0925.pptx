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9144000"/>
  <p:embeddedFontLst>
    <p:embeddedFont>
      <p:font typeface="Open Sans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i/kN0DIPdCFq/1NdsafOr/2N3K1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OpenSans-bold.fntdata"/><Relationship Id="rId16" Type="http://schemas.openxmlformats.org/officeDocument/2006/relationships/font" Target="fonts/OpenSans-regular.fntdata"/><Relationship Id="rId5" Type="http://schemas.openxmlformats.org/officeDocument/2006/relationships/slide" Target="slides/slide1.xml"/><Relationship Id="rId19" Type="http://schemas.openxmlformats.org/officeDocument/2006/relationships/font" Target="fonts/OpenSans-boldItalic.fntdata"/><Relationship Id="rId6" Type="http://schemas.openxmlformats.org/officeDocument/2006/relationships/slide" Target="slides/slide2.xml"/><Relationship Id="rId18" Type="http://schemas.openxmlformats.org/officeDocument/2006/relationships/font" Target="fonts/OpenSans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ja-JP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b="0" i="0" sz="6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Autofit/>
          </a:bodyPr>
          <a:lstStyle>
            <a:lvl1pPr lv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cxnSp>
        <p:nvCxnSpPr>
          <p:cNvPr id="21" name="Google Shape;21;p13"/>
          <p:cNvCxnSpPr/>
          <p:nvPr/>
        </p:nvCxnSpPr>
        <p:spPr>
          <a:xfrm>
            <a:off x="715890" y="1114050"/>
            <a:ext cx="0" cy="5735637"/>
          </a:xfrm>
          <a:prstGeom prst="straightConnector1">
            <a:avLst/>
          </a:prstGeom>
          <a:noFill/>
          <a:ln cap="sq" cmpd="sng" w="25400">
            <a:solidFill>
              <a:schemeClr val="accent2"/>
            </a:solidFill>
            <a:prstDash val="solid"/>
            <a:bevel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cxnSp>
        <p:nvCxnSpPr>
          <p:cNvPr id="28" name="Google Shape;28;p14"/>
          <p:cNvCxnSpPr/>
          <p:nvPr/>
        </p:nvCxnSpPr>
        <p:spPr>
          <a:xfrm>
            <a:off x="715890" y="356812"/>
            <a:ext cx="0" cy="6492875"/>
          </a:xfrm>
          <a:prstGeom prst="straightConnector1">
            <a:avLst/>
          </a:prstGeom>
          <a:noFill/>
          <a:ln cap="sq" cmpd="sng" w="25400">
            <a:solidFill>
              <a:schemeClr val="accent2"/>
            </a:solidFill>
            <a:prstDash val="solid"/>
            <a:bevel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b="1" i="0" sz="6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cxnSp>
        <p:nvCxnSpPr>
          <p:cNvPr id="35" name="Google Shape;35;p15"/>
          <p:cNvCxnSpPr/>
          <p:nvPr/>
        </p:nvCxnSpPr>
        <p:spPr>
          <a:xfrm>
            <a:off x="715890" y="1701425"/>
            <a:ext cx="0" cy="5148262"/>
          </a:xfrm>
          <a:prstGeom prst="straightConnector1">
            <a:avLst/>
          </a:prstGeom>
          <a:noFill/>
          <a:ln cap="sq" cmpd="sng" w="25400">
            <a:solidFill>
              <a:schemeClr val="accent2"/>
            </a:solidFill>
            <a:prstDash val="solid"/>
            <a:bevel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cxnSp>
        <p:nvCxnSpPr>
          <p:cNvPr id="43" name="Google Shape;43;p16"/>
          <p:cNvCxnSpPr/>
          <p:nvPr/>
        </p:nvCxnSpPr>
        <p:spPr>
          <a:xfrm>
            <a:off x="715890" y="356812"/>
            <a:ext cx="0" cy="6492875"/>
          </a:xfrm>
          <a:prstGeom prst="straightConnector1">
            <a:avLst/>
          </a:prstGeom>
          <a:noFill/>
          <a:ln cap="sq" cmpd="sng" w="25400">
            <a:solidFill>
              <a:schemeClr val="accent2"/>
            </a:solidFill>
            <a:prstDash val="solid"/>
            <a:bevel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cxnSp>
        <p:nvCxnSpPr>
          <p:cNvPr id="53" name="Google Shape;53;p17"/>
          <p:cNvCxnSpPr/>
          <p:nvPr/>
        </p:nvCxnSpPr>
        <p:spPr>
          <a:xfrm>
            <a:off x="715890" y="356812"/>
            <a:ext cx="0" cy="6492875"/>
          </a:xfrm>
          <a:prstGeom prst="straightConnector1">
            <a:avLst/>
          </a:prstGeom>
          <a:noFill/>
          <a:ln cap="sq" cmpd="sng" w="25400">
            <a:solidFill>
              <a:schemeClr val="accent2"/>
            </a:solidFill>
            <a:prstDash val="solid"/>
            <a:bevel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cxnSp>
        <p:nvCxnSpPr>
          <p:cNvPr id="59" name="Google Shape;59;p18"/>
          <p:cNvCxnSpPr/>
          <p:nvPr/>
        </p:nvCxnSpPr>
        <p:spPr>
          <a:xfrm>
            <a:off x="715890" y="356812"/>
            <a:ext cx="0" cy="6492875"/>
          </a:xfrm>
          <a:prstGeom prst="straightConnector1">
            <a:avLst/>
          </a:prstGeom>
          <a:noFill/>
          <a:ln cap="sq" cmpd="sng" w="25400">
            <a:solidFill>
              <a:schemeClr val="accent2"/>
            </a:solidFill>
            <a:prstDash val="solid"/>
            <a:bevel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cxnSp>
        <p:nvCxnSpPr>
          <p:cNvPr id="64" name="Google Shape;64;p19"/>
          <p:cNvCxnSpPr/>
          <p:nvPr/>
        </p:nvCxnSpPr>
        <p:spPr>
          <a:xfrm>
            <a:off x="715890" y="356812"/>
            <a:ext cx="0" cy="6492875"/>
          </a:xfrm>
          <a:prstGeom prst="straightConnector1">
            <a:avLst/>
          </a:prstGeom>
          <a:noFill/>
          <a:ln cap="sq" cmpd="sng" w="25400">
            <a:solidFill>
              <a:schemeClr val="accent2"/>
            </a:solidFill>
            <a:prstDash val="solid"/>
            <a:bevel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Autofit/>
          </a:bodyPr>
          <a:lstStyle>
            <a:lvl1pPr indent="-4318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8" name="Google Shape;68;p2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cxnSp>
        <p:nvCxnSpPr>
          <p:cNvPr id="72" name="Google Shape;72;p20"/>
          <p:cNvCxnSpPr/>
          <p:nvPr/>
        </p:nvCxnSpPr>
        <p:spPr>
          <a:xfrm>
            <a:off x="715890" y="356812"/>
            <a:ext cx="0" cy="6492875"/>
          </a:xfrm>
          <a:prstGeom prst="straightConnector1">
            <a:avLst/>
          </a:prstGeom>
          <a:noFill/>
          <a:ln cap="sq" cmpd="sng" w="25400">
            <a:solidFill>
              <a:schemeClr val="accent2"/>
            </a:solidFill>
            <a:prstDash val="solid"/>
            <a:bevel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2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cxnSp>
        <p:nvCxnSpPr>
          <p:cNvPr id="80" name="Google Shape;80;p21"/>
          <p:cNvCxnSpPr/>
          <p:nvPr/>
        </p:nvCxnSpPr>
        <p:spPr>
          <a:xfrm>
            <a:off x="715890" y="356812"/>
            <a:ext cx="0" cy="6492875"/>
          </a:xfrm>
          <a:prstGeom prst="straightConnector1">
            <a:avLst/>
          </a:prstGeom>
          <a:noFill/>
          <a:ln cap="sq" cmpd="sng" w="25400">
            <a:solidFill>
              <a:schemeClr val="accent2"/>
            </a:solidFill>
            <a:prstDash val="solid"/>
            <a:bevel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cxnSp>
        <p:nvCxnSpPr>
          <p:cNvPr id="87" name="Google Shape;87;p22"/>
          <p:cNvCxnSpPr/>
          <p:nvPr/>
        </p:nvCxnSpPr>
        <p:spPr>
          <a:xfrm>
            <a:off x="715890" y="356812"/>
            <a:ext cx="0" cy="6492875"/>
          </a:xfrm>
          <a:prstGeom prst="straightConnector1">
            <a:avLst/>
          </a:prstGeom>
          <a:noFill/>
          <a:ln cap="sq" cmpd="sng" w="25400">
            <a:solidFill>
              <a:schemeClr val="accent2"/>
            </a:solidFill>
            <a:prstDash val="solid"/>
            <a:bevel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cxnSp>
        <p:nvCxnSpPr>
          <p:cNvPr id="94" name="Google Shape;94;p23"/>
          <p:cNvCxnSpPr/>
          <p:nvPr/>
        </p:nvCxnSpPr>
        <p:spPr>
          <a:xfrm flipH="1" rot="10800000">
            <a:off x="8313" y="261865"/>
            <a:ext cx="11353802" cy="1"/>
          </a:xfrm>
          <a:prstGeom prst="straightConnector1">
            <a:avLst/>
          </a:prstGeom>
          <a:noFill/>
          <a:ln cap="sq" cmpd="sng" w="25400">
            <a:solidFill>
              <a:schemeClr val="accent2"/>
            </a:solidFill>
            <a:prstDash val="solid"/>
            <a:bevel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Autofit/>
          </a:bodyPr>
          <a:lstStyle>
            <a:lvl1pPr indent="-4064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github.com/AlibabaResearch/DAMO-ConvAI/tree/main/dial-start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4"/>
              </a:gs>
            </a:gsLst>
            <a:lin ang="189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01" name="Google Shape;101;p1"/>
          <p:cNvPicPr preferRelativeResize="0"/>
          <p:nvPr/>
        </p:nvPicPr>
        <p:blipFill rotWithShape="1">
          <a:blip r:embed="rId3">
            <a:alphaModFix amt="35000"/>
          </a:blip>
          <a:srcRect b="15730" l="0" r="0" t="0"/>
          <a:stretch/>
        </p:blipFill>
        <p:spPr>
          <a:xfrm>
            <a:off x="20" y="-8877"/>
            <a:ext cx="1219198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"/>
          <p:cNvSpPr txBox="1"/>
          <p:nvPr>
            <p:ph type="ctrTitle"/>
          </p:nvPr>
        </p:nvSpPr>
        <p:spPr>
          <a:xfrm>
            <a:off x="1256275" y="2271449"/>
            <a:ext cx="9679449" cy="284705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ja-JP" sz="7200">
                <a:solidFill>
                  <a:srgbClr val="FFFFFF"/>
                </a:solidFill>
              </a:rPr>
              <a:t>進捗報告</a:t>
            </a:r>
            <a:endParaRPr/>
          </a:p>
        </p:txBody>
      </p:sp>
      <p:sp>
        <p:nvSpPr>
          <p:cNvPr id="103" name="Google Shape;103;p1"/>
          <p:cNvSpPr txBox="1"/>
          <p:nvPr>
            <p:ph idx="1" type="subTitle"/>
          </p:nvPr>
        </p:nvSpPr>
        <p:spPr>
          <a:xfrm>
            <a:off x="1256275" y="5098254"/>
            <a:ext cx="9679449" cy="750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</a:pPr>
            <a:r>
              <a:rPr lang="ja-JP">
                <a:solidFill>
                  <a:srgbClr val="FFFFFF"/>
                </a:solidFill>
              </a:rPr>
              <a:t>Al21120　三輪昇汰　2025/9/25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104" name="Google Shape;104;p1"/>
          <p:cNvCxnSpPr/>
          <p:nvPr/>
        </p:nvCxnSpPr>
        <p:spPr>
          <a:xfrm>
            <a:off x="8878" y="806470"/>
            <a:ext cx="8453437" cy="0"/>
          </a:xfrm>
          <a:prstGeom prst="straightConnector1">
            <a:avLst/>
          </a:prstGeom>
          <a:noFill/>
          <a:ln cap="sq" cmpd="sng" w="25400">
            <a:solidFill>
              <a:srgbClr val="FFFFFF"/>
            </a:solidFill>
            <a:prstDash val="solid"/>
            <a:bevel/>
            <a:headEnd len="sm" w="sm" type="none"/>
            <a:tailEnd len="sm" w="sm" type="none"/>
          </a:ln>
        </p:spPr>
      </p:cxnSp>
      <p:sp>
        <p:nvSpPr>
          <p:cNvPr id="105" name="Google Shape;105;p1"/>
          <p:cNvSpPr/>
          <p:nvPr/>
        </p:nvSpPr>
        <p:spPr>
          <a:xfrm>
            <a:off x="544954" y="2875093"/>
            <a:ext cx="139039" cy="139039"/>
          </a:xfrm>
          <a:custGeom>
            <a:rect b="b" l="l" r="r" t="t"/>
            <a:pathLst>
              <a:path extrusionOk="0" h="139039" w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6" name="Google Shape;106;p1"/>
          <p:cNvSpPr/>
          <p:nvPr/>
        </p:nvSpPr>
        <p:spPr>
          <a:xfrm>
            <a:off x="903734" y="3104388"/>
            <a:ext cx="91138" cy="91138"/>
          </a:xfrm>
          <a:custGeom>
            <a:rect b="b" l="l" r="r" t="t"/>
            <a:pathLst>
              <a:path extrusionOk="0" h="91138" w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7" name="Google Shape;107;p1"/>
          <p:cNvSpPr/>
          <p:nvPr/>
        </p:nvSpPr>
        <p:spPr>
          <a:xfrm>
            <a:off x="529414" y="3619532"/>
            <a:ext cx="127714" cy="127714"/>
          </a:xfrm>
          <a:custGeom>
            <a:rect b="b" l="l" r="r" t="t"/>
            <a:pathLst>
              <a:path extrusionOk="0" h="127714" w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8" name="Google Shape;108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ja-JP"/>
              <a:t>研究目標</a:t>
            </a:r>
            <a:endParaRPr/>
          </a:p>
        </p:txBody>
      </p:sp>
      <p:sp>
        <p:nvSpPr>
          <p:cNvPr id="114" name="Google Shape;114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115" name="Google Shape;115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Autofit/>
          </a:bodyPr>
          <a:lstStyle/>
          <a:p>
            <a:pPr indent="-2286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ja-JP"/>
              <a:t>１時間以上の長時間にわたるYoutube動画の字幕をトピック分割し、視聴者コメントによる盛り上がり分析を行う。BERTを学習させ、トピックを捉えた盛り上がりシーンを検出することによって、長時間の動画から見所シーンを複数抽出し短い時間で満足できる動画として出力する。</a:t>
            </a:r>
            <a:endParaRPr/>
          </a:p>
          <a:p>
            <a:pPr indent="-508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ja-JP"/>
              <a:t>今週の進捗</a:t>
            </a:r>
            <a:endParaRPr/>
          </a:p>
        </p:txBody>
      </p:sp>
      <p:sp>
        <p:nvSpPr>
          <p:cNvPr id="121" name="Google Shape;121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Autofit/>
          </a:bodyPr>
          <a:lstStyle/>
          <a:p>
            <a:pPr indent="-2286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ja-JP"/>
              <a:t>既存論文の手法を基にコードを作成途中</a:t>
            </a:r>
            <a:endParaRPr/>
          </a:p>
          <a:p>
            <a:pPr indent="-508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22" name="Google Shape;1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ja-JP"/>
              <a:t>参考論文</a:t>
            </a:r>
            <a:endParaRPr/>
          </a:p>
        </p:txBody>
      </p:sp>
      <p:sp>
        <p:nvSpPr>
          <p:cNvPr id="128" name="Google Shape;128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Autofit/>
          </a:bodyPr>
          <a:lstStyle/>
          <a:p>
            <a:pPr indent="-2286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ja-JP"/>
              <a:t>Haoyu Gao，“Unsupervised Dialogue Topic Segmentation with Topic-aware Utterance Representation”, SIGIR ’23, July 23–27, 2023, Taipei, Taiwan</a:t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ja-JP"/>
              <a:t>教師ラベルのついてない対話テキストを用いて、トピック境界検出モデルを構築</a:t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ja-JP"/>
              <a:t>論文の学習で使用されているコード類</a:t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ja-JP" u="sng">
                <a:solidFill>
                  <a:schemeClr val="hlink"/>
                </a:solidFill>
                <a:hlinkClick r:id="rId3"/>
              </a:rPr>
              <a:t>https://github.com/AlibabaResearch/DAMO-ConvAI/tree/main/dial-start</a:t>
            </a:r>
            <a:endParaRPr/>
          </a:p>
          <a:p>
            <a:pPr indent="-508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29" name="Google Shape;129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ja-JP"/>
              <a:t>対象データの違い</a:t>
            </a:r>
            <a:endParaRPr/>
          </a:p>
        </p:txBody>
      </p:sp>
      <p:sp>
        <p:nvSpPr>
          <p:cNvPr id="135" name="Google Shape;135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Autofit/>
          </a:bodyPr>
          <a:lstStyle/>
          <a:p>
            <a:pPr indent="-2286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ja-JP"/>
              <a:t>参考論文の対象データ→英語の対話データ</a:t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ja-JP"/>
              <a:t>本研究での対象データ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ja-JP"/>
              <a:t>→日本語のYoutube生配信字幕データ+ 視聴者コメント</a:t>
            </a:r>
            <a:endParaRPr/>
          </a:p>
        </p:txBody>
      </p:sp>
      <p:sp>
        <p:nvSpPr>
          <p:cNvPr id="136" name="Google Shape;136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ja-JP"/>
              <a:t>参考論文における学習の全体像</a:t>
            </a:r>
            <a:endParaRPr/>
          </a:p>
        </p:txBody>
      </p:sp>
      <p:sp>
        <p:nvSpPr>
          <p:cNvPr id="142" name="Google Shape;142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Autofit/>
          </a:bodyPr>
          <a:lstStyle/>
          <a:p>
            <a:pPr indent="-2286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ja-JP"/>
              <a:t>１. </a:t>
            </a:r>
            <a:r>
              <a:rPr b="1" lang="ja-JP"/>
              <a:t>Coherence</a:t>
            </a:r>
            <a:r>
              <a:rPr lang="ja-JP"/>
              <a:t> モデル(</a:t>
            </a:r>
            <a:r>
              <a:rPr b="1" lang="ja-JP"/>
              <a:t>一貫性 / 文脈つながり</a:t>
            </a:r>
            <a:r>
              <a:rPr lang="ja-JP"/>
              <a:t>)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ja-JP"/>
              <a:t>「前の文と次の文が自然に続いているか」を判定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ja-JP"/>
              <a:t>（問いかけと応答の関係を学習）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ja-JP"/>
              <a:t>BERT の Next Sentence Prediction（NSP）に近い仕組み</a:t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ja-JP"/>
              <a:t>2. </a:t>
            </a:r>
            <a:r>
              <a:rPr b="1" lang="ja-JP"/>
              <a:t>Topicモデル </a:t>
            </a:r>
            <a:r>
              <a:rPr lang="ja-JP"/>
              <a:t>(</a:t>
            </a:r>
            <a:r>
              <a:rPr b="1" lang="ja-JP"/>
              <a:t>トピック類似度</a:t>
            </a:r>
            <a:r>
              <a:rPr lang="ja-JP"/>
              <a:t>)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ja-JP"/>
              <a:t>SimCSE で文ベクトルを作り、文間の距離を計算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ja-JP"/>
              <a:t>「同じトピックの文は近く、違うトピックの文は遠く」なるように学習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43" name="Google Shape;143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ja-JP"/>
              <a:t>本研究における学習の全体像</a:t>
            </a:r>
            <a:endParaRPr/>
          </a:p>
        </p:txBody>
      </p:sp>
      <p:sp>
        <p:nvSpPr>
          <p:cNvPr id="149" name="Google Shape;149;p7"/>
          <p:cNvSpPr txBox="1"/>
          <p:nvPr>
            <p:ph idx="1" type="body"/>
          </p:nvPr>
        </p:nvSpPr>
        <p:spPr>
          <a:xfrm>
            <a:off x="1003092" y="1825625"/>
            <a:ext cx="10515600" cy="46672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ja-JP"/>
              <a:t>１. </a:t>
            </a:r>
            <a:r>
              <a:rPr b="1" lang="ja-JP"/>
              <a:t>Coherence モデル(一貫性 / 文脈つながり)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ja-JP"/>
              <a:t>「前の文と次の文が自然に続いているか」を判定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ja-JP"/>
              <a:t>話の流れが途切れていないかを学習（参考論文と同じ）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ja-JP"/>
              <a:t>2. </a:t>
            </a:r>
            <a:r>
              <a:rPr b="1" lang="ja-JP"/>
              <a:t>Topic モデル(トピック類似度)を拡張</a:t>
            </a:r>
            <a:endParaRPr b="1"/>
          </a:p>
          <a:p>
            <a:pPr indent="0" lvl="0" marL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ja-JP"/>
              <a:t>発話文と視聴者コメント群の埋め込みベクトルを組み合わせて1つの特徴に圧縮し、学習に利用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ja-JP"/>
              <a:t>発話文とコメント群の対応付け：発話文に対応する時間帯の前後１０秒を対応付ける</a:t>
            </a:r>
            <a:endParaRPr/>
          </a:p>
          <a:p>
            <a:pPr indent="-508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50" name="Google Shape;150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"/>
          <p:cNvSpPr txBox="1"/>
          <p:nvPr>
            <p:ph type="title"/>
          </p:nvPr>
        </p:nvSpPr>
        <p:spPr>
          <a:xfrm>
            <a:off x="562895" y="410368"/>
            <a:ext cx="12779477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ja-JP"/>
              <a:t>正例ペア負例ペアのつくり方（ Coherence ）</a:t>
            </a:r>
            <a:endParaRPr/>
          </a:p>
        </p:txBody>
      </p:sp>
      <p:sp>
        <p:nvSpPr>
          <p:cNvPr id="156" name="Google Shape;156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Autofit/>
          </a:bodyPr>
          <a:lstStyle/>
          <a:p>
            <a:pPr indent="-2286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ja-JP"/>
              <a:t>Coherence モデル用の正例・負例ペア</a:t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ja-JP"/>
              <a:t>正例ペア</a:t>
            </a:r>
            <a:endParaRPr b="1"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ja-JP"/>
              <a:t>→対象の発話 (context) + 本来の次の発話 (cur)</a:t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ja-JP"/>
              <a:t>負例ペア</a:t>
            </a:r>
            <a:endParaRPr b="1"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ja-JP"/>
              <a:t>→対象の発話（context）+ ランダムにとってきた発話</a:t>
            </a:r>
            <a:endParaRPr/>
          </a:p>
        </p:txBody>
      </p:sp>
      <p:sp>
        <p:nvSpPr>
          <p:cNvPr id="157" name="Google Shape;15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9"/>
          <p:cNvSpPr txBox="1"/>
          <p:nvPr>
            <p:ph type="title"/>
          </p:nvPr>
        </p:nvSpPr>
        <p:spPr>
          <a:xfrm>
            <a:off x="838199" y="365125"/>
            <a:ext cx="1115715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ja-JP"/>
              <a:t>正例ペア負例ペアのつくり方（ Topic ）</a:t>
            </a:r>
            <a:endParaRPr/>
          </a:p>
        </p:txBody>
      </p:sp>
      <p:sp>
        <p:nvSpPr>
          <p:cNvPr id="163" name="Google Shape;163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Autofit/>
          </a:bodyPr>
          <a:lstStyle/>
          <a:p>
            <a:pPr indent="-2286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ja-JP"/>
              <a:t>Topic モデル用の正例・負例ペア</a:t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ja-JP"/>
              <a:t>正例ペア</a:t>
            </a:r>
            <a:endParaRPr b="1"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ja-JP"/>
              <a:t>→対象文 + 同じ疑似セグメントに属する文</a:t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ja-JP"/>
              <a:t>負例ペア</a:t>
            </a:r>
            <a:endParaRPr b="1"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ja-JP"/>
              <a:t>→対象文 ＋ 違う疑似セグメントに属する文</a:t>
            </a:r>
            <a:endParaRPr/>
          </a:p>
        </p:txBody>
      </p:sp>
      <p:sp>
        <p:nvSpPr>
          <p:cNvPr id="164" name="Google Shape;16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ja-JP"/>
              <a:t>疑似セグメント生成</a:t>
            </a:r>
            <a:endParaRPr/>
          </a:p>
        </p:txBody>
      </p:sp>
      <p:sp>
        <p:nvSpPr>
          <p:cNvPr id="170" name="Google Shape;170;p10"/>
          <p:cNvSpPr txBox="1"/>
          <p:nvPr>
            <p:ph idx="1" type="body"/>
          </p:nvPr>
        </p:nvSpPr>
        <p:spPr>
          <a:xfrm>
            <a:off x="703289" y="1343843"/>
            <a:ext cx="10515600" cy="551415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Autofit/>
          </a:bodyPr>
          <a:lstStyle/>
          <a:p>
            <a:pPr indent="-2286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</a:pPr>
            <a:r>
              <a:rPr lang="ja-JP" sz="2700"/>
              <a:t>１．各発話を埋め込みベクトルに変換</a:t>
            </a:r>
            <a:endParaRPr sz="2700"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</a:pPr>
            <a:r>
              <a:rPr lang="ja-JP" sz="2700"/>
              <a:t>２．各発話において</a:t>
            </a:r>
            <a:r>
              <a:rPr b="1" lang="ja-JP" sz="2700"/>
              <a:t>左側の発話群</a:t>
            </a:r>
            <a:r>
              <a:rPr lang="ja-JP" sz="2700"/>
              <a:t> と </a:t>
            </a:r>
            <a:r>
              <a:rPr b="1" lang="ja-JP" sz="2700"/>
              <a:t>右側の発話群</a:t>
            </a:r>
            <a:r>
              <a:rPr lang="ja-JP" sz="2700"/>
              <a:t> のベクトルに変換しそれぞれ平均値をだす。</a:t>
            </a:r>
            <a:endParaRPr sz="2700"/>
          </a:p>
          <a:p>
            <a:pPr indent="0" lvl="0" marL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</a:pPr>
            <a:r>
              <a:rPr lang="ja-JP" sz="2700"/>
              <a:t>※発話群とは対象文から前後２文をチャンク化したもの</a:t>
            </a:r>
            <a:endParaRPr sz="2700"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</a:pPr>
            <a:r>
              <a:rPr lang="ja-JP" sz="2700"/>
              <a:t>３．２で計算したベクトルの平均値のコサイン類似度を計算。</a:t>
            </a:r>
            <a:endParaRPr sz="2700"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</a:pPr>
            <a:r>
              <a:rPr lang="ja-JP" sz="2700"/>
              <a:t>４．コサイン類似度の</a:t>
            </a:r>
            <a:r>
              <a:rPr lang="ja-JP"/>
              <a:t>極小点（谷）を探索し、周囲との差（深さ）をスコア化</a:t>
            </a:r>
            <a:endParaRPr sz="2700"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</a:pPr>
            <a:r>
              <a:rPr lang="ja-JP" sz="2700"/>
              <a:t>５．４の谷の深さが大きい順に</a:t>
            </a:r>
            <a:r>
              <a:rPr b="1" lang="ja-JP" sz="2700"/>
              <a:t>上位 k 個</a:t>
            </a:r>
            <a:r>
              <a:rPr lang="ja-JP" sz="2700"/>
              <a:t>を選びそこをセグメント境界とする。論文のコードのデフォルト値はk=5。</a:t>
            </a:r>
            <a:endParaRPr sz="2700"/>
          </a:p>
          <a:p>
            <a:pPr indent="-508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71" name="Google Shape;17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ja-JP"/>
              <a:t>９月中予定</a:t>
            </a:r>
            <a:endParaRPr/>
          </a:p>
        </p:txBody>
      </p:sp>
      <p:sp>
        <p:nvSpPr>
          <p:cNvPr id="177" name="Google Shape;177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Autofit/>
          </a:bodyPr>
          <a:lstStyle/>
          <a:p>
            <a:pPr indent="-2286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ja-JP"/>
              <a:t>コードを完成させ、学習データをつくる。</a:t>
            </a:r>
            <a:endParaRPr/>
          </a:p>
        </p:txBody>
      </p:sp>
      <p:sp>
        <p:nvSpPr>
          <p:cNvPr id="178" name="Google Shape;178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radientVTI">
  <a:themeElements>
    <a:clrScheme name="Office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テーマ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2025-05-18T22:20:18Z</dcterms:created>
  <dc:creator>昇汰 三輪</dc:creator>
</cp:coreProperties>
</file>