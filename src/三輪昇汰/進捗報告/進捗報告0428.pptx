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300" r:id="rId3"/>
    <p:sldId id="305" r:id="rId4"/>
    <p:sldId id="303" r:id="rId5"/>
    <p:sldId id="304" r:id="rId6"/>
    <p:sldId id="312" r:id="rId7"/>
    <p:sldId id="310" r:id="rId8"/>
    <p:sldId id="311" r:id="rId9"/>
    <p:sldId id="309" r:id="rId10"/>
    <p:sldId id="308" r:id="rId11"/>
    <p:sldId id="307" r:id="rId12"/>
    <p:sldId id="302" r:id="rId13"/>
  </p:sldIdLst>
  <p:sldSz cx="12192000" cy="6858000"/>
  <p:notesSz cx="6858000" cy="9144000"/>
  <p:embeddedFontLst>
    <p:embeddedFont>
      <p:font typeface="Open Sans" panose="020B0606030504020204" pitchFamily="3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iSP1TDKl9SlnSq0ofYxIRhWNpPP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6A6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D16252-574D-44B4-B3B2-BC42012E9720}" v="88" dt="2025-10-26T05:56:38.92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5" autoAdjust="0"/>
    <p:restoredTop sz="67647" autoAdjust="0"/>
  </p:normalViewPr>
  <p:slideViewPr>
    <p:cSldViewPr snapToGrid="0">
      <p:cViewPr varScale="1">
        <p:scale>
          <a:sx n="64" d="100"/>
          <a:sy n="64" d="100"/>
        </p:scale>
        <p:origin x="133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9" Type="http://customschemas.google.com/relationships/presentationmetadata" Target="NUL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altLang="ja-JP" dirty="0"/>
          </a:p>
        </p:txBody>
      </p:sp>
      <p:sp>
        <p:nvSpPr>
          <p:cNvPr id="97" name="Google Shape;9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41853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altLang="ja-JP" dirty="0"/>
          </a:p>
        </p:txBody>
      </p:sp>
      <p:sp>
        <p:nvSpPr>
          <p:cNvPr id="4" name="スライド番号プレースホルダー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31653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56806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5"/>
          <p:cNvSpPr txBox="1">
            <a:spLocks noGrp="1"/>
          </p:cNvSpPr>
          <p:nvPr>
            <p:ph type="ctrTitle"/>
          </p:nvPr>
        </p:nvSpPr>
        <p:spPr>
          <a:xfrm>
            <a:off x="1524000" y="1122363"/>
            <a:ext cx="9144000" cy="23876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6000"/>
              <a:buFont typeface="Arial"/>
              <a:buNone/>
              <a:defRPr sz="6000" b="0" i="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5"/>
          <p:cNvSpPr txBox="1">
            <a:spLocks noGrp="1"/>
          </p:cNvSpPr>
          <p:nvPr>
            <p:ph type="subTitle" idx="1"/>
          </p:nvPr>
        </p:nvSpPr>
        <p:spPr>
          <a:xfrm>
            <a:off x="1524000" y="3602038"/>
            <a:ext cx="9144000" cy="1655762"/>
          </a:xfrm>
          <a:prstGeom prst="rect">
            <a:avLst/>
          </a:prstGeom>
          <a:noFill/>
          <a:ln>
            <a:noFill/>
          </a:ln>
        </p:spPr>
        <p:txBody>
          <a:bodyPr spcFirstLastPara="1" wrap="square" lIns="109725" tIns="109725" rIns="109725" bIns="91425" anchor="t" anchorCtr="0">
            <a:noAutofit/>
          </a:bodyPr>
          <a:lstStyle>
            <a:lvl1pPr lvl="0" algn="l">
              <a:lnSpc>
                <a:spcPct val="110000"/>
              </a:lnSpc>
              <a:spcBef>
                <a:spcPts val="1000"/>
              </a:spcBef>
              <a:spcAft>
                <a:spcPts val="0"/>
              </a:spcAft>
              <a:buClr>
                <a:schemeClr val="dk1"/>
              </a:buClr>
              <a:buSzPts val="2400"/>
              <a:buNone/>
              <a:defRPr sz="2400"/>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5"/>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5"/>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5"/>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21" name="Google Shape;21;p5"/>
          <p:cNvCxnSpPr/>
          <p:nvPr/>
        </p:nvCxnSpPr>
        <p:spPr>
          <a:xfrm>
            <a:off x="715890" y="1114050"/>
            <a:ext cx="0" cy="5735637"/>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6"/>
          <p:cNvSpPr txBox="1">
            <a:spLocks noGrp="1"/>
          </p:cNvSpPr>
          <p:nvPr>
            <p:ph type="body" idx="1"/>
          </p:nvPr>
        </p:nvSpPr>
        <p:spPr>
          <a:xfrm>
            <a:off x="838200" y="1825625"/>
            <a:ext cx="10515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6"/>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6"/>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28" name="Google Shape;28;p6"/>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831850" y="1709738"/>
            <a:ext cx="10515600" cy="2852737"/>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6000"/>
              <a:buFont typeface="Arial"/>
              <a:buNone/>
              <a:defRPr sz="6000" b="1" i="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
          <p:cNvSpPr txBox="1">
            <a:spLocks noGrp="1"/>
          </p:cNvSpPr>
          <p:nvPr>
            <p:ph type="body" idx="1"/>
          </p:nvPr>
        </p:nvSpPr>
        <p:spPr>
          <a:xfrm>
            <a:off x="831850" y="4589463"/>
            <a:ext cx="10515600" cy="1500187"/>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rgbClr val="888888"/>
              </a:buClr>
              <a:buSzPts val="2400"/>
              <a:buNone/>
              <a:defRPr sz="2400">
                <a:solidFill>
                  <a:srgbClr val="888888"/>
                </a:solidFill>
              </a:defRPr>
            </a:lvl1pPr>
            <a:lvl2pPr marL="914400" lvl="1" indent="-228600" algn="l">
              <a:lnSpc>
                <a:spcPct val="110000"/>
              </a:lnSpc>
              <a:spcBef>
                <a:spcPts val="500"/>
              </a:spcBef>
              <a:spcAft>
                <a:spcPts val="0"/>
              </a:spcAft>
              <a:buClr>
                <a:srgbClr val="888888"/>
              </a:buClr>
              <a:buSzPts val="2000"/>
              <a:buNone/>
              <a:defRPr sz="2000">
                <a:solidFill>
                  <a:srgbClr val="888888"/>
                </a:solidFill>
              </a:defRPr>
            </a:lvl2pPr>
            <a:lvl3pPr marL="1371600" lvl="2" indent="-228600" algn="l">
              <a:lnSpc>
                <a:spcPct val="110000"/>
              </a:lnSpc>
              <a:spcBef>
                <a:spcPts val="500"/>
              </a:spcBef>
              <a:spcAft>
                <a:spcPts val="0"/>
              </a:spcAft>
              <a:buClr>
                <a:srgbClr val="888888"/>
              </a:buClr>
              <a:buSzPts val="1800"/>
              <a:buNone/>
              <a:defRPr sz="1800">
                <a:solidFill>
                  <a:srgbClr val="888888"/>
                </a:solidFill>
              </a:defRPr>
            </a:lvl3pPr>
            <a:lvl4pPr marL="1828800" lvl="3" indent="-228600" algn="l">
              <a:lnSpc>
                <a:spcPct val="110000"/>
              </a:lnSpc>
              <a:spcBef>
                <a:spcPts val="500"/>
              </a:spcBef>
              <a:spcAft>
                <a:spcPts val="0"/>
              </a:spcAft>
              <a:buClr>
                <a:srgbClr val="888888"/>
              </a:buClr>
              <a:buSzPts val="1600"/>
              <a:buNone/>
              <a:defRPr sz="1600">
                <a:solidFill>
                  <a:srgbClr val="888888"/>
                </a:solidFill>
              </a:defRPr>
            </a:lvl4pPr>
            <a:lvl5pPr marL="2286000" lvl="4" indent="-228600" algn="l">
              <a:lnSpc>
                <a:spcPct val="11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7"/>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7"/>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7"/>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35" name="Google Shape;35;p7"/>
          <p:cNvCxnSpPr/>
          <p:nvPr/>
        </p:nvCxnSpPr>
        <p:spPr>
          <a:xfrm>
            <a:off x="715890" y="1701425"/>
            <a:ext cx="0" cy="5148262"/>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body" idx="1"/>
          </p:nvPr>
        </p:nvSpPr>
        <p:spPr>
          <a:xfrm>
            <a:off x="838200" y="1825625"/>
            <a:ext cx="5181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8"/>
          <p:cNvSpPr txBox="1">
            <a:spLocks noGrp="1"/>
          </p:cNvSpPr>
          <p:nvPr>
            <p:ph type="body" idx="2"/>
          </p:nvPr>
        </p:nvSpPr>
        <p:spPr>
          <a:xfrm>
            <a:off x="6172200" y="1825625"/>
            <a:ext cx="5181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8"/>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8"/>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43" name="Google Shape;43;p8"/>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9"/>
          <p:cNvSpPr txBox="1">
            <a:spLocks noGrp="1"/>
          </p:cNvSpPr>
          <p:nvPr>
            <p:ph type="title"/>
          </p:nvPr>
        </p:nvSpPr>
        <p:spPr>
          <a:xfrm>
            <a:off x="839788"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9"/>
          <p:cNvSpPr txBox="1">
            <a:spLocks noGrp="1"/>
          </p:cNvSpPr>
          <p:nvPr>
            <p:ph type="body" idx="1"/>
          </p:nvPr>
        </p:nvSpPr>
        <p:spPr>
          <a:xfrm>
            <a:off x="839788" y="1681163"/>
            <a:ext cx="5157787" cy="823912"/>
          </a:xfrm>
          <a:prstGeom prst="rect">
            <a:avLst/>
          </a:prstGeom>
          <a:noFill/>
          <a:ln>
            <a:noFill/>
          </a:ln>
        </p:spPr>
        <p:txBody>
          <a:bodyPr spcFirstLastPara="1" wrap="square" lIns="109725" tIns="109725" rIns="109725" bIns="91425" anchor="b" anchorCtr="0">
            <a:noAutofit/>
          </a:bodyPr>
          <a:lstStyle>
            <a:lvl1pPr marL="457200" lvl="0" indent="-228600" algn="l">
              <a:lnSpc>
                <a:spcPct val="110000"/>
              </a:lnSpc>
              <a:spcBef>
                <a:spcPts val="1000"/>
              </a:spcBef>
              <a:spcAft>
                <a:spcPts val="0"/>
              </a:spcAft>
              <a:buClr>
                <a:schemeClr val="dk1"/>
              </a:buClr>
              <a:buSzPts val="2400"/>
              <a:buNone/>
              <a:defRPr sz="2400" b="1"/>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9"/>
          <p:cNvSpPr txBox="1">
            <a:spLocks noGrp="1"/>
          </p:cNvSpPr>
          <p:nvPr>
            <p:ph type="body" idx="2"/>
          </p:nvPr>
        </p:nvSpPr>
        <p:spPr>
          <a:xfrm>
            <a:off x="839788" y="2505075"/>
            <a:ext cx="5157787" cy="368458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9"/>
          <p:cNvSpPr txBox="1">
            <a:spLocks noGrp="1"/>
          </p:cNvSpPr>
          <p:nvPr>
            <p:ph type="body" idx="3"/>
          </p:nvPr>
        </p:nvSpPr>
        <p:spPr>
          <a:xfrm>
            <a:off x="6172200" y="1681163"/>
            <a:ext cx="5183188" cy="823912"/>
          </a:xfrm>
          <a:prstGeom prst="rect">
            <a:avLst/>
          </a:prstGeom>
          <a:noFill/>
          <a:ln>
            <a:noFill/>
          </a:ln>
        </p:spPr>
        <p:txBody>
          <a:bodyPr spcFirstLastPara="1" wrap="square" lIns="109725" tIns="109725" rIns="109725" bIns="91425" anchor="b" anchorCtr="0">
            <a:noAutofit/>
          </a:bodyPr>
          <a:lstStyle>
            <a:lvl1pPr marL="457200" lvl="0" indent="-228600" algn="l">
              <a:lnSpc>
                <a:spcPct val="110000"/>
              </a:lnSpc>
              <a:spcBef>
                <a:spcPts val="1000"/>
              </a:spcBef>
              <a:spcAft>
                <a:spcPts val="0"/>
              </a:spcAft>
              <a:buClr>
                <a:schemeClr val="dk1"/>
              </a:buClr>
              <a:buSzPts val="2400"/>
              <a:buNone/>
              <a:defRPr sz="2400" b="1"/>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9"/>
          <p:cNvSpPr txBox="1">
            <a:spLocks noGrp="1"/>
          </p:cNvSpPr>
          <p:nvPr>
            <p:ph type="body" idx="4"/>
          </p:nvPr>
        </p:nvSpPr>
        <p:spPr>
          <a:xfrm>
            <a:off x="6172200" y="2505075"/>
            <a:ext cx="5183188" cy="368458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9"/>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9"/>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53" name="Google Shape;53;p9"/>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0"/>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0"/>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59" name="Google Shape;59;p10"/>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1"/>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1"/>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64" name="Google Shape;64;p11"/>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2"/>
          <p:cNvSpPr txBox="1">
            <a:spLocks noGrp="1"/>
          </p:cNvSpPr>
          <p:nvPr>
            <p:ph type="title"/>
          </p:nvPr>
        </p:nvSpPr>
        <p:spPr>
          <a:xfrm>
            <a:off x="839788" y="457200"/>
            <a:ext cx="3932237" cy="16002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2"/>
          <p:cNvSpPr txBox="1">
            <a:spLocks noGrp="1"/>
          </p:cNvSpPr>
          <p:nvPr>
            <p:ph type="body" idx="1"/>
          </p:nvPr>
        </p:nvSpPr>
        <p:spPr>
          <a:xfrm>
            <a:off x="5183188" y="987425"/>
            <a:ext cx="6172200" cy="4873625"/>
          </a:xfrm>
          <a:prstGeom prst="rect">
            <a:avLst/>
          </a:prstGeom>
          <a:noFill/>
          <a:ln>
            <a:noFill/>
          </a:ln>
        </p:spPr>
        <p:txBody>
          <a:bodyPr spcFirstLastPara="1" wrap="square" lIns="109725" tIns="109725" rIns="109725" bIns="91425" anchor="t" anchorCtr="0">
            <a:noAutofit/>
          </a:bodyPr>
          <a:lstStyle>
            <a:lvl1pPr marL="457200" lvl="0" indent="-431800" algn="l">
              <a:lnSpc>
                <a:spcPct val="110000"/>
              </a:lnSpc>
              <a:spcBef>
                <a:spcPts val="1000"/>
              </a:spcBef>
              <a:spcAft>
                <a:spcPts val="0"/>
              </a:spcAft>
              <a:buClr>
                <a:schemeClr val="dk1"/>
              </a:buClr>
              <a:buSzPts val="3200"/>
              <a:buChar char="•"/>
              <a:defRPr sz="3200"/>
            </a:lvl1pPr>
            <a:lvl2pPr marL="914400" lvl="1" indent="-406400" algn="l">
              <a:lnSpc>
                <a:spcPct val="110000"/>
              </a:lnSpc>
              <a:spcBef>
                <a:spcPts val="500"/>
              </a:spcBef>
              <a:spcAft>
                <a:spcPts val="0"/>
              </a:spcAft>
              <a:buClr>
                <a:schemeClr val="dk1"/>
              </a:buClr>
              <a:buSzPts val="2800"/>
              <a:buChar char="•"/>
              <a:defRPr sz="2800"/>
            </a:lvl2pPr>
            <a:lvl3pPr marL="1371600" lvl="2" indent="-381000" algn="l">
              <a:lnSpc>
                <a:spcPct val="110000"/>
              </a:lnSpc>
              <a:spcBef>
                <a:spcPts val="500"/>
              </a:spcBef>
              <a:spcAft>
                <a:spcPts val="0"/>
              </a:spcAft>
              <a:buClr>
                <a:schemeClr val="dk1"/>
              </a:buClr>
              <a:buSzPts val="2400"/>
              <a:buChar char="•"/>
              <a:defRPr sz="2400"/>
            </a:lvl3pPr>
            <a:lvl4pPr marL="1828800" lvl="3" indent="-355600" algn="l">
              <a:lnSpc>
                <a:spcPct val="110000"/>
              </a:lnSpc>
              <a:spcBef>
                <a:spcPts val="500"/>
              </a:spcBef>
              <a:spcAft>
                <a:spcPts val="0"/>
              </a:spcAft>
              <a:buClr>
                <a:schemeClr val="dk1"/>
              </a:buClr>
              <a:buSzPts val="2000"/>
              <a:buChar char="•"/>
              <a:defRPr sz="2000"/>
            </a:lvl4pPr>
            <a:lvl5pPr marL="2286000" lvl="4" indent="-355600" algn="l">
              <a:lnSpc>
                <a:spcPct val="11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2"/>
          <p:cNvSpPr txBox="1">
            <a:spLocks noGrp="1"/>
          </p:cNvSpPr>
          <p:nvPr>
            <p:ph type="body" idx="2"/>
          </p:nvPr>
        </p:nvSpPr>
        <p:spPr>
          <a:xfrm>
            <a:off x="839788" y="2057400"/>
            <a:ext cx="3932237" cy="3811588"/>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chemeClr val="dk1"/>
              </a:buClr>
              <a:buSzPts val="1600"/>
              <a:buNone/>
              <a:defRPr sz="1600"/>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2"/>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2"/>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72" name="Google Shape;72;p12"/>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839788" y="457200"/>
            <a:ext cx="3932237" cy="16002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3"/>
          <p:cNvSpPr>
            <a:spLocks noGrp="1"/>
          </p:cNvSpPr>
          <p:nvPr>
            <p:ph type="pic" idx="2"/>
          </p:nvPr>
        </p:nvSpPr>
        <p:spPr>
          <a:xfrm>
            <a:off x="5183188" y="987425"/>
            <a:ext cx="6172200" cy="4873625"/>
          </a:xfrm>
          <a:prstGeom prst="rect">
            <a:avLst/>
          </a:prstGeom>
          <a:noFill/>
          <a:ln>
            <a:noFill/>
          </a:ln>
        </p:spPr>
      </p:sp>
      <p:sp>
        <p:nvSpPr>
          <p:cNvPr id="76" name="Google Shape;76;p13"/>
          <p:cNvSpPr txBox="1">
            <a:spLocks noGrp="1"/>
          </p:cNvSpPr>
          <p:nvPr>
            <p:ph type="body" idx="1"/>
          </p:nvPr>
        </p:nvSpPr>
        <p:spPr>
          <a:xfrm>
            <a:off x="839788" y="2057400"/>
            <a:ext cx="3932237" cy="3811588"/>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chemeClr val="dk1"/>
              </a:buClr>
              <a:buSzPts val="1600"/>
              <a:buNone/>
              <a:defRPr sz="1600"/>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3"/>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80" name="Google Shape;80;p13"/>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4"/>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4"/>
          <p:cNvSpPr txBox="1">
            <a:spLocks noGrp="1"/>
          </p:cNvSpPr>
          <p:nvPr>
            <p:ph type="body" idx="1"/>
          </p:nvPr>
        </p:nvSpPr>
        <p:spPr>
          <a:xfrm rot="5400000">
            <a:off x="3920331" y="-1256506"/>
            <a:ext cx="4351338" cy="10515600"/>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4"/>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4"/>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4"/>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87" name="Google Shape;87;p14"/>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5"/>
          <p:cNvSpPr txBox="1">
            <a:spLocks noGrp="1"/>
          </p:cNvSpPr>
          <p:nvPr>
            <p:ph type="title"/>
          </p:nvPr>
        </p:nvSpPr>
        <p:spPr>
          <a:xfrm rot="5400000">
            <a:off x="7133431" y="1956594"/>
            <a:ext cx="5811838" cy="2628900"/>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5"/>
          <p:cNvSpPr txBox="1">
            <a:spLocks noGrp="1"/>
          </p:cNvSpPr>
          <p:nvPr>
            <p:ph type="body" idx="1"/>
          </p:nvPr>
        </p:nvSpPr>
        <p:spPr>
          <a:xfrm rot="5400000">
            <a:off x="1799431" y="-596106"/>
            <a:ext cx="5811838" cy="7734300"/>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5"/>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5"/>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5"/>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94" name="Google Shape;94;p15"/>
          <p:cNvCxnSpPr/>
          <p:nvPr/>
        </p:nvCxnSpPr>
        <p:spPr>
          <a:xfrm rot="10800000" flipH="1">
            <a:off x="8313" y="261865"/>
            <a:ext cx="11353802" cy="1"/>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marR="0" lvl="0" algn="l" rtl="0">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
          <p:cNvSpPr txBox="1">
            <a:spLocks noGrp="1"/>
          </p:cNvSpPr>
          <p:nvPr>
            <p:ph type="body" idx="1"/>
          </p:nvPr>
        </p:nvSpPr>
        <p:spPr>
          <a:xfrm>
            <a:off x="838200" y="1825625"/>
            <a:ext cx="10515600" cy="4351338"/>
          </a:xfrm>
          <a:prstGeom prst="rect">
            <a:avLst/>
          </a:prstGeom>
          <a:noFill/>
          <a:ln>
            <a:noFill/>
          </a:ln>
        </p:spPr>
        <p:txBody>
          <a:bodyPr spcFirstLastPara="1" wrap="square" lIns="109725" tIns="109725" rIns="109725" bIns="91425" anchor="t" anchorCtr="0">
            <a:noAutofit/>
          </a:bodyPr>
          <a:lstStyle>
            <a:lvl1pPr marL="457200" marR="0" lvl="0" indent="-406400" algn="l" rtl="0">
              <a:lnSpc>
                <a:spcPct val="11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11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11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11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1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4"/>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4"/>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4"/>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sp>
        <p:nvSpPr>
          <p:cNvPr id="99" name="Google Shape;99;p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00" name="Google Shape;100;p1"/>
          <p:cNvSpPr/>
          <p:nvPr/>
        </p:nvSpPr>
        <p:spPr>
          <a:xfrm>
            <a:off x="8878" y="0"/>
            <a:ext cx="12192000" cy="6858000"/>
          </a:xfrm>
          <a:prstGeom prst="rect">
            <a:avLst/>
          </a:prstGeom>
          <a:gradFill>
            <a:gsLst>
              <a:gs pos="0">
                <a:schemeClr val="accent2"/>
              </a:gs>
              <a:gs pos="100000">
                <a:schemeClr val="accent4"/>
              </a:gs>
            </a:gsLst>
            <a:lin ang="189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Open Sans"/>
              <a:ea typeface="Open Sans"/>
              <a:cs typeface="Open Sans"/>
              <a:sym typeface="Open Sans"/>
            </a:endParaRPr>
          </a:p>
        </p:txBody>
      </p:sp>
      <p:sp>
        <p:nvSpPr>
          <p:cNvPr id="102" name="Google Shape;102;p1"/>
          <p:cNvSpPr txBox="1">
            <a:spLocks noGrp="1"/>
          </p:cNvSpPr>
          <p:nvPr>
            <p:ph type="ctrTitle"/>
          </p:nvPr>
        </p:nvSpPr>
        <p:spPr>
          <a:xfrm>
            <a:off x="1256275" y="2271449"/>
            <a:ext cx="9679449" cy="2847058"/>
          </a:xfrm>
          <a:prstGeom prst="rect">
            <a:avLst/>
          </a:prstGeom>
          <a:noFill/>
          <a:ln>
            <a:noFill/>
          </a:ln>
        </p:spPr>
        <p:txBody>
          <a:bodyPr spcFirstLastPara="1" wrap="square" lIns="109725" tIns="109725" rIns="109725" bIns="91425" anchor="b" anchorCtr="0">
            <a:normAutofit/>
          </a:bodyPr>
          <a:lstStyle/>
          <a:p>
            <a:pPr marL="0" lvl="0" indent="0" algn="l" rtl="0">
              <a:lnSpc>
                <a:spcPct val="110000"/>
              </a:lnSpc>
              <a:spcBef>
                <a:spcPts val="0"/>
              </a:spcBef>
              <a:spcAft>
                <a:spcPts val="0"/>
              </a:spcAft>
              <a:buClr>
                <a:srgbClr val="FFFFFF"/>
              </a:buClr>
              <a:buSzPts val="7200"/>
              <a:buFont typeface="Arial"/>
              <a:buNone/>
            </a:pPr>
            <a:r>
              <a:rPr lang="ja-JP" altLang="en-US" sz="7200" dirty="0">
                <a:solidFill>
                  <a:srgbClr val="FFFFFF"/>
                </a:solidFill>
              </a:rPr>
              <a:t>進捗報告</a:t>
            </a:r>
            <a:endParaRPr dirty="0"/>
          </a:p>
        </p:txBody>
      </p:sp>
      <p:sp>
        <p:nvSpPr>
          <p:cNvPr id="103" name="Google Shape;103;p1"/>
          <p:cNvSpPr txBox="1">
            <a:spLocks noGrp="1"/>
          </p:cNvSpPr>
          <p:nvPr>
            <p:ph type="subTitle" idx="1"/>
          </p:nvPr>
        </p:nvSpPr>
        <p:spPr>
          <a:xfrm>
            <a:off x="1256275" y="5098254"/>
            <a:ext cx="9679449" cy="750259"/>
          </a:xfrm>
          <a:prstGeom prst="rect">
            <a:avLst/>
          </a:prstGeom>
          <a:noFill/>
          <a:ln>
            <a:noFill/>
          </a:ln>
        </p:spPr>
        <p:txBody>
          <a:bodyPr spcFirstLastPara="1" wrap="square" lIns="109725" tIns="109725" rIns="109725" bIns="91425" anchor="ctr" anchorCtr="0">
            <a:normAutofit/>
          </a:bodyPr>
          <a:lstStyle/>
          <a:p>
            <a:pPr marL="0" lvl="0" indent="0" algn="l" rtl="0">
              <a:lnSpc>
                <a:spcPct val="110000"/>
              </a:lnSpc>
              <a:spcBef>
                <a:spcPts val="0"/>
              </a:spcBef>
              <a:spcAft>
                <a:spcPts val="0"/>
              </a:spcAft>
              <a:buClr>
                <a:srgbClr val="FFFFFF"/>
              </a:buClr>
              <a:buSzPts val="2400"/>
              <a:buNone/>
            </a:pPr>
            <a:r>
              <a:rPr lang="en-US" dirty="0">
                <a:solidFill>
                  <a:srgbClr val="FFFFFF"/>
                </a:solidFill>
              </a:rPr>
              <a:t>Al21120　三輪昇汰　202</a:t>
            </a:r>
            <a:r>
              <a:rPr lang="en-US" altLang="ja-JP" dirty="0">
                <a:solidFill>
                  <a:srgbClr val="FFFFFF"/>
                </a:solidFill>
              </a:rPr>
              <a:t>6</a:t>
            </a:r>
            <a:r>
              <a:rPr lang="en-US" dirty="0">
                <a:solidFill>
                  <a:srgbClr val="FFFFFF"/>
                </a:solidFill>
              </a:rPr>
              <a:t>/ 4</a:t>
            </a:r>
            <a:r>
              <a:rPr lang="en-US">
                <a:solidFill>
                  <a:srgbClr val="FFFFFF"/>
                </a:solidFill>
              </a:rPr>
              <a:t>/ </a:t>
            </a:r>
            <a:r>
              <a:rPr lang="en-US" altLang="ja-JP">
                <a:solidFill>
                  <a:srgbClr val="FFFFFF"/>
                </a:solidFill>
              </a:rPr>
              <a:t>28</a:t>
            </a:r>
            <a:endParaRPr dirty="0">
              <a:solidFill>
                <a:srgbClr val="FFFFFF"/>
              </a:solidFill>
            </a:endParaRPr>
          </a:p>
        </p:txBody>
      </p:sp>
      <p:cxnSp>
        <p:nvCxnSpPr>
          <p:cNvPr id="104" name="Google Shape;104;p1"/>
          <p:cNvCxnSpPr/>
          <p:nvPr/>
        </p:nvCxnSpPr>
        <p:spPr>
          <a:xfrm>
            <a:off x="8878" y="806470"/>
            <a:ext cx="8453437" cy="0"/>
          </a:xfrm>
          <a:prstGeom prst="straightConnector1">
            <a:avLst/>
          </a:prstGeom>
          <a:noFill/>
          <a:ln w="25400" cap="sq" cmpd="sng">
            <a:solidFill>
              <a:srgbClr val="FFFFFF"/>
            </a:solidFill>
            <a:prstDash val="solid"/>
            <a:bevel/>
            <a:headEnd type="none" w="sm" len="sm"/>
            <a:tailEnd type="none" w="sm" len="sm"/>
          </a:ln>
        </p:spPr>
      </p:cxnSp>
      <p:sp>
        <p:nvSpPr>
          <p:cNvPr id="105" name="Google Shape;105;p1"/>
          <p:cNvSpPr/>
          <p:nvPr/>
        </p:nvSpPr>
        <p:spPr>
          <a:xfrm>
            <a:off x="544954" y="2875093"/>
            <a:ext cx="139039" cy="139039"/>
          </a:xfrm>
          <a:custGeom>
            <a:avLst/>
            <a:gdLst/>
            <a:ahLst/>
            <a:cxnLst/>
            <a:rect l="l" t="t" r="r" b="b"/>
            <a:pathLst>
              <a:path w="139039" h="139039" extrusionOk="0">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6" name="Google Shape;106;p1"/>
          <p:cNvSpPr/>
          <p:nvPr/>
        </p:nvSpPr>
        <p:spPr>
          <a:xfrm>
            <a:off x="903734" y="3104388"/>
            <a:ext cx="91138" cy="91138"/>
          </a:xfrm>
          <a:custGeom>
            <a:avLst/>
            <a:gdLst/>
            <a:ahLst/>
            <a:cxnLst/>
            <a:rect l="l" t="t" r="r" b="b"/>
            <a:pathLst>
              <a:path w="91138" h="91138" extrusionOk="0">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7" name="Google Shape;107;p1"/>
          <p:cNvSpPr/>
          <p:nvPr/>
        </p:nvSpPr>
        <p:spPr>
          <a:xfrm>
            <a:off x="529414" y="3619532"/>
            <a:ext cx="127714" cy="127714"/>
          </a:xfrm>
          <a:custGeom>
            <a:avLst/>
            <a:gdLst/>
            <a:ahLst/>
            <a:cxnLst/>
            <a:rect l="l" t="t" r="r" b="b"/>
            <a:pathLst>
              <a:path w="127714" h="127714" extrusionOk="0">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8" name="Google Shape;108;p1"/>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5E33979A-DBA3-5B88-6DA1-2003B88729BA}"/>
              </a:ext>
            </a:extLst>
          </p:cNvPr>
          <p:cNvSpPr>
            <a:spLocks noGrp="1"/>
          </p:cNvSpPr>
          <p:nvPr>
            <p:ph type="body" idx="1"/>
          </p:nvPr>
        </p:nvSpPr>
        <p:spPr>
          <a:xfrm>
            <a:off x="838200" y="1551214"/>
            <a:ext cx="10515600" cy="5170261"/>
          </a:xfrm>
        </p:spPr>
        <p:txBody>
          <a:bodyPr/>
          <a:lstStyle/>
          <a:p>
            <a:r>
              <a:rPr lang="ja-JP" altLang="en-US" dirty="0"/>
              <a:t>研究内容</a:t>
            </a:r>
            <a:endParaRPr lang="en-US" altLang="ja-JP" dirty="0"/>
          </a:p>
          <a:p>
            <a:pPr lvl="1"/>
            <a:r>
              <a:rPr lang="ja-JP" altLang="en-US" dirty="0"/>
              <a:t>ライブ配信動画から注目区間抽出</a:t>
            </a:r>
            <a:endParaRPr lang="en-US" altLang="ja-JP" dirty="0"/>
          </a:p>
          <a:p>
            <a:r>
              <a:rPr lang="ja-JP" altLang="en-US" dirty="0"/>
              <a:t>抽出手順</a:t>
            </a:r>
            <a:endParaRPr lang="en-US" altLang="ja-JP" dirty="0"/>
          </a:p>
          <a:p>
            <a:pPr marL="571500" lvl="1" indent="0">
              <a:buNone/>
            </a:pPr>
            <a:r>
              <a:rPr lang="en-US" altLang="ja-JP" dirty="0"/>
              <a:t>1.  </a:t>
            </a:r>
            <a:r>
              <a:rPr lang="ja-JP" altLang="en-US" dirty="0"/>
              <a:t>発話字幕を使って話題トピックでセグメント分け </a:t>
            </a:r>
            <a:endParaRPr lang="en-US" altLang="ja-JP" dirty="0"/>
          </a:p>
          <a:p>
            <a:pPr marL="571500" lvl="1" indent="0">
              <a:buNone/>
            </a:pPr>
            <a:r>
              <a:rPr lang="en-US" altLang="ja-JP" dirty="0"/>
              <a:t>2.  </a:t>
            </a:r>
            <a:r>
              <a:rPr lang="ja-JP" altLang="en-US" dirty="0"/>
              <a:t>セグメントごとに視聴者コメントの分析</a:t>
            </a:r>
            <a:endParaRPr lang="en-US" altLang="ja-JP" dirty="0"/>
          </a:p>
          <a:p>
            <a:pPr marL="571500" lvl="1" indent="0">
              <a:buNone/>
            </a:pPr>
            <a:r>
              <a:rPr lang="ja-JP" altLang="en-US" dirty="0"/>
              <a:t>      →　注目度の高いセグメントの特定</a:t>
            </a:r>
            <a:endParaRPr lang="en-US" altLang="ja-JP" dirty="0"/>
          </a:p>
          <a:p>
            <a:r>
              <a:rPr lang="ja-JP" altLang="en-US" dirty="0"/>
              <a:t>現在の研究の進捗</a:t>
            </a:r>
            <a:endParaRPr lang="en-US" altLang="ja-JP" dirty="0"/>
          </a:p>
          <a:p>
            <a:pPr lvl="1"/>
            <a:r>
              <a:rPr lang="ja-JP" altLang="en-US" dirty="0"/>
              <a:t>トピックセグメント分け（済）</a:t>
            </a:r>
            <a:endParaRPr lang="en-US" altLang="ja-JP" dirty="0"/>
          </a:p>
          <a:p>
            <a:pPr lvl="1"/>
            <a:r>
              <a:rPr kumimoji="1" lang="ja-JP" altLang="en-US" dirty="0"/>
              <a:t>視聴者の注目したセグメントの特定（現在）</a:t>
            </a:r>
            <a:endParaRPr lang="en-US" altLang="ja-JP" dirty="0"/>
          </a:p>
          <a:p>
            <a:endParaRPr lang="en-US" altLang="ja-JP" dirty="0"/>
          </a:p>
        </p:txBody>
      </p:sp>
      <p:sp>
        <p:nvSpPr>
          <p:cNvPr id="4" name="スライド番号プレースホルダー 3">
            <a:extLst>
              <a:ext uri="{FF2B5EF4-FFF2-40B4-BE49-F238E27FC236}">
                <a16:creationId xmlns:a16="http://schemas.microsoft.com/office/drawing/2014/main" id="{BA036E3D-F52D-15D4-4C8F-339B3F53C83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dirty="0"/>
          </a:p>
        </p:txBody>
      </p:sp>
      <p:sp>
        <p:nvSpPr>
          <p:cNvPr id="2" name="タイトル 1">
            <a:extLst>
              <a:ext uri="{FF2B5EF4-FFF2-40B4-BE49-F238E27FC236}">
                <a16:creationId xmlns:a16="http://schemas.microsoft.com/office/drawing/2014/main" id="{4C5AFD9D-EBB4-5056-03BA-4F0535BF5F3C}"/>
              </a:ext>
            </a:extLst>
          </p:cNvPr>
          <p:cNvSpPr>
            <a:spLocks noGrp="1"/>
          </p:cNvSpPr>
          <p:nvPr>
            <p:ph type="title"/>
          </p:nvPr>
        </p:nvSpPr>
        <p:spPr>
          <a:xfrm>
            <a:off x="838200" y="365125"/>
            <a:ext cx="10515600" cy="1325563"/>
          </a:xfrm>
        </p:spPr>
        <p:txBody>
          <a:bodyPr/>
          <a:lstStyle/>
          <a:p>
            <a:r>
              <a:rPr kumimoji="1" lang="ja-JP" altLang="en-US" dirty="0"/>
              <a:t>研究概要</a:t>
            </a:r>
          </a:p>
        </p:txBody>
      </p:sp>
    </p:spTree>
    <p:extLst>
      <p:ext uri="{BB962C8B-B14F-4D97-AF65-F5344CB8AC3E}">
        <p14:creationId xmlns:p14="http://schemas.microsoft.com/office/powerpoint/2010/main" val="2044400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77A6C4-C156-779B-810E-08466835A062}"/>
              </a:ext>
            </a:extLst>
          </p:cNvPr>
          <p:cNvSpPr>
            <a:spLocks noGrp="1"/>
          </p:cNvSpPr>
          <p:nvPr>
            <p:ph type="title"/>
          </p:nvPr>
        </p:nvSpPr>
        <p:spPr/>
        <p:txBody>
          <a:bodyPr/>
          <a:lstStyle/>
          <a:p>
            <a:r>
              <a:rPr kumimoji="1" lang="ja-JP" altLang="en-US" dirty="0"/>
              <a:t>今週の進捗</a:t>
            </a:r>
          </a:p>
        </p:txBody>
      </p:sp>
      <p:sp>
        <p:nvSpPr>
          <p:cNvPr id="3" name="テキスト プレースホルダー 2">
            <a:extLst>
              <a:ext uri="{FF2B5EF4-FFF2-40B4-BE49-F238E27FC236}">
                <a16:creationId xmlns:a16="http://schemas.microsoft.com/office/drawing/2014/main" id="{38FDE9BE-0586-6FE3-669D-542A9AA3EE98}"/>
              </a:ext>
            </a:extLst>
          </p:cNvPr>
          <p:cNvSpPr>
            <a:spLocks noGrp="1"/>
          </p:cNvSpPr>
          <p:nvPr>
            <p:ph type="body" idx="1"/>
          </p:nvPr>
        </p:nvSpPr>
        <p:spPr/>
        <p:txBody>
          <a:bodyPr/>
          <a:lstStyle/>
          <a:p>
            <a:r>
              <a:rPr kumimoji="1" lang="ja-JP" altLang="en-US" dirty="0"/>
              <a:t>研究方針について</a:t>
            </a:r>
            <a:endParaRPr kumimoji="1" lang="en-US" altLang="ja-JP" dirty="0"/>
          </a:p>
          <a:p>
            <a:r>
              <a:rPr kumimoji="1" lang="ja-JP" altLang="en-US" dirty="0"/>
              <a:t>先行研究の調査</a:t>
            </a:r>
          </a:p>
        </p:txBody>
      </p:sp>
      <p:sp>
        <p:nvSpPr>
          <p:cNvPr id="4" name="スライド番号プレースホルダー 3">
            <a:extLst>
              <a:ext uri="{FF2B5EF4-FFF2-40B4-BE49-F238E27FC236}">
                <a16:creationId xmlns:a16="http://schemas.microsoft.com/office/drawing/2014/main" id="{FFAFE493-F081-77B3-3155-B0B73A6146D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981145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61CC8B-6FBC-F409-AEE4-CE383FC259E8}"/>
              </a:ext>
            </a:extLst>
          </p:cNvPr>
          <p:cNvSpPr>
            <a:spLocks noGrp="1"/>
          </p:cNvSpPr>
          <p:nvPr>
            <p:ph type="title"/>
          </p:nvPr>
        </p:nvSpPr>
        <p:spPr/>
        <p:txBody>
          <a:bodyPr/>
          <a:lstStyle/>
          <a:p>
            <a:r>
              <a:rPr kumimoji="1" lang="ja-JP" altLang="en-US" dirty="0"/>
              <a:t>前回の進捗報告と研究方針について</a:t>
            </a:r>
          </a:p>
        </p:txBody>
      </p:sp>
      <p:sp>
        <p:nvSpPr>
          <p:cNvPr id="3" name="テキスト プレースホルダー 2">
            <a:extLst>
              <a:ext uri="{FF2B5EF4-FFF2-40B4-BE49-F238E27FC236}">
                <a16:creationId xmlns:a16="http://schemas.microsoft.com/office/drawing/2014/main" id="{689FF96D-5C6D-0E27-9923-DB9D1D03756E}"/>
              </a:ext>
            </a:extLst>
          </p:cNvPr>
          <p:cNvSpPr>
            <a:spLocks noGrp="1"/>
          </p:cNvSpPr>
          <p:nvPr>
            <p:ph type="body" idx="1"/>
          </p:nvPr>
        </p:nvSpPr>
        <p:spPr>
          <a:xfrm>
            <a:off x="559468" y="1847850"/>
            <a:ext cx="11760869" cy="4351338"/>
          </a:xfrm>
        </p:spPr>
        <p:txBody>
          <a:bodyPr/>
          <a:lstStyle/>
          <a:p>
            <a:pPr marL="114300" indent="0">
              <a:buNone/>
            </a:pPr>
            <a:r>
              <a:rPr kumimoji="1" lang="ja-JP" altLang="en-US" dirty="0"/>
              <a:t>前回の進捗報告</a:t>
            </a:r>
            <a:endParaRPr kumimoji="1" lang="en-US" altLang="ja-JP" dirty="0"/>
          </a:p>
          <a:p>
            <a:pPr marL="114300" indent="0">
              <a:buNone/>
            </a:pPr>
            <a:r>
              <a:rPr kumimoji="1" lang="ja-JP" altLang="en-US" dirty="0"/>
              <a:t>視聴者の注目したセグメントの特定</a:t>
            </a:r>
            <a:endParaRPr kumimoji="1" lang="en-US" altLang="ja-JP" dirty="0"/>
          </a:p>
          <a:p>
            <a:pPr marL="114300" indent="0">
              <a:buNone/>
            </a:pPr>
            <a:r>
              <a:rPr kumimoji="1" lang="ja-JP" altLang="en-US" dirty="0"/>
              <a:t>→ヒートマップ情報を使って学習したモデルで注目度スコアをだす。</a:t>
            </a:r>
            <a:endParaRPr kumimoji="1" lang="en-US" altLang="ja-JP" dirty="0"/>
          </a:p>
          <a:p>
            <a:endParaRPr kumimoji="1" lang="en-US" altLang="ja-JP" dirty="0"/>
          </a:p>
          <a:p>
            <a:pPr marL="114300" indent="0">
              <a:buNone/>
            </a:pPr>
            <a:r>
              <a:rPr kumimoji="1" lang="ja-JP" altLang="en-US" dirty="0"/>
              <a:t>→</a:t>
            </a:r>
            <a:r>
              <a:rPr lang="ja-JP" altLang="en-US" dirty="0"/>
              <a:t>ヒートマップ情報が入手できるならそもそもモデルいらない</a:t>
            </a:r>
            <a:endParaRPr lang="en-US" altLang="ja-JP" dirty="0"/>
          </a:p>
          <a:p>
            <a:pPr marL="114300" indent="0">
              <a:buNone/>
            </a:pPr>
            <a:r>
              <a:rPr lang="ja-JP" altLang="en-US" dirty="0"/>
              <a:t>ヒートマップ：視聴者のリプレイ行動など視聴行動を曲線表示したもの</a:t>
            </a:r>
            <a:endParaRPr lang="en-US" altLang="ja-JP" dirty="0"/>
          </a:p>
          <a:p>
            <a:endParaRPr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AE1D7B69-6531-94D2-4CB4-CFFF344C04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232012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AE6B7E-564D-0588-E153-B6DB10D7EC2F}"/>
              </a:ext>
            </a:extLst>
          </p:cNvPr>
          <p:cNvSpPr>
            <a:spLocks noGrp="1"/>
          </p:cNvSpPr>
          <p:nvPr>
            <p:ph type="title"/>
          </p:nvPr>
        </p:nvSpPr>
        <p:spPr/>
        <p:txBody>
          <a:bodyPr/>
          <a:lstStyle/>
          <a:p>
            <a:r>
              <a:rPr kumimoji="1" lang="ja-JP" altLang="en-US" dirty="0"/>
              <a:t>前回の進捗報告と研究方針について</a:t>
            </a:r>
          </a:p>
        </p:txBody>
      </p:sp>
      <p:sp>
        <p:nvSpPr>
          <p:cNvPr id="3" name="テキスト プレースホルダー 2">
            <a:extLst>
              <a:ext uri="{FF2B5EF4-FFF2-40B4-BE49-F238E27FC236}">
                <a16:creationId xmlns:a16="http://schemas.microsoft.com/office/drawing/2014/main" id="{FE2A8AA3-2BBC-3A45-CFB1-95C467630AEE}"/>
              </a:ext>
            </a:extLst>
          </p:cNvPr>
          <p:cNvSpPr>
            <a:spLocks noGrp="1"/>
          </p:cNvSpPr>
          <p:nvPr>
            <p:ph type="body" idx="1"/>
          </p:nvPr>
        </p:nvSpPr>
        <p:spPr>
          <a:xfrm>
            <a:off x="838200" y="1460499"/>
            <a:ext cx="11353800" cy="5260976"/>
          </a:xfrm>
        </p:spPr>
        <p:txBody>
          <a:bodyPr/>
          <a:lstStyle/>
          <a:p>
            <a:pPr marL="0" lvl="0" indent="0">
              <a:lnSpc>
                <a:spcPct val="100000"/>
              </a:lnSpc>
              <a:spcBef>
                <a:spcPts val="0"/>
              </a:spcBef>
              <a:buSzPts val="1400"/>
              <a:buNone/>
            </a:pPr>
            <a:r>
              <a:rPr lang="ja-JP" altLang="en-US" dirty="0"/>
              <a:t>ヒートマップ情報が入手できるならそもそもモデルいらないのでは？</a:t>
            </a:r>
            <a:endParaRPr lang="en-US" altLang="ja-JP" dirty="0"/>
          </a:p>
          <a:p>
            <a:pPr marL="0" lvl="0" indent="0">
              <a:lnSpc>
                <a:spcPct val="100000"/>
              </a:lnSpc>
              <a:spcBef>
                <a:spcPts val="0"/>
              </a:spcBef>
              <a:buSzPts val="1400"/>
              <a:buNone/>
            </a:pPr>
            <a:r>
              <a:rPr lang="ja-JP" altLang="en-US" dirty="0"/>
              <a:t>↓</a:t>
            </a:r>
            <a:endParaRPr lang="en-US" altLang="ja-JP" dirty="0"/>
          </a:p>
          <a:p>
            <a:pPr marL="0" lvl="0" indent="0">
              <a:lnSpc>
                <a:spcPct val="100000"/>
              </a:lnSpc>
              <a:spcBef>
                <a:spcPts val="0"/>
              </a:spcBef>
              <a:buSzPts val="1400"/>
              <a:buNone/>
            </a:pPr>
            <a:r>
              <a:rPr lang="ja-JP" altLang="en-US" b="1" dirty="0"/>
              <a:t>仮説</a:t>
            </a:r>
            <a:endParaRPr lang="en-US" altLang="ja-JP" b="1" dirty="0"/>
          </a:p>
          <a:p>
            <a:pPr marL="0" lvl="0" indent="0">
              <a:lnSpc>
                <a:spcPct val="100000"/>
              </a:lnSpc>
              <a:spcBef>
                <a:spcPts val="0"/>
              </a:spcBef>
              <a:buSzPts val="1400"/>
              <a:buNone/>
            </a:pPr>
            <a:r>
              <a:rPr lang="ja-JP" altLang="en-US" dirty="0"/>
              <a:t>→視聴者の行動指標（ヒートマップ）と主観指標（満足度）にはギャップがあるのでは？</a:t>
            </a:r>
            <a:endParaRPr lang="en-US" altLang="ja-JP" dirty="0"/>
          </a:p>
          <a:p>
            <a:pPr marL="0" indent="0">
              <a:lnSpc>
                <a:spcPct val="100000"/>
              </a:lnSpc>
              <a:spcBef>
                <a:spcPts val="0"/>
              </a:spcBef>
              <a:buSzPts val="1400"/>
              <a:buNone/>
            </a:pPr>
            <a:endParaRPr lang="en-US" altLang="ja-JP" dirty="0"/>
          </a:p>
          <a:p>
            <a:pPr marL="0" indent="0">
              <a:lnSpc>
                <a:spcPct val="100000"/>
              </a:lnSpc>
              <a:spcBef>
                <a:spcPts val="0"/>
              </a:spcBef>
              <a:buSzPts val="1400"/>
              <a:buNone/>
            </a:pPr>
            <a:r>
              <a:rPr lang="ja-JP" altLang="en-US" b="1" dirty="0"/>
              <a:t>アンケート調査例</a:t>
            </a:r>
            <a:endParaRPr lang="en-US" altLang="ja-JP" b="1" dirty="0"/>
          </a:p>
          <a:p>
            <a:pPr marL="0" indent="0">
              <a:lnSpc>
                <a:spcPct val="100000"/>
              </a:lnSpc>
              <a:spcBef>
                <a:spcPts val="0"/>
              </a:spcBef>
              <a:buSzPts val="1400"/>
              <a:buNone/>
            </a:pPr>
            <a:r>
              <a:rPr lang="ja-JP" altLang="en-US" dirty="0"/>
              <a:t>ヒートマップの「上位区間」と「それ以外の区間」をサンプリングし、被験者にその区間の満足度を評価してもらう。</a:t>
            </a:r>
            <a:endParaRPr lang="en-US" altLang="ja-JP" dirty="0"/>
          </a:p>
          <a:p>
            <a:pPr marL="0" indent="0">
              <a:lnSpc>
                <a:spcPct val="100000"/>
              </a:lnSpc>
              <a:spcBef>
                <a:spcPts val="0"/>
              </a:spcBef>
              <a:buSzPts val="1400"/>
              <a:buNone/>
            </a:pPr>
            <a:endParaRPr lang="en-US" altLang="ja-JP" dirty="0"/>
          </a:p>
          <a:p>
            <a:pPr marL="0" indent="0">
              <a:lnSpc>
                <a:spcPct val="100000"/>
              </a:lnSpc>
              <a:spcBef>
                <a:spcPts val="0"/>
              </a:spcBef>
              <a:buSzPts val="1400"/>
              <a:buNone/>
            </a:pPr>
            <a:r>
              <a:rPr lang="ja-JP" altLang="en-US" dirty="0"/>
              <a:t>質問項目は先行研究を参考に満足度の定義をし今週作成する。</a:t>
            </a:r>
            <a:endParaRPr lang="en-US" altLang="ja-JP" dirty="0"/>
          </a:p>
          <a:p>
            <a:pPr marL="0" indent="0">
              <a:lnSpc>
                <a:spcPct val="100000"/>
              </a:lnSpc>
              <a:spcBef>
                <a:spcPts val="0"/>
              </a:spcBef>
              <a:buSzPts val="1400"/>
              <a:buNone/>
            </a:pPr>
            <a:endParaRPr lang="en-US" altLang="ja-JP" dirty="0"/>
          </a:p>
          <a:p>
            <a:pPr marL="0" indent="0">
              <a:lnSpc>
                <a:spcPct val="100000"/>
              </a:lnSpc>
              <a:spcBef>
                <a:spcPts val="0"/>
              </a:spcBef>
              <a:buSzPts val="1400"/>
              <a:buNone/>
            </a:pPr>
            <a:endParaRPr lang="en-US" altLang="ja-JP" dirty="0"/>
          </a:p>
          <a:p>
            <a:pPr marL="0" lvl="0" indent="0">
              <a:lnSpc>
                <a:spcPct val="100000"/>
              </a:lnSpc>
              <a:spcBef>
                <a:spcPts val="0"/>
              </a:spcBef>
              <a:buSzPts val="1400"/>
              <a:buNone/>
            </a:pPr>
            <a:endParaRPr lang="en-US" altLang="ja-JP" dirty="0"/>
          </a:p>
          <a:p>
            <a:pPr marL="0" lvl="0" indent="0">
              <a:lnSpc>
                <a:spcPct val="100000"/>
              </a:lnSpc>
              <a:spcBef>
                <a:spcPts val="0"/>
              </a:spcBef>
              <a:buSzPts val="1400"/>
              <a:buNone/>
            </a:pPr>
            <a:endParaRPr lang="en-US" altLang="ja-JP" dirty="0"/>
          </a:p>
          <a:p>
            <a:pPr marL="114300" indent="0">
              <a:buNone/>
            </a:pPr>
            <a:endParaRPr kumimoji="1" lang="ja-JP" altLang="en-US" dirty="0"/>
          </a:p>
        </p:txBody>
      </p:sp>
      <p:sp>
        <p:nvSpPr>
          <p:cNvPr id="4" name="スライド番号プレースホルダー 3">
            <a:extLst>
              <a:ext uri="{FF2B5EF4-FFF2-40B4-BE49-F238E27FC236}">
                <a16:creationId xmlns:a16="http://schemas.microsoft.com/office/drawing/2014/main" id="{F2EC98D7-5A10-0C12-50F4-C6F7CE0844D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772483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999339-7282-89E1-A85E-5C4EAFD23868}"/>
              </a:ext>
            </a:extLst>
          </p:cNvPr>
          <p:cNvSpPr>
            <a:spLocks noGrp="1"/>
          </p:cNvSpPr>
          <p:nvPr>
            <p:ph type="title"/>
          </p:nvPr>
        </p:nvSpPr>
        <p:spPr/>
        <p:txBody>
          <a:bodyPr/>
          <a:lstStyle/>
          <a:p>
            <a:r>
              <a:rPr kumimoji="1" lang="ja-JP" altLang="en-US" dirty="0"/>
              <a:t>注目度→満足度</a:t>
            </a:r>
          </a:p>
        </p:txBody>
      </p:sp>
      <p:sp>
        <p:nvSpPr>
          <p:cNvPr id="3" name="テキスト プレースホルダー 2">
            <a:extLst>
              <a:ext uri="{FF2B5EF4-FFF2-40B4-BE49-F238E27FC236}">
                <a16:creationId xmlns:a16="http://schemas.microsoft.com/office/drawing/2014/main" id="{E7EEB735-344B-4EE8-A4AE-ABF83F05F7D8}"/>
              </a:ext>
            </a:extLst>
          </p:cNvPr>
          <p:cNvSpPr>
            <a:spLocks noGrp="1"/>
          </p:cNvSpPr>
          <p:nvPr>
            <p:ph type="body" idx="1"/>
          </p:nvPr>
        </p:nvSpPr>
        <p:spPr>
          <a:xfrm>
            <a:off x="838200" y="1825625"/>
            <a:ext cx="10515600" cy="4895850"/>
          </a:xfrm>
        </p:spPr>
        <p:txBody>
          <a:bodyPr/>
          <a:lstStyle/>
          <a:p>
            <a:r>
              <a:rPr kumimoji="1" lang="ja-JP" altLang="en-US" dirty="0"/>
              <a:t>切り抜き動画は生配信が終わった後に生配信を見返したい視聴者や生配信を見逃した視聴者が見る</a:t>
            </a:r>
            <a:endParaRPr kumimoji="1" lang="en-US" altLang="ja-JP" dirty="0"/>
          </a:p>
          <a:p>
            <a:pPr marL="114300" indent="0">
              <a:buNone/>
            </a:pPr>
            <a:r>
              <a:rPr kumimoji="1" lang="ja-JP" altLang="en-US" dirty="0"/>
              <a:t>　　　　　　　　　　　　　　　↓</a:t>
            </a:r>
            <a:endParaRPr kumimoji="1" lang="en-US" altLang="ja-JP" dirty="0"/>
          </a:p>
          <a:p>
            <a:r>
              <a:rPr kumimoji="1" lang="ja-JP" altLang="en-US" dirty="0"/>
              <a:t>注目度という言葉をこれまで使ってきたが、「注目度」は生配信中の視聴者寄りの評価基準になってしまうので、これからは「満足度」とする。</a:t>
            </a:r>
            <a:endParaRPr kumimoji="1" lang="en-US" altLang="ja-JP" dirty="0"/>
          </a:p>
          <a:p>
            <a:endParaRPr kumimoji="1" lang="en-US" altLang="ja-JP" dirty="0"/>
          </a:p>
          <a:p>
            <a:r>
              <a:rPr kumimoji="1" lang="ja-JP" altLang="en-US" dirty="0"/>
              <a:t>切り抜き動画を見る人が満足度の高いと感じる区間の抽出を目指す方針で研究を進める</a:t>
            </a:r>
          </a:p>
        </p:txBody>
      </p:sp>
      <p:sp>
        <p:nvSpPr>
          <p:cNvPr id="4" name="スライド番号プレースホルダー 3">
            <a:extLst>
              <a:ext uri="{FF2B5EF4-FFF2-40B4-BE49-F238E27FC236}">
                <a16:creationId xmlns:a16="http://schemas.microsoft.com/office/drawing/2014/main" id="{2A8C4D12-0870-F9E0-156A-2A89B24D589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1732453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D17C6E-54FC-8E89-0084-45F83EF32076}"/>
              </a:ext>
            </a:extLst>
          </p:cNvPr>
          <p:cNvSpPr>
            <a:spLocks noGrp="1"/>
          </p:cNvSpPr>
          <p:nvPr>
            <p:ph type="title"/>
          </p:nvPr>
        </p:nvSpPr>
        <p:spPr/>
        <p:txBody>
          <a:bodyPr/>
          <a:lstStyle/>
          <a:p>
            <a:r>
              <a:rPr kumimoji="1" lang="ja-JP" altLang="en-US" dirty="0"/>
              <a:t>先行研究調査</a:t>
            </a:r>
          </a:p>
        </p:txBody>
      </p:sp>
      <p:sp>
        <p:nvSpPr>
          <p:cNvPr id="3" name="テキスト プレースホルダー 2">
            <a:extLst>
              <a:ext uri="{FF2B5EF4-FFF2-40B4-BE49-F238E27FC236}">
                <a16:creationId xmlns:a16="http://schemas.microsoft.com/office/drawing/2014/main" id="{C739C20F-F47E-C54A-40CE-E4DB5D9E64AC}"/>
              </a:ext>
            </a:extLst>
          </p:cNvPr>
          <p:cNvSpPr>
            <a:spLocks noGrp="1"/>
          </p:cNvSpPr>
          <p:nvPr>
            <p:ph type="body" idx="1"/>
          </p:nvPr>
        </p:nvSpPr>
        <p:spPr/>
        <p:txBody>
          <a:bodyPr/>
          <a:lstStyle/>
          <a:p>
            <a:r>
              <a:rPr kumimoji="1" lang="ja-JP" altLang="en-US" dirty="0"/>
              <a:t>タイトル</a:t>
            </a:r>
            <a:r>
              <a:rPr kumimoji="1" lang="en-US" altLang="ja-JP" dirty="0"/>
              <a:t>: Determinants of short video viewers' satisfaction and its impact on word-of-mouth Sharing: An empirical study</a:t>
            </a:r>
          </a:p>
          <a:p>
            <a:r>
              <a:rPr kumimoji="1" lang="ja-JP" altLang="en-US" dirty="0"/>
              <a:t>著者</a:t>
            </a:r>
            <a:r>
              <a:rPr kumimoji="1" lang="en-US" altLang="ja-JP" dirty="0"/>
              <a:t>: Mohammad Osman Gani, Muhammad Sabbir Rahman, Surajit Bag, S.M. Ashraful Kalam, J.H.C. Pretorius</a:t>
            </a:r>
          </a:p>
          <a:p>
            <a:r>
              <a:rPr kumimoji="1" lang="ja-JP" altLang="en-US" dirty="0"/>
              <a:t>雑誌名</a:t>
            </a:r>
            <a:r>
              <a:rPr kumimoji="1" lang="en-US" altLang="ja-JP" dirty="0"/>
              <a:t>: Asia Pacific Management Review</a:t>
            </a:r>
          </a:p>
          <a:p>
            <a:r>
              <a:rPr kumimoji="1" lang="ja-JP" altLang="en-US" dirty="0"/>
              <a:t>出版年</a:t>
            </a:r>
            <a:r>
              <a:rPr kumimoji="1" lang="en-US" altLang="ja-JP" dirty="0"/>
              <a:t>: 2025</a:t>
            </a:r>
            <a:r>
              <a:rPr kumimoji="1" lang="ja-JP" altLang="en-US" dirty="0"/>
              <a:t>年（受理日 </a:t>
            </a:r>
            <a:r>
              <a:rPr kumimoji="1" lang="en-US" altLang="ja-JP" dirty="0"/>
              <a:t>2025</a:t>
            </a:r>
            <a:r>
              <a:rPr kumimoji="1" lang="ja-JP" altLang="en-US" dirty="0"/>
              <a:t>年</a:t>
            </a:r>
            <a:r>
              <a:rPr kumimoji="1" lang="en-US" altLang="ja-JP" dirty="0"/>
              <a:t>7</a:t>
            </a:r>
            <a:r>
              <a:rPr kumimoji="1" lang="ja-JP" altLang="en-US" dirty="0"/>
              <a:t>月</a:t>
            </a:r>
            <a:r>
              <a:rPr kumimoji="1" lang="en-US" altLang="ja-JP" dirty="0"/>
              <a:t>4</a:t>
            </a:r>
            <a:r>
              <a:rPr kumimoji="1" lang="ja-JP" altLang="en-US" dirty="0"/>
              <a:t>日）</a:t>
            </a:r>
            <a:endParaRPr kumimoji="1" lang="en-US" altLang="ja-JP" dirty="0"/>
          </a:p>
          <a:p>
            <a:r>
              <a:rPr kumimoji="1" lang="en-US" altLang="ja-JP" dirty="0"/>
              <a:t>DOI: 10.1016/j.apmrv.2025.07.001</a:t>
            </a:r>
            <a:endParaRPr kumimoji="1" lang="ja-JP" altLang="en-US" dirty="0"/>
          </a:p>
        </p:txBody>
      </p:sp>
      <p:sp>
        <p:nvSpPr>
          <p:cNvPr id="4" name="スライド番号プレースホルダー 3">
            <a:extLst>
              <a:ext uri="{FF2B5EF4-FFF2-40B4-BE49-F238E27FC236}">
                <a16:creationId xmlns:a16="http://schemas.microsoft.com/office/drawing/2014/main" id="{B2EE3F50-37FB-DA57-04DD-466F843297E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4237681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3F61E8-5F89-3DEF-8D30-542F6C2FFF67}"/>
              </a:ext>
            </a:extLst>
          </p:cNvPr>
          <p:cNvSpPr>
            <a:spLocks noGrp="1"/>
          </p:cNvSpPr>
          <p:nvPr>
            <p:ph type="title"/>
          </p:nvPr>
        </p:nvSpPr>
        <p:spPr/>
        <p:txBody>
          <a:bodyPr/>
          <a:lstStyle/>
          <a:p>
            <a:r>
              <a:rPr kumimoji="1" lang="ja-JP" altLang="en-US" dirty="0"/>
              <a:t>研究概要</a:t>
            </a:r>
          </a:p>
        </p:txBody>
      </p:sp>
      <p:sp>
        <p:nvSpPr>
          <p:cNvPr id="3" name="テキスト プレースホルダー 2">
            <a:extLst>
              <a:ext uri="{FF2B5EF4-FFF2-40B4-BE49-F238E27FC236}">
                <a16:creationId xmlns:a16="http://schemas.microsoft.com/office/drawing/2014/main" id="{5323EFA5-10FF-8CE0-C6EB-ED218498A6E5}"/>
              </a:ext>
            </a:extLst>
          </p:cNvPr>
          <p:cNvSpPr>
            <a:spLocks noGrp="1"/>
          </p:cNvSpPr>
          <p:nvPr>
            <p:ph type="body" idx="1"/>
          </p:nvPr>
        </p:nvSpPr>
        <p:spPr/>
        <p:txBody>
          <a:bodyPr/>
          <a:lstStyle/>
          <a:p>
            <a:r>
              <a:rPr kumimoji="1" lang="ja-JP" altLang="en-US" b="1" dirty="0"/>
              <a:t>研究目的</a:t>
            </a:r>
            <a:endParaRPr kumimoji="1" lang="en-US" altLang="ja-JP" b="1" dirty="0"/>
          </a:p>
          <a:p>
            <a:pPr lvl="1"/>
            <a:r>
              <a:rPr lang="ja-JP" altLang="en-US" dirty="0"/>
              <a:t>視聴者の</a:t>
            </a:r>
            <a:r>
              <a:rPr lang="en-US" altLang="ja-JP" dirty="0"/>
              <a:t>5</a:t>
            </a:r>
            <a:r>
              <a:rPr lang="ja-JP" altLang="en-US" dirty="0"/>
              <a:t>つの動機（娯楽、情報、交流、逃避、休息）が「満足度」に与える影響と、満足度が「継続視聴」および「口コミ共有（</a:t>
            </a:r>
            <a:r>
              <a:rPr lang="en-US" altLang="ja-JP" dirty="0"/>
              <a:t>e-</a:t>
            </a:r>
            <a:r>
              <a:rPr lang="en-US" altLang="ja-JP" dirty="0" err="1"/>
              <a:t>WoM</a:t>
            </a:r>
            <a:r>
              <a:rPr lang="ja-JP" altLang="en-US" dirty="0"/>
              <a:t>）」に繋がるメカニズムを解明すること。</a:t>
            </a:r>
            <a:endParaRPr lang="en-US" altLang="ja-JP" dirty="0"/>
          </a:p>
          <a:p>
            <a:r>
              <a:rPr lang="ja-JP" altLang="en-US" b="1" dirty="0"/>
              <a:t>調査内容</a:t>
            </a:r>
            <a:r>
              <a:rPr lang="en-US" altLang="ja-JP" dirty="0"/>
              <a:t>: YouTube</a:t>
            </a:r>
            <a:r>
              <a:rPr lang="ja-JP" altLang="en-US" dirty="0"/>
              <a:t>ショートの視聴者</a:t>
            </a:r>
            <a:r>
              <a:rPr lang="en-US" altLang="ja-JP" dirty="0"/>
              <a:t>973</a:t>
            </a:r>
            <a:r>
              <a:rPr lang="ja-JP" altLang="en-US" dirty="0"/>
              <a:t>名を対象としたオンラインアンケート調査と、統計モデル（</a:t>
            </a:r>
            <a:r>
              <a:rPr lang="en-US" altLang="ja-JP" dirty="0"/>
              <a:t>PLS-SEM</a:t>
            </a:r>
            <a:r>
              <a:rPr lang="ja-JP" altLang="en-US" dirty="0"/>
              <a:t>）による分析。</a:t>
            </a:r>
            <a:endParaRPr kumimoji="1" lang="ja-JP" altLang="en-US" dirty="0"/>
          </a:p>
        </p:txBody>
      </p:sp>
      <p:sp>
        <p:nvSpPr>
          <p:cNvPr id="4" name="スライド番号プレースホルダー 3">
            <a:extLst>
              <a:ext uri="{FF2B5EF4-FFF2-40B4-BE49-F238E27FC236}">
                <a16:creationId xmlns:a16="http://schemas.microsoft.com/office/drawing/2014/main" id="{4DDA5D05-A959-84E6-4791-545CB22BF37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2092462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213C47-CD71-D96A-E19E-B7EF2B24C38E}"/>
              </a:ext>
            </a:extLst>
          </p:cNvPr>
          <p:cNvSpPr>
            <a:spLocks noGrp="1"/>
          </p:cNvSpPr>
          <p:nvPr>
            <p:ph type="title"/>
          </p:nvPr>
        </p:nvSpPr>
        <p:spPr/>
        <p:txBody>
          <a:bodyPr/>
          <a:lstStyle/>
          <a:p>
            <a:r>
              <a:rPr kumimoji="1" lang="ja-JP" altLang="en-US" dirty="0"/>
              <a:t>満足度を高める要因の調査</a:t>
            </a:r>
          </a:p>
        </p:txBody>
      </p:sp>
      <p:sp>
        <p:nvSpPr>
          <p:cNvPr id="3" name="テキスト プレースホルダー 2">
            <a:extLst>
              <a:ext uri="{FF2B5EF4-FFF2-40B4-BE49-F238E27FC236}">
                <a16:creationId xmlns:a16="http://schemas.microsoft.com/office/drawing/2014/main" id="{F411DA85-327A-8126-E225-EAF0686C88AA}"/>
              </a:ext>
            </a:extLst>
          </p:cNvPr>
          <p:cNvSpPr>
            <a:spLocks noGrp="1"/>
          </p:cNvSpPr>
          <p:nvPr>
            <p:ph type="body" idx="1"/>
          </p:nvPr>
        </p:nvSpPr>
        <p:spPr/>
        <p:txBody>
          <a:bodyPr/>
          <a:lstStyle/>
          <a:p>
            <a:r>
              <a:rPr kumimoji="1" lang="ja-JP" altLang="en-US" dirty="0"/>
              <a:t>調査概要：</a:t>
            </a:r>
            <a:r>
              <a:rPr lang="ja-JP" altLang="en-US" dirty="0"/>
              <a:t>バングラデシュの</a:t>
            </a:r>
            <a:r>
              <a:rPr lang="en-US" altLang="ja-JP" dirty="0"/>
              <a:t>YouTube Shorts</a:t>
            </a:r>
            <a:r>
              <a:rPr lang="ja-JP" altLang="en-US" dirty="0"/>
              <a:t>視聴者を対象に、</a:t>
            </a:r>
            <a:r>
              <a:rPr lang="en-US" altLang="ja-JP" dirty="0"/>
              <a:t>Google</a:t>
            </a:r>
            <a:r>
              <a:rPr lang="ja-JP" altLang="en-US" dirty="0"/>
              <a:t>フォームを</a:t>
            </a:r>
            <a:r>
              <a:rPr lang="en-US" altLang="ja-JP" dirty="0"/>
              <a:t>SNS</a:t>
            </a:r>
            <a:r>
              <a:rPr lang="ja-JP" altLang="en-US" dirty="0"/>
              <a:t>・メールで配布し、実施したオンラインアンケート調査。</a:t>
            </a:r>
            <a:endParaRPr lang="en-US" altLang="ja-JP" dirty="0"/>
          </a:p>
          <a:p>
            <a:r>
              <a:rPr kumimoji="1" lang="ja-JP" altLang="en-US" dirty="0"/>
              <a:t>被験者：</a:t>
            </a:r>
            <a:r>
              <a:rPr kumimoji="1" lang="en-US" altLang="ja-JP" dirty="0"/>
              <a:t>973</a:t>
            </a:r>
            <a:r>
              <a:rPr kumimoji="1" lang="ja-JP" altLang="en-US" dirty="0"/>
              <a:t>人</a:t>
            </a:r>
            <a:endParaRPr kumimoji="1" lang="en-US" altLang="ja-JP" dirty="0"/>
          </a:p>
        </p:txBody>
      </p:sp>
      <p:sp>
        <p:nvSpPr>
          <p:cNvPr id="4" name="スライド番号プレースホルダー 3">
            <a:extLst>
              <a:ext uri="{FF2B5EF4-FFF2-40B4-BE49-F238E27FC236}">
                <a16:creationId xmlns:a16="http://schemas.microsoft.com/office/drawing/2014/main" id="{CE6A69FA-C660-0EF8-CE3E-29A6403F2D6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1360604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5F40EDF9-F9A3-6E56-7785-EC0FEB2C66F9}"/>
              </a:ext>
            </a:extLst>
          </p:cNvPr>
          <p:cNvSpPr>
            <a:spLocks noGrp="1"/>
          </p:cNvSpPr>
          <p:nvPr>
            <p:ph type="body" idx="1"/>
          </p:nvPr>
        </p:nvSpPr>
        <p:spPr>
          <a:xfrm>
            <a:off x="838200" y="1464678"/>
            <a:ext cx="10515600" cy="4351338"/>
          </a:xfrm>
        </p:spPr>
        <p:txBody>
          <a:bodyPr/>
          <a:lstStyle/>
          <a:p>
            <a:r>
              <a:rPr lang="ja-JP" altLang="en-US" dirty="0"/>
              <a:t>質問内容</a:t>
            </a:r>
            <a:endParaRPr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260AE9B4-20A2-46D3-29D3-84CE77108F1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5" name="タイトル 1">
            <a:extLst>
              <a:ext uri="{FF2B5EF4-FFF2-40B4-BE49-F238E27FC236}">
                <a16:creationId xmlns:a16="http://schemas.microsoft.com/office/drawing/2014/main" id="{89FC9EAD-45FF-46FB-FF03-4953327A58FB}"/>
              </a:ext>
            </a:extLst>
          </p:cNvPr>
          <p:cNvSpPr>
            <a:spLocks noGrp="1"/>
          </p:cNvSpPr>
          <p:nvPr>
            <p:ph type="title"/>
          </p:nvPr>
        </p:nvSpPr>
        <p:spPr>
          <a:xfrm>
            <a:off x="838200" y="365125"/>
            <a:ext cx="10515600" cy="1325563"/>
          </a:xfrm>
        </p:spPr>
        <p:txBody>
          <a:bodyPr/>
          <a:lstStyle/>
          <a:p>
            <a:r>
              <a:rPr kumimoji="1" lang="ja-JP" altLang="en-US" dirty="0"/>
              <a:t>満足度を高める要因の調査</a:t>
            </a:r>
          </a:p>
        </p:txBody>
      </p:sp>
      <p:pic>
        <p:nvPicPr>
          <p:cNvPr id="7" name="図 6">
            <a:extLst>
              <a:ext uri="{FF2B5EF4-FFF2-40B4-BE49-F238E27FC236}">
                <a16:creationId xmlns:a16="http://schemas.microsoft.com/office/drawing/2014/main" id="{2D1B62E5-2286-7314-5914-339DB191D574}"/>
              </a:ext>
            </a:extLst>
          </p:cNvPr>
          <p:cNvPicPr>
            <a:picLocks noChangeAspect="1"/>
          </p:cNvPicPr>
          <p:nvPr/>
        </p:nvPicPr>
        <p:blipFill>
          <a:blip r:embed="rId2"/>
          <a:stretch>
            <a:fillRect/>
          </a:stretch>
        </p:blipFill>
        <p:spPr>
          <a:xfrm>
            <a:off x="1156598" y="2148837"/>
            <a:ext cx="9878804" cy="4572638"/>
          </a:xfrm>
          <a:prstGeom prst="rect">
            <a:avLst/>
          </a:prstGeom>
        </p:spPr>
      </p:pic>
    </p:spTree>
    <p:extLst>
      <p:ext uri="{BB962C8B-B14F-4D97-AF65-F5344CB8AC3E}">
        <p14:creationId xmlns:p14="http://schemas.microsoft.com/office/powerpoint/2010/main" val="3546120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EDFEEA-FD3D-31DD-89F2-F8A93BF86419}"/>
              </a:ext>
            </a:extLst>
          </p:cNvPr>
          <p:cNvSpPr>
            <a:spLocks noGrp="1"/>
          </p:cNvSpPr>
          <p:nvPr>
            <p:ph type="title"/>
          </p:nvPr>
        </p:nvSpPr>
        <p:spPr/>
        <p:txBody>
          <a:bodyPr/>
          <a:lstStyle/>
          <a:p>
            <a:r>
              <a:rPr kumimoji="1" lang="ja-JP" altLang="en-US" dirty="0"/>
              <a:t>満足度を高める要因</a:t>
            </a:r>
          </a:p>
        </p:txBody>
      </p:sp>
      <p:sp>
        <p:nvSpPr>
          <p:cNvPr id="3" name="テキスト プレースホルダー 2">
            <a:extLst>
              <a:ext uri="{FF2B5EF4-FFF2-40B4-BE49-F238E27FC236}">
                <a16:creationId xmlns:a16="http://schemas.microsoft.com/office/drawing/2014/main" id="{7230A036-059A-1DF3-BCA8-5A41E2D4006C}"/>
              </a:ext>
            </a:extLst>
          </p:cNvPr>
          <p:cNvSpPr>
            <a:spLocks noGrp="1"/>
          </p:cNvSpPr>
          <p:nvPr>
            <p:ph type="body" idx="1"/>
          </p:nvPr>
        </p:nvSpPr>
        <p:spPr/>
        <p:txBody>
          <a:bodyPr/>
          <a:lstStyle/>
          <a:p>
            <a:r>
              <a:rPr kumimoji="1" lang="ja-JP" altLang="en-US" dirty="0"/>
              <a:t>アンケート調査の結果以下の</a:t>
            </a:r>
            <a:r>
              <a:rPr kumimoji="1" lang="en-US" altLang="ja-JP" dirty="0"/>
              <a:t>4</a:t>
            </a:r>
            <a:r>
              <a:rPr kumimoji="1" lang="ja-JP" altLang="en-US" dirty="0"/>
              <a:t>つの要因が満足度と相関があることがわかった</a:t>
            </a:r>
            <a:endParaRPr kumimoji="1" lang="en-US" altLang="ja-JP" dirty="0"/>
          </a:p>
          <a:p>
            <a:r>
              <a:rPr kumimoji="1" lang="ja-JP" altLang="en-US" dirty="0"/>
              <a:t>娯楽性（</a:t>
            </a:r>
            <a:r>
              <a:rPr kumimoji="1" lang="en-US" altLang="ja-JP" dirty="0"/>
              <a:t>entertainment</a:t>
            </a:r>
            <a:r>
              <a:rPr kumimoji="1" lang="ja-JP" altLang="en-US" dirty="0"/>
              <a:t>）</a:t>
            </a:r>
            <a:endParaRPr kumimoji="1" lang="en-US" altLang="ja-JP" dirty="0"/>
          </a:p>
          <a:p>
            <a:r>
              <a:rPr kumimoji="1" lang="ja-JP" altLang="en-US" dirty="0"/>
              <a:t>情報獲得（</a:t>
            </a:r>
            <a:r>
              <a:rPr kumimoji="1" lang="en-US" altLang="ja-JP" dirty="0"/>
              <a:t>information seeking</a:t>
            </a:r>
            <a:r>
              <a:rPr kumimoji="1" lang="ja-JP" altLang="en-US" dirty="0"/>
              <a:t>）</a:t>
            </a:r>
            <a:endParaRPr kumimoji="1" lang="en-US" altLang="ja-JP" dirty="0"/>
          </a:p>
          <a:p>
            <a:r>
              <a:rPr kumimoji="1" lang="ja-JP" altLang="en-US" dirty="0"/>
              <a:t>社会的交流（</a:t>
            </a:r>
            <a:r>
              <a:rPr kumimoji="1" lang="en-US" altLang="ja-JP" dirty="0"/>
              <a:t>social interaction</a:t>
            </a:r>
            <a:r>
              <a:rPr kumimoji="1" lang="ja-JP" altLang="en-US" dirty="0"/>
              <a:t>）</a:t>
            </a:r>
            <a:endParaRPr kumimoji="1" lang="en-US" altLang="ja-JP" dirty="0"/>
          </a:p>
          <a:p>
            <a:r>
              <a:rPr kumimoji="1" lang="ja-JP" altLang="en-US" dirty="0"/>
              <a:t>リラックス（</a:t>
            </a:r>
            <a:r>
              <a:rPr kumimoji="1" lang="en-US" altLang="ja-JP" dirty="0"/>
              <a:t>relaxation</a:t>
            </a:r>
            <a:r>
              <a:rPr kumimoji="1" lang="ja-JP" altLang="en-US" dirty="0"/>
              <a:t>）</a:t>
            </a:r>
          </a:p>
        </p:txBody>
      </p:sp>
      <p:sp>
        <p:nvSpPr>
          <p:cNvPr id="4" name="スライド番号プレースホルダー 3">
            <a:extLst>
              <a:ext uri="{FF2B5EF4-FFF2-40B4-BE49-F238E27FC236}">
                <a16:creationId xmlns:a16="http://schemas.microsoft.com/office/drawing/2014/main" id="{5ED05FBB-3125-0087-92CA-9CF1C7D1F20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647448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98212F-BF2C-F6B8-9BA3-022ABBD0B92E}"/>
              </a:ext>
            </a:extLst>
          </p:cNvPr>
          <p:cNvSpPr>
            <a:spLocks noGrp="1"/>
          </p:cNvSpPr>
          <p:nvPr>
            <p:ph type="title"/>
          </p:nvPr>
        </p:nvSpPr>
        <p:spPr/>
        <p:txBody>
          <a:bodyPr/>
          <a:lstStyle/>
          <a:p>
            <a:r>
              <a:rPr kumimoji="1" lang="ja-JP" altLang="en-US" dirty="0"/>
              <a:t>今週の予定</a:t>
            </a:r>
          </a:p>
        </p:txBody>
      </p:sp>
      <p:sp>
        <p:nvSpPr>
          <p:cNvPr id="3" name="テキスト プレースホルダー 2">
            <a:extLst>
              <a:ext uri="{FF2B5EF4-FFF2-40B4-BE49-F238E27FC236}">
                <a16:creationId xmlns:a16="http://schemas.microsoft.com/office/drawing/2014/main" id="{AE835202-1313-87E3-C04E-A0C8B01ACD8A}"/>
              </a:ext>
            </a:extLst>
          </p:cNvPr>
          <p:cNvSpPr>
            <a:spLocks noGrp="1"/>
          </p:cNvSpPr>
          <p:nvPr>
            <p:ph type="body" idx="1"/>
          </p:nvPr>
        </p:nvSpPr>
        <p:spPr/>
        <p:txBody>
          <a:bodyPr/>
          <a:lstStyle/>
          <a:p>
            <a:r>
              <a:rPr lang="ja-JP" altLang="en-US" dirty="0">
                <a:solidFill>
                  <a:schemeClr val="tx1"/>
                </a:solidFill>
              </a:rPr>
              <a:t>論文調査、アンケート案作成</a:t>
            </a:r>
            <a:endParaRPr lang="en-US" altLang="ja-JP" dirty="0">
              <a:solidFill>
                <a:schemeClr val="tx1"/>
              </a:solidFill>
            </a:endParaRPr>
          </a:p>
          <a:p>
            <a:r>
              <a:rPr lang="ja-JP" altLang="en-US" dirty="0">
                <a:solidFill>
                  <a:srgbClr val="A6A6A6"/>
                </a:solidFill>
              </a:rPr>
              <a:t>予備アンケート実施</a:t>
            </a:r>
            <a:endParaRPr lang="en-US" altLang="ja-JP" dirty="0">
              <a:solidFill>
                <a:srgbClr val="A6A6A6"/>
              </a:solidFill>
            </a:endParaRPr>
          </a:p>
          <a:p>
            <a:r>
              <a:rPr lang="en-US" altLang="ja-JP" dirty="0">
                <a:solidFill>
                  <a:schemeClr val="bg1">
                    <a:lumMod val="65000"/>
                  </a:schemeClr>
                </a:solidFill>
              </a:rPr>
              <a:t>heatmap</a:t>
            </a:r>
            <a:r>
              <a:rPr lang="ja-JP" altLang="en-US" dirty="0">
                <a:solidFill>
                  <a:schemeClr val="bg1">
                    <a:lumMod val="65000"/>
                  </a:schemeClr>
                </a:solidFill>
              </a:rPr>
              <a:t>データの取得</a:t>
            </a:r>
            <a:endParaRPr lang="en-US" altLang="ja-JP" dirty="0">
              <a:solidFill>
                <a:schemeClr val="bg1">
                  <a:lumMod val="65000"/>
                </a:schemeClr>
              </a:solidFill>
            </a:endParaRPr>
          </a:p>
          <a:p>
            <a:r>
              <a:rPr lang="ja-JP" altLang="en-US" dirty="0">
                <a:solidFill>
                  <a:schemeClr val="bg1">
                    <a:lumMod val="65000"/>
                  </a:schemeClr>
                </a:solidFill>
              </a:rPr>
              <a:t>線形回帰モデルの実装・学習</a:t>
            </a:r>
            <a:endParaRPr lang="en-US" altLang="ja-JP" dirty="0">
              <a:solidFill>
                <a:schemeClr val="bg1">
                  <a:lumMod val="65000"/>
                </a:schemeClr>
              </a:solidFill>
            </a:endParaRPr>
          </a:p>
        </p:txBody>
      </p:sp>
      <p:sp>
        <p:nvSpPr>
          <p:cNvPr id="4" name="スライド番号プレースホルダー 3">
            <a:extLst>
              <a:ext uri="{FF2B5EF4-FFF2-40B4-BE49-F238E27FC236}">
                <a16:creationId xmlns:a16="http://schemas.microsoft.com/office/drawing/2014/main" id="{ECE2C13C-8717-1508-802F-5120475EF9D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extLst>
      <p:ext uri="{BB962C8B-B14F-4D97-AF65-F5344CB8AC3E}">
        <p14:creationId xmlns:p14="http://schemas.microsoft.com/office/powerpoint/2010/main" val="1744215359"/>
      </p:ext>
    </p:extLst>
  </p:cSld>
  <p:clrMapOvr>
    <a:masterClrMapping/>
  </p:clrMapOvr>
</p:sld>
</file>

<file path=ppt/theme/theme1.xml><?xml version="1.0" encoding="utf-8"?>
<a:theme xmlns:a="http://schemas.openxmlformats.org/drawingml/2006/main" name="GradientVTI">
  <a:themeElements>
    <a:clrScheme name="Office">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24939</TotalTime>
  <Words>599</Words>
  <Application>Microsoft Office PowerPoint</Application>
  <PresentationFormat>ワイド画面</PresentationFormat>
  <Paragraphs>82</Paragraphs>
  <Slides>12</Slides>
  <Notes>4</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12</vt:i4>
      </vt:variant>
    </vt:vector>
  </HeadingPairs>
  <TitlesOfParts>
    <vt:vector size="15" baseType="lpstr">
      <vt:lpstr>Arial</vt:lpstr>
      <vt:lpstr>Open Sans</vt:lpstr>
      <vt:lpstr>GradientVTI</vt:lpstr>
      <vt:lpstr>進捗報告</vt:lpstr>
      <vt:lpstr>研究概要</vt:lpstr>
      <vt:lpstr>今週の進捗</vt:lpstr>
      <vt:lpstr>前回の進捗報告と研究方針について</vt:lpstr>
      <vt:lpstr>前回の進捗報告と研究方針について</vt:lpstr>
      <vt:lpstr>注目度→満足度</vt:lpstr>
      <vt:lpstr>先行研究調査</vt:lpstr>
      <vt:lpstr>研究概要</vt:lpstr>
      <vt:lpstr>満足度を高める要因の調査</vt:lpstr>
      <vt:lpstr>満足度を高める要因の調査</vt:lpstr>
      <vt:lpstr>満足度を高める要因</vt:lpstr>
      <vt:lpstr>今週の予定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昇汰 三輪</dc:creator>
  <cp:lastModifiedBy>昇汰 三輪</cp:lastModifiedBy>
  <cp:revision>79</cp:revision>
  <dcterms:created xsi:type="dcterms:W3CDTF">2025-05-18T22:20:18Z</dcterms:created>
  <dcterms:modified xsi:type="dcterms:W3CDTF">2026-04-28T07:15:32Z</dcterms:modified>
</cp:coreProperties>
</file>