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60" r:id="rId5"/>
    <p:sldId id="263" r:id="rId6"/>
    <p:sldId id="261" r:id="rId7"/>
    <p:sldId id="262" r:id="rId8"/>
    <p:sldId id="25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660"/>
  </p:normalViewPr>
  <p:slideViewPr>
    <p:cSldViewPr snapToGrid="0">
      <p:cViewPr varScale="1">
        <p:scale>
          <a:sx n="60" d="100"/>
          <a:sy n="60" d="100"/>
        </p:scale>
        <p:origin x="96" y="1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DA2E0-C983-4F8D-988C-5CF39D8EA260}" type="datetimeFigureOut">
              <a:rPr kumimoji="1" lang="ja-JP" altLang="en-US" smtClean="0"/>
              <a:t>2025/4/17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9ED68-4564-4303-B19C-F4FAF719778E}" type="slidenum">
              <a:rPr kumimoji="1" lang="ja-JP" altLang="en-US" smtClean="0"/>
              <a:t>‹#›</a:t>
            </a:fld>
            <a:endParaRPr kumimoji="1" lang="ja-JP" altLang="en-US"/>
          </a:p>
        </p:txBody>
      </p:sp>
    </p:spTree>
    <p:extLst>
      <p:ext uri="{BB962C8B-B14F-4D97-AF65-F5344CB8AC3E}">
        <p14:creationId xmlns:p14="http://schemas.microsoft.com/office/powerpoint/2010/main" val="159040228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ja-JP" altLang="en-US"/>
              <a:t>マスター タイトルの書式設定</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BB02FEB-738B-403E-B559-59C4B6BA5B51}" type="datetime1">
              <a:rPr kumimoji="1" lang="ja-JP" altLang="en-US" smtClean="0"/>
              <a:t>2025/4/17</a:t>
            </a:fld>
            <a:endParaRPr kumimoji="1" lang="ja-JP" alt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kumimoji="1" lang="ja-JP" alt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3313537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9FEBFA4-15A8-4408-B90D-F6B8F686E883}"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483958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FDD7FC0-E772-4FC7-A856-41512A1E8320}"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1666269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7CC42AD-81DF-49A3-A704-C8BEE187499E}" type="datetime1">
              <a:rPr kumimoji="1" lang="ja-JP" altLang="en-US" smtClean="0"/>
              <a:t>2025/4/17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4070439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31AFDC1-313F-49E8-9EC9-B9C6B43EE365}" type="datetime1">
              <a:rPr kumimoji="1" lang="ja-JP" altLang="en-US" smtClean="0"/>
              <a:t>2025/4/17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47221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2ADD2D6-BB90-4690-A3AF-78038E1CFEDC}" type="datetime1">
              <a:rPr kumimoji="1" lang="ja-JP" altLang="en-US" smtClean="0"/>
              <a:t>2025/4/17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82599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2BD142-82B5-422A-97CC-E904F8E53636}" type="datetime1">
              <a:rPr kumimoji="1" lang="ja-JP" altLang="en-US" smtClean="0"/>
              <a:t>2025/4/17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77538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24BB28E-2780-4403-A6E1-6436E6958E64}" type="datetime1">
              <a:rPr kumimoji="1" lang="ja-JP" altLang="en-US" smtClean="0"/>
              <a:t>2025/4/17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3957794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ja-JP" altLang="en-US"/>
              <a:t>アイコンをクリックして図を追加</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3FD9BD3-0F11-4C6D-9CAC-8D653554118C}" type="datetime1">
              <a:rPr kumimoji="1" lang="ja-JP" altLang="en-US" smtClean="0"/>
              <a:t>2025/4/17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3624642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65AC5F3-9420-48FB-A8E1-4F338D5A1A7C}" type="datetime1">
              <a:rPr kumimoji="1" lang="ja-JP" altLang="en-US" smtClean="0"/>
              <a:t>2025/4/17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349147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タイトルとキャプション">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ja-JP" altLang="en-US"/>
              <a:t>マスター タイトルの書式設定</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6917E0B9-7724-4A40-8E69-CE6B345B1E95}"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875394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引用 (キャプション付き)">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ja-JP" altLang="en-US"/>
              <a:t>マスター タイトルの書式設定</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11D9454-F775-4C63-9841-B70B512096EC}"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0702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名札">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3E06680-F4A8-4C00-B601-39810D9855CD}"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054721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B5171D4-9680-413D-B8B2-01D73EBC201B}" type="datetime1">
              <a:rPr kumimoji="1" lang="ja-JP" altLang="en-US" smtClean="0"/>
              <a:t>2025/4/17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552756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C9C008-5E66-4433-B23C-BF766BCFC523}" type="datetime1">
              <a:rPr kumimoji="1" lang="ja-JP" altLang="en-US" smtClean="0"/>
              <a:t>2025/4/17</a:t>
            </a:fld>
            <a:endParaRPr kumimoji="1" lang="ja-JP" altLang="en-US"/>
          </a:p>
        </p:txBody>
      </p:sp>
      <p:sp>
        <p:nvSpPr>
          <p:cNvPr id="8" name="Footer Placeholder 7"/>
          <p:cNvSpPr>
            <a:spLocks noGrp="1"/>
          </p:cNvSpPr>
          <p:nvPr>
            <p:ph type="ftr" sz="quarter" idx="11"/>
          </p:nvPr>
        </p:nvSpPr>
        <p:spPr>
          <a:xfrm>
            <a:off x="561111" y="6391838"/>
            <a:ext cx="3644282" cy="304801"/>
          </a:xfrm>
        </p:spPr>
        <p:txBody>
          <a:bodyPr/>
          <a:lstStyle/>
          <a:p>
            <a:endParaRPr kumimoji="1" lang="ja-JP" altLang="en-US"/>
          </a:p>
        </p:txBody>
      </p:sp>
      <p:sp>
        <p:nvSpPr>
          <p:cNvPr id="9" name="Slide Number Placeholder 8"/>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402343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A1D5045-CAE0-43DA-BEFF-73541068BA8E}"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111452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E60DDAB-36BF-4D3D-BD71-EE7F439FD0DA}" type="datetime1">
              <a:rPr kumimoji="1" lang="ja-JP" altLang="en-US" smtClean="0"/>
              <a:t>2025/4/17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1816874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3775540-DF7C-4765-9524-1EFA766EEE58}" type="datetime1">
              <a:rPr kumimoji="1" lang="ja-JP" altLang="en-US" smtClean="0"/>
              <a:t>2025/4/17</a:t>
            </a:fld>
            <a:endParaRPr kumimoji="1" lang="ja-JP" alt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kumimoji="1" lang="ja-JP" alt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CA7D769-6668-4A5A-B100-B5007F5D3A0E}" type="slidenum">
              <a:rPr kumimoji="1" lang="ja-JP" altLang="en-US" smtClean="0"/>
              <a:t>‹#›</a:t>
            </a:fld>
            <a:endParaRPr kumimoji="1" lang="ja-JP" altLang="en-US"/>
          </a:p>
        </p:txBody>
      </p:sp>
    </p:spTree>
    <p:extLst>
      <p:ext uri="{BB962C8B-B14F-4D97-AF65-F5344CB8AC3E}">
        <p14:creationId xmlns:p14="http://schemas.microsoft.com/office/powerpoint/2010/main" val="22840865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kumimoji="1" sz="3600" b="0" i="0" kern="1200">
          <a:solidFill>
            <a:schemeClr val="bg2"/>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0D5734-6BB5-F6AA-E2A4-CB070028381F}"/>
              </a:ext>
            </a:extLst>
          </p:cNvPr>
          <p:cNvSpPr>
            <a:spLocks noGrp="1"/>
          </p:cNvSpPr>
          <p:nvPr>
            <p:ph type="ctrTitle"/>
          </p:nvPr>
        </p:nvSpPr>
        <p:spPr/>
        <p:txBody>
          <a:bodyPr/>
          <a:lstStyle/>
          <a:p>
            <a:r>
              <a:rPr kumimoji="1" lang="ja-JP" altLang="en-US" dirty="0"/>
              <a:t>進捗報告</a:t>
            </a:r>
          </a:p>
        </p:txBody>
      </p:sp>
      <p:sp>
        <p:nvSpPr>
          <p:cNvPr id="3" name="字幕 2">
            <a:extLst>
              <a:ext uri="{FF2B5EF4-FFF2-40B4-BE49-F238E27FC236}">
                <a16:creationId xmlns:a16="http://schemas.microsoft.com/office/drawing/2014/main" id="{F9E485D0-C373-CBEC-7918-196A0EC9C94C}"/>
              </a:ext>
            </a:extLst>
          </p:cNvPr>
          <p:cNvSpPr>
            <a:spLocks noGrp="1"/>
          </p:cNvSpPr>
          <p:nvPr>
            <p:ph type="subTitle" idx="1"/>
          </p:nvPr>
        </p:nvSpPr>
        <p:spPr/>
        <p:txBody>
          <a:bodyPr/>
          <a:lstStyle/>
          <a:p>
            <a:r>
              <a:rPr kumimoji="1" lang="en-US" altLang="ja-JP"/>
              <a:t>Al21120 </a:t>
            </a:r>
            <a:r>
              <a:rPr kumimoji="1" lang="ja-JP" altLang="en-US"/>
              <a:t>三輪昇汰</a:t>
            </a:r>
            <a:endParaRPr kumimoji="1" lang="ja-JP" altLang="en-US" dirty="0"/>
          </a:p>
        </p:txBody>
      </p:sp>
      <p:sp>
        <p:nvSpPr>
          <p:cNvPr id="5" name="スライド番号プレースホルダー 4">
            <a:extLst>
              <a:ext uri="{FF2B5EF4-FFF2-40B4-BE49-F238E27FC236}">
                <a16:creationId xmlns:a16="http://schemas.microsoft.com/office/drawing/2014/main" id="{30361E2B-422C-9E37-62E5-2E0E2D5CD1B0}"/>
              </a:ext>
            </a:extLst>
          </p:cNvPr>
          <p:cNvSpPr>
            <a:spLocks noGrp="1"/>
          </p:cNvSpPr>
          <p:nvPr>
            <p:ph type="sldNum" sz="quarter" idx="12"/>
          </p:nvPr>
        </p:nvSpPr>
        <p:spPr/>
        <p:txBody>
          <a:bodyPr/>
          <a:lstStyle/>
          <a:p>
            <a:fld id="{2CA7D769-6668-4A5A-B100-B5007F5D3A0E}" type="slidenum">
              <a:rPr kumimoji="1" lang="ja-JP" altLang="en-US" smtClean="0"/>
              <a:t>1</a:t>
            </a:fld>
            <a:endParaRPr kumimoji="1" lang="ja-JP" altLang="en-US"/>
          </a:p>
        </p:txBody>
      </p:sp>
    </p:spTree>
    <p:extLst>
      <p:ext uri="{BB962C8B-B14F-4D97-AF65-F5344CB8AC3E}">
        <p14:creationId xmlns:p14="http://schemas.microsoft.com/office/powerpoint/2010/main" val="357724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77607A-D287-13B7-D2F8-D57BF63CB266}"/>
              </a:ext>
            </a:extLst>
          </p:cNvPr>
          <p:cNvSpPr>
            <a:spLocks noGrp="1"/>
          </p:cNvSpPr>
          <p:nvPr>
            <p:ph type="title"/>
          </p:nvPr>
        </p:nvSpPr>
        <p:spPr/>
        <p:txBody>
          <a:bodyPr/>
          <a:lstStyle/>
          <a:p>
            <a:r>
              <a:rPr kumimoji="1" lang="ja-JP" altLang="en-US" dirty="0"/>
              <a:t>進捗</a:t>
            </a:r>
          </a:p>
        </p:txBody>
      </p:sp>
      <p:sp>
        <p:nvSpPr>
          <p:cNvPr id="3" name="コンテンツ プレースホルダー 2">
            <a:extLst>
              <a:ext uri="{FF2B5EF4-FFF2-40B4-BE49-F238E27FC236}">
                <a16:creationId xmlns:a16="http://schemas.microsoft.com/office/drawing/2014/main" id="{94820A76-62F9-CE56-D5AD-1E8538AF65C4}"/>
              </a:ext>
            </a:extLst>
          </p:cNvPr>
          <p:cNvSpPr>
            <a:spLocks noGrp="1"/>
          </p:cNvSpPr>
          <p:nvPr>
            <p:ph idx="1"/>
          </p:nvPr>
        </p:nvSpPr>
        <p:spPr/>
        <p:txBody>
          <a:bodyPr>
            <a:normAutofit/>
          </a:bodyPr>
          <a:lstStyle/>
          <a:p>
            <a:r>
              <a:rPr kumimoji="1" lang="ja-JP" altLang="en-US" sz="2800" dirty="0"/>
              <a:t>論文調査</a:t>
            </a:r>
            <a:endParaRPr kumimoji="1" lang="en-US" altLang="ja-JP" sz="2800" dirty="0"/>
          </a:p>
          <a:p>
            <a:endParaRPr lang="en-US" altLang="ja-JP" sz="2800" dirty="0"/>
          </a:p>
          <a:p>
            <a:r>
              <a:rPr kumimoji="1" lang="ja-JP" altLang="en-US" sz="2800" dirty="0"/>
              <a:t>今後の予定</a:t>
            </a:r>
          </a:p>
        </p:txBody>
      </p:sp>
      <p:sp>
        <p:nvSpPr>
          <p:cNvPr id="4" name="スライド番号プレースホルダー 3">
            <a:extLst>
              <a:ext uri="{FF2B5EF4-FFF2-40B4-BE49-F238E27FC236}">
                <a16:creationId xmlns:a16="http://schemas.microsoft.com/office/drawing/2014/main" id="{31BD9C7E-ADDF-1593-81E2-49C84C4863B4}"/>
              </a:ext>
            </a:extLst>
          </p:cNvPr>
          <p:cNvSpPr>
            <a:spLocks noGrp="1"/>
          </p:cNvSpPr>
          <p:nvPr>
            <p:ph type="sldNum" sz="quarter" idx="12"/>
          </p:nvPr>
        </p:nvSpPr>
        <p:spPr/>
        <p:txBody>
          <a:bodyPr/>
          <a:lstStyle/>
          <a:p>
            <a:fld id="{2CA7D769-6668-4A5A-B100-B5007F5D3A0E}" type="slidenum">
              <a:rPr kumimoji="1" lang="ja-JP" altLang="en-US" smtClean="0"/>
              <a:t>2</a:t>
            </a:fld>
            <a:endParaRPr kumimoji="1" lang="ja-JP" altLang="en-US"/>
          </a:p>
        </p:txBody>
      </p:sp>
    </p:spTree>
    <p:extLst>
      <p:ext uri="{BB962C8B-B14F-4D97-AF65-F5344CB8AC3E}">
        <p14:creationId xmlns:p14="http://schemas.microsoft.com/office/powerpoint/2010/main" val="721376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2958EB-0C9C-C663-5671-B98D35438B08}"/>
              </a:ext>
            </a:extLst>
          </p:cNvPr>
          <p:cNvSpPr>
            <a:spLocks noGrp="1"/>
          </p:cNvSpPr>
          <p:nvPr>
            <p:ph type="title"/>
          </p:nvPr>
        </p:nvSpPr>
        <p:spPr/>
        <p:txBody>
          <a:bodyPr/>
          <a:lstStyle/>
          <a:p>
            <a:r>
              <a:rPr kumimoji="1" lang="ja-JP" altLang="en-US" dirty="0"/>
              <a:t>論文調査</a:t>
            </a:r>
          </a:p>
        </p:txBody>
      </p:sp>
      <p:sp>
        <p:nvSpPr>
          <p:cNvPr id="3" name="コンテンツ プレースホルダー 2">
            <a:extLst>
              <a:ext uri="{FF2B5EF4-FFF2-40B4-BE49-F238E27FC236}">
                <a16:creationId xmlns:a16="http://schemas.microsoft.com/office/drawing/2014/main" id="{6DF6D6F2-FE3F-3466-CF41-AAC85811E152}"/>
              </a:ext>
            </a:extLst>
          </p:cNvPr>
          <p:cNvSpPr>
            <a:spLocks noGrp="1"/>
          </p:cNvSpPr>
          <p:nvPr>
            <p:ph idx="1"/>
          </p:nvPr>
        </p:nvSpPr>
        <p:spPr/>
        <p:txBody>
          <a:bodyPr/>
          <a:lstStyle/>
          <a:p>
            <a:r>
              <a:rPr kumimoji="1" lang="ja-JP" altLang="en-US" sz="2400" dirty="0"/>
              <a:t>動画の自動ハイライト検出に関連した論文を調査</a:t>
            </a:r>
            <a:endParaRPr kumimoji="1" lang="en-US" altLang="ja-JP" sz="2400" dirty="0"/>
          </a:p>
          <a:p>
            <a:endParaRPr lang="en-US" altLang="ja-JP" sz="2400" dirty="0"/>
          </a:p>
          <a:p>
            <a:r>
              <a:rPr lang="ja-JP" altLang="en-US" sz="2400" b="0" i="0" u="none" strike="noStrike" baseline="0" dirty="0">
                <a:latin typeface="IPAexMincho"/>
              </a:rPr>
              <a:t>視聴者の時刻同期コメントを用いた動画の特徴シーンの推定</a:t>
            </a:r>
            <a:r>
              <a:rPr lang="en-US" altLang="ja-JP" sz="2400" b="0" i="0" u="none" strike="noStrike" baseline="0" dirty="0">
                <a:latin typeface="IPAexMincho"/>
              </a:rPr>
              <a:t>(2018)</a:t>
            </a:r>
          </a:p>
          <a:p>
            <a:endParaRPr lang="en-US" altLang="ja-JP" sz="2400" dirty="0">
              <a:latin typeface="IPAexMincho"/>
            </a:endParaRPr>
          </a:p>
          <a:p>
            <a:r>
              <a:rPr kumimoji="1" lang="ja-JP" altLang="en-US" sz="2400" dirty="0"/>
              <a:t>文字起こしに基づく動画の切り抜き部分推定（</a:t>
            </a:r>
            <a:r>
              <a:rPr kumimoji="1" lang="en-US" altLang="ja-JP" sz="2400" dirty="0"/>
              <a:t>2024</a:t>
            </a:r>
            <a:r>
              <a:rPr kumimoji="1" lang="ja-JP" altLang="en-US" sz="2400" dirty="0"/>
              <a:t>）</a:t>
            </a:r>
            <a:endParaRPr lang="en-US" altLang="ja-JP" sz="2400" b="0" i="0" u="none" strike="noStrike" baseline="0" dirty="0">
              <a:latin typeface="IPAexMincho"/>
            </a:endParaRPr>
          </a:p>
          <a:p>
            <a:endParaRPr lang="en-US" altLang="ja-JP" sz="2400" dirty="0">
              <a:latin typeface="IPAexMincho"/>
            </a:endParaRPr>
          </a:p>
          <a:p>
            <a:endParaRPr lang="en-US" altLang="ja-JP" dirty="0"/>
          </a:p>
          <a:p>
            <a:endParaRPr kumimoji="1" lang="en-US" altLang="ja-JP" dirty="0"/>
          </a:p>
          <a:p>
            <a:pPr marL="0" indent="0">
              <a:buNone/>
            </a:pPr>
            <a:endParaRPr lang="en-US" altLang="ja-JP" dirty="0"/>
          </a:p>
        </p:txBody>
      </p:sp>
      <p:sp>
        <p:nvSpPr>
          <p:cNvPr id="5" name="スライド番号プレースホルダー 4">
            <a:extLst>
              <a:ext uri="{FF2B5EF4-FFF2-40B4-BE49-F238E27FC236}">
                <a16:creationId xmlns:a16="http://schemas.microsoft.com/office/drawing/2014/main" id="{C7919DA7-A73C-4E14-206B-030E4888532D}"/>
              </a:ext>
            </a:extLst>
          </p:cNvPr>
          <p:cNvSpPr>
            <a:spLocks noGrp="1"/>
          </p:cNvSpPr>
          <p:nvPr>
            <p:ph type="sldNum" sz="quarter" idx="12"/>
          </p:nvPr>
        </p:nvSpPr>
        <p:spPr/>
        <p:txBody>
          <a:bodyPr/>
          <a:lstStyle/>
          <a:p>
            <a:fld id="{2CA7D769-6668-4A5A-B100-B5007F5D3A0E}" type="slidenum">
              <a:rPr kumimoji="1" lang="ja-JP" altLang="en-US" smtClean="0"/>
              <a:t>3</a:t>
            </a:fld>
            <a:endParaRPr kumimoji="1" lang="ja-JP" altLang="en-US"/>
          </a:p>
        </p:txBody>
      </p:sp>
    </p:spTree>
    <p:extLst>
      <p:ext uri="{BB962C8B-B14F-4D97-AF65-F5344CB8AC3E}">
        <p14:creationId xmlns:p14="http://schemas.microsoft.com/office/powerpoint/2010/main" val="722475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50227ED-5158-F746-2BF5-D892897BF857}"/>
              </a:ext>
            </a:extLst>
          </p:cNvPr>
          <p:cNvPicPr>
            <a:picLocks noChangeAspect="1"/>
          </p:cNvPicPr>
          <p:nvPr/>
        </p:nvPicPr>
        <p:blipFill>
          <a:blip r:embed="rId2"/>
          <a:stretch>
            <a:fillRect/>
          </a:stretch>
        </p:blipFill>
        <p:spPr>
          <a:xfrm>
            <a:off x="8046860" y="2808124"/>
            <a:ext cx="4145140" cy="3933654"/>
          </a:xfrm>
          <a:prstGeom prst="rect">
            <a:avLst/>
          </a:prstGeom>
        </p:spPr>
      </p:pic>
      <p:sp>
        <p:nvSpPr>
          <p:cNvPr id="2" name="タイトル 1">
            <a:extLst>
              <a:ext uri="{FF2B5EF4-FFF2-40B4-BE49-F238E27FC236}">
                <a16:creationId xmlns:a16="http://schemas.microsoft.com/office/drawing/2014/main" id="{E40E8059-F66E-D4C4-5AAB-84C97EB966EE}"/>
              </a:ext>
            </a:extLst>
          </p:cNvPr>
          <p:cNvSpPr>
            <a:spLocks noGrp="1"/>
          </p:cNvSpPr>
          <p:nvPr>
            <p:ph type="title"/>
          </p:nvPr>
        </p:nvSpPr>
        <p:spPr>
          <a:xfrm>
            <a:off x="1507956" y="648952"/>
            <a:ext cx="9689433" cy="1709237"/>
          </a:xfrm>
        </p:spPr>
        <p:txBody>
          <a:bodyPr>
            <a:normAutofit fontScale="90000"/>
          </a:bodyPr>
          <a:lstStyle/>
          <a:p>
            <a:r>
              <a:rPr lang="ja-JP" altLang="en-US" sz="4400" b="0" i="0" u="none" strike="noStrike" baseline="0" dirty="0">
                <a:latin typeface="IPAexMincho"/>
              </a:rPr>
              <a:t>視聴者の時刻同期コメントを用いた</a:t>
            </a:r>
            <a:br>
              <a:rPr lang="en-US" altLang="ja-JP" sz="4400" b="0" i="0" u="none" strike="noStrike" baseline="0" dirty="0">
                <a:latin typeface="IPAexMincho"/>
              </a:rPr>
            </a:br>
            <a:r>
              <a:rPr lang="ja-JP" altLang="en-US" sz="4400" b="0" i="0" u="none" strike="noStrike" baseline="0" dirty="0">
                <a:latin typeface="IPAexMincho"/>
              </a:rPr>
              <a:t>　　動画の特徴シーンの推定</a:t>
            </a:r>
            <a:br>
              <a:rPr lang="en-US" altLang="ja-JP" sz="4400" b="0" i="0" u="none" strike="noStrike" baseline="0" dirty="0">
                <a:latin typeface="IPAexMincho"/>
              </a:rPr>
            </a:br>
            <a:endParaRPr kumimoji="1" lang="ja-JP" altLang="en-US" dirty="0"/>
          </a:p>
        </p:txBody>
      </p:sp>
      <p:sp>
        <p:nvSpPr>
          <p:cNvPr id="3" name="コンテンツ プレースホルダー 2">
            <a:extLst>
              <a:ext uri="{FF2B5EF4-FFF2-40B4-BE49-F238E27FC236}">
                <a16:creationId xmlns:a16="http://schemas.microsoft.com/office/drawing/2014/main" id="{F3494125-CCAD-E39F-3242-5780517F5245}"/>
              </a:ext>
            </a:extLst>
          </p:cNvPr>
          <p:cNvSpPr>
            <a:spLocks noGrp="1"/>
          </p:cNvSpPr>
          <p:nvPr>
            <p:ph idx="1"/>
          </p:nvPr>
        </p:nvSpPr>
        <p:spPr>
          <a:xfrm>
            <a:off x="0" y="2603500"/>
            <a:ext cx="8825659" cy="3416300"/>
          </a:xfrm>
        </p:spPr>
        <p:txBody>
          <a:bodyPr>
            <a:normAutofit fontScale="85000" lnSpcReduction="10000"/>
          </a:bodyPr>
          <a:lstStyle/>
          <a:p>
            <a:r>
              <a:rPr lang="ja-JP" altLang="en-US" sz="2800" b="0" i="0" u="none" strike="noStrike" baseline="0" dirty="0">
                <a:latin typeface="IPAexMincho"/>
              </a:rPr>
              <a:t>視聴者の時刻同期コメントを用いた動画の特徴シーンの推定</a:t>
            </a:r>
            <a:endParaRPr lang="en-US" altLang="ja-JP" sz="2800" b="0" i="0" u="none" strike="noStrike" baseline="0" dirty="0">
              <a:latin typeface="IPAexMincho"/>
            </a:endParaRPr>
          </a:p>
          <a:p>
            <a:pPr marL="0" indent="0">
              <a:buNone/>
            </a:pPr>
            <a:r>
              <a:rPr lang="ja-JP" altLang="en-US" sz="2800" dirty="0">
                <a:latin typeface="IPAexMincho"/>
              </a:rPr>
              <a:t>　</a:t>
            </a:r>
            <a:r>
              <a:rPr lang="en-US" altLang="ja-JP" sz="2800" dirty="0">
                <a:latin typeface="IPAexMincho"/>
              </a:rPr>
              <a:t>SVM</a:t>
            </a:r>
            <a:r>
              <a:rPr lang="ja-JP" altLang="en-US" sz="2800" dirty="0">
                <a:latin typeface="IPAexMincho"/>
              </a:rPr>
              <a:t>を用いてコメントを３分類</a:t>
            </a:r>
            <a:endParaRPr lang="en-US" altLang="ja-JP" sz="2800" dirty="0">
              <a:latin typeface="IPAexMincho"/>
            </a:endParaRPr>
          </a:p>
          <a:p>
            <a:pPr marL="0" indent="0">
              <a:buNone/>
            </a:pPr>
            <a:r>
              <a:rPr lang="en-US" altLang="ja-JP" sz="1800" b="1" dirty="0"/>
              <a:t>	</a:t>
            </a:r>
            <a:r>
              <a:rPr lang="ja-JP" altLang="en-US" sz="2400" b="1" dirty="0"/>
              <a:t>ポジティブ</a:t>
            </a:r>
            <a:r>
              <a:rPr lang="ja-JP" altLang="en-US" sz="2400" dirty="0"/>
              <a:t>（例：「すげえええ」）</a:t>
            </a:r>
          </a:p>
          <a:p>
            <a:pPr marL="0" indent="0">
              <a:buNone/>
            </a:pPr>
            <a:r>
              <a:rPr lang="en-US" altLang="ja-JP" sz="2400" b="1" dirty="0"/>
              <a:t>	</a:t>
            </a:r>
            <a:r>
              <a:rPr lang="ja-JP" altLang="en-US" sz="2400" b="1" dirty="0"/>
              <a:t>ネガティブ</a:t>
            </a:r>
            <a:r>
              <a:rPr lang="ja-JP" altLang="en-US" sz="2400" dirty="0"/>
              <a:t>（例：「ひどい」）</a:t>
            </a:r>
          </a:p>
          <a:p>
            <a:pPr marL="0" indent="0">
              <a:buNone/>
            </a:pPr>
            <a:r>
              <a:rPr lang="en-US" altLang="ja-JP" sz="2400" b="1" dirty="0"/>
              <a:t>	</a:t>
            </a:r>
            <a:r>
              <a:rPr lang="ja-JP" altLang="en-US" sz="2400" b="1" dirty="0"/>
              <a:t>ニュートラル</a:t>
            </a:r>
            <a:r>
              <a:rPr lang="ja-JP" altLang="en-US" sz="2400" dirty="0"/>
              <a:t>（例：「次は？」）</a:t>
            </a:r>
          </a:p>
          <a:p>
            <a:pPr marL="0" indent="0" algn="l">
              <a:buNone/>
            </a:pPr>
            <a:r>
              <a:rPr lang="ja-JP" altLang="en-US" sz="2800" dirty="0">
                <a:latin typeface="IPAexMincho"/>
              </a:rPr>
              <a:t>　</a:t>
            </a:r>
            <a:endParaRPr lang="en-US" altLang="ja-JP" sz="2800" dirty="0">
              <a:latin typeface="IPAexMincho"/>
            </a:endParaRPr>
          </a:p>
          <a:p>
            <a:pPr marL="0" indent="0" algn="l">
              <a:buNone/>
            </a:pPr>
            <a:r>
              <a:rPr lang="en-US" altLang="ja-JP" sz="3000" dirty="0">
                <a:latin typeface="IPAexMincho"/>
              </a:rPr>
              <a:t>SVM</a:t>
            </a:r>
            <a:r>
              <a:rPr lang="ja-JP" altLang="en-US" sz="3000" dirty="0">
                <a:latin typeface="IPAexMincho"/>
              </a:rPr>
              <a:t>による</a:t>
            </a:r>
            <a:r>
              <a:rPr lang="ja-JP" altLang="en-US" sz="3000" dirty="0"/>
              <a:t>感情ラベル付きコメント </a:t>
            </a:r>
            <a:r>
              <a:rPr lang="en-US" altLang="ja-JP" sz="3000" dirty="0"/>
              <a:t>+ </a:t>
            </a:r>
            <a:r>
              <a:rPr lang="ja-JP" altLang="en-US" sz="3000" dirty="0"/>
              <a:t>投稿時刻（</a:t>
            </a:r>
            <a:r>
              <a:rPr lang="en-US" altLang="ja-JP" sz="3000" dirty="0"/>
              <a:t>10</a:t>
            </a:r>
            <a:r>
              <a:rPr lang="ja-JP" altLang="en-US" sz="3000" dirty="0"/>
              <a:t>秒単位）を用いてグラフ化しピークを検出。　</a:t>
            </a:r>
            <a:endParaRPr kumimoji="1" lang="ja-JP" altLang="en-US" sz="3000" dirty="0"/>
          </a:p>
          <a:p>
            <a:endParaRPr kumimoji="1" lang="ja-JP" altLang="en-US" dirty="0"/>
          </a:p>
        </p:txBody>
      </p:sp>
      <p:sp>
        <p:nvSpPr>
          <p:cNvPr id="6" name="スライド番号プレースホルダー 5">
            <a:extLst>
              <a:ext uri="{FF2B5EF4-FFF2-40B4-BE49-F238E27FC236}">
                <a16:creationId xmlns:a16="http://schemas.microsoft.com/office/drawing/2014/main" id="{AE78A927-EA27-09E1-49AB-E10A8D8D72F1}"/>
              </a:ext>
            </a:extLst>
          </p:cNvPr>
          <p:cNvSpPr>
            <a:spLocks noGrp="1"/>
          </p:cNvSpPr>
          <p:nvPr>
            <p:ph type="sldNum" sz="quarter" idx="12"/>
          </p:nvPr>
        </p:nvSpPr>
        <p:spPr/>
        <p:txBody>
          <a:bodyPr/>
          <a:lstStyle/>
          <a:p>
            <a:fld id="{2CA7D769-6668-4A5A-B100-B5007F5D3A0E}" type="slidenum">
              <a:rPr kumimoji="1" lang="ja-JP" altLang="en-US" smtClean="0"/>
              <a:t>4</a:t>
            </a:fld>
            <a:endParaRPr kumimoji="1" lang="ja-JP" altLang="en-US"/>
          </a:p>
        </p:txBody>
      </p:sp>
    </p:spTree>
    <p:extLst>
      <p:ext uri="{BB962C8B-B14F-4D97-AF65-F5344CB8AC3E}">
        <p14:creationId xmlns:p14="http://schemas.microsoft.com/office/powerpoint/2010/main" val="146496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9EA48D-F6C8-BEA8-6305-B6D6511354D4}"/>
              </a:ext>
            </a:extLst>
          </p:cNvPr>
          <p:cNvSpPr>
            <a:spLocks noGrp="1"/>
          </p:cNvSpPr>
          <p:nvPr>
            <p:ph type="title"/>
          </p:nvPr>
        </p:nvSpPr>
        <p:spPr/>
        <p:txBody>
          <a:bodyPr/>
          <a:lstStyle/>
          <a:p>
            <a:r>
              <a:rPr kumimoji="1" lang="ja-JP" altLang="en-US" dirty="0"/>
              <a:t>           文字起こしに基づく</a:t>
            </a:r>
            <a:br>
              <a:rPr kumimoji="1" lang="en-US" altLang="ja-JP" dirty="0"/>
            </a:br>
            <a:r>
              <a:rPr kumimoji="1" lang="en-US" altLang="ja-JP" dirty="0"/>
              <a:t>	</a:t>
            </a:r>
            <a:r>
              <a:rPr kumimoji="1" lang="ja-JP" altLang="en-US" dirty="0"/>
              <a:t>　動画の切り抜き部分推定</a:t>
            </a:r>
          </a:p>
        </p:txBody>
      </p:sp>
      <p:sp>
        <p:nvSpPr>
          <p:cNvPr id="3" name="コンテンツ プレースホルダー 2">
            <a:extLst>
              <a:ext uri="{FF2B5EF4-FFF2-40B4-BE49-F238E27FC236}">
                <a16:creationId xmlns:a16="http://schemas.microsoft.com/office/drawing/2014/main" id="{8188A209-7BBE-40E8-25DD-97BB039F0B7B}"/>
              </a:ext>
            </a:extLst>
          </p:cNvPr>
          <p:cNvSpPr>
            <a:spLocks noGrp="1"/>
          </p:cNvSpPr>
          <p:nvPr>
            <p:ph idx="1"/>
          </p:nvPr>
        </p:nvSpPr>
        <p:spPr>
          <a:xfrm>
            <a:off x="419100" y="2435225"/>
            <a:ext cx="11353800" cy="4783722"/>
          </a:xfrm>
        </p:spPr>
        <p:txBody>
          <a:bodyPr>
            <a:normAutofit/>
          </a:bodyPr>
          <a:lstStyle/>
          <a:p>
            <a:r>
              <a:rPr lang="ja-JP" altLang="en-US" dirty="0"/>
              <a:t>この研究が目指していること</a:t>
            </a:r>
            <a:endParaRPr lang="en-US" altLang="ja-JP" dirty="0"/>
          </a:p>
          <a:p>
            <a:endParaRPr lang="en-US" altLang="ja-JP" dirty="0"/>
          </a:p>
          <a:p>
            <a:pPr marL="0" indent="0" algn="ctr">
              <a:buNone/>
            </a:pPr>
            <a:r>
              <a:rPr lang="en-US" altLang="ja-JP" dirty="0"/>
              <a:t>		</a:t>
            </a:r>
            <a:r>
              <a:rPr lang="ja-JP" altLang="en-US" dirty="0"/>
              <a:t>　自動動画ハイライト抽出</a:t>
            </a:r>
            <a:endParaRPr lang="en-US" altLang="ja-JP" dirty="0"/>
          </a:p>
          <a:p>
            <a:pPr marL="0" indent="0" algn="ctr">
              <a:buNone/>
            </a:pPr>
            <a:r>
              <a:rPr lang="ja-JP" altLang="en-US" dirty="0"/>
              <a:t>　　↓</a:t>
            </a:r>
            <a:endParaRPr lang="en-US" altLang="ja-JP" dirty="0"/>
          </a:p>
          <a:p>
            <a:pPr marL="0" indent="0" algn="ctr">
              <a:buNone/>
            </a:pPr>
            <a:r>
              <a:rPr lang="ja-JP" altLang="en-US" dirty="0"/>
              <a:t>　人間が選んだ面白い部分を機械学習するために大量の教師データが必要</a:t>
            </a:r>
            <a:endParaRPr lang="en-US" altLang="ja-JP" dirty="0"/>
          </a:p>
          <a:p>
            <a:pPr marL="0" indent="0" algn="ctr">
              <a:buNone/>
            </a:pPr>
            <a:r>
              <a:rPr lang="en-US" altLang="ja-JP" dirty="0"/>
              <a:t>	</a:t>
            </a:r>
            <a:r>
              <a:rPr lang="ja-JP" altLang="en-US" dirty="0"/>
              <a:t>↓</a:t>
            </a:r>
            <a:endParaRPr lang="en-US" altLang="ja-JP" dirty="0"/>
          </a:p>
          <a:p>
            <a:pPr marL="0" indent="0" algn="ctr">
              <a:buNone/>
            </a:pPr>
            <a:r>
              <a:rPr lang="en-US" altLang="ja-JP" dirty="0"/>
              <a:t>	</a:t>
            </a:r>
            <a:r>
              <a:rPr lang="ja-JP" altLang="en-US" dirty="0"/>
              <a:t>人手で教師データを作るのは時間と労力が必要になる</a:t>
            </a:r>
            <a:endParaRPr lang="en-US" altLang="ja-JP" dirty="0"/>
          </a:p>
          <a:p>
            <a:pPr marL="0" indent="0" algn="ctr">
              <a:buNone/>
            </a:pPr>
            <a:r>
              <a:rPr lang="en-US" altLang="ja-JP" dirty="0"/>
              <a:t>	</a:t>
            </a:r>
            <a:r>
              <a:rPr lang="ja-JP" altLang="en-US" dirty="0"/>
              <a:t>↓</a:t>
            </a:r>
            <a:endParaRPr lang="en-US" altLang="ja-JP" dirty="0"/>
          </a:p>
          <a:p>
            <a:pPr marL="0" indent="0" algn="ctr">
              <a:buNone/>
            </a:pPr>
            <a:r>
              <a:rPr lang="en-US" altLang="ja-JP" dirty="0" err="1"/>
              <a:t>Youtube</a:t>
            </a:r>
            <a:r>
              <a:rPr lang="ja-JP" altLang="en-US" dirty="0"/>
              <a:t>上にアップされた切り抜き動画が元配信のどの部分であるかを自動でマッチングできるようにしたい。</a:t>
            </a:r>
            <a:endParaRPr kumimoji="1" lang="ja-JP" altLang="en-US" dirty="0"/>
          </a:p>
        </p:txBody>
      </p:sp>
      <p:sp>
        <p:nvSpPr>
          <p:cNvPr id="4" name="スライド番号プレースホルダー 3">
            <a:extLst>
              <a:ext uri="{FF2B5EF4-FFF2-40B4-BE49-F238E27FC236}">
                <a16:creationId xmlns:a16="http://schemas.microsoft.com/office/drawing/2014/main" id="{F9AE0382-F1F4-AEF4-C47E-5CB0A76938AA}"/>
              </a:ext>
            </a:extLst>
          </p:cNvPr>
          <p:cNvSpPr>
            <a:spLocks noGrp="1"/>
          </p:cNvSpPr>
          <p:nvPr>
            <p:ph type="sldNum" sz="quarter" idx="12"/>
          </p:nvPr>
        </p:nvSpPr>
        <p:spPr/>
        <p:txBody>
          <a:bodyPr/>
          <a:lstStyle/>
          <a:p>
            <a:fld id="{2CA7D769-6668-4A5A-B100-B5007F5D3A0E}" type="slidenum">
              <a:rPr kumimoji="1" lang="ja-JP" altLang="en-US" smtClean="0"/>
              <a:t>5</a:t>
            </a:fld>
            <a:endParaRPr kumimoji="1" lang="ja-JP" altLang="en-US"/>
          </a:p>
        </p:txBody>
      </p:sp>
    </p:spTree>
    <p:extLst>
      <p:ext uri="{BB962C8B-B14F-4D97-AF65-F5344CB8AC3E}">
        <p14:creationId xmlns:p14="http://schemas.microsoft.com/office/powerpoint/2010/main" val="2334661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4389F9-97A9-3DD1-BC78-1BFEA8CC59C2}"/>
              </a:ext>
            </a:extLst>
          </p:cNvPr>
          <p:cNvSpPr>
            <a:spLocks noGrp="1"/>
          </p:cNvSpPr>
          <p:nvPr>
            <p:ph type="title"/>
          </p:nvPr>
        </p:nvSpPr>
        <p:spPr/>
        <p:txBody>
          <a:bodyPr/>
          <a:lstStyle/>
          <a:p>
            <a:r>
              <a:rPr kumimoji="1" lang="en-US" altLang="ja-JP" dirty="0"/>
              <a:t>		</a:t>
            </a:r>
            <a:r>
              <a:rPr kumimoji="1" lang="ja-JP" altLang="en-US" dirty="0"/>
              <a:t>文字起こしに基づく</a:t>
            </a:r>
            <a:br>
              <a:rPr kumimoji="1" lang="en-US" altLang="ja-JP" dirty="0"/>
            </a:br>
            <a:r>
              <a:rPr kumimoji="1" lang="en-US" altLang="ja-JP" dirty="0"/>
              <a:t>	</a:t>
            </a:r>
            <a:r>
              <a:rPr kumimoji="1" lang="ja-JP" altLang="en-US" dirty="0"/>
              <a:t>　動画の切り抜き部分推定</a:t>
            </a:r>
          </a:p>
        </p:txBody>
      </p:sp>
      <p:sp>
        <p:nvSpPr>
          <p:cNvPr id="3" name="コンテンツ プレースホルダー 2">
            <a:extLst>
              <a:ext uri="{FF2B5EF4-FFF2-40B4-BE49-F238E27FC236}">
                <a16:creationId xmlns:a16="http://schemas.microsoft.com/office/drawing/2014/main" id="{6DACAB77-C15D-0A1D-E481-87630CF98F47}"/>
              </a:ext>
            </a:extLst>
          </p:cNvPr>
          <p:cNvSpPr>
            <a:spLocks noGrp="1"/>
          </p:cNvSpPr>
          <p:nvPr>
            <p:ph idx="1"/>
          </p:nvPr>
        </p:nvSpPr>
        <p:spPr/>
        <p:txBody>
          <a:bodyPr>
            <a:normAutofit/>
          </a:bodyPr>
          <a:lstStyle/>
          <a:p>
            <a:r>
              <a:rPr lang="en-US" altLang="ja-JP" dirty="0"/>
              <a:t>YouTube</a:t>
            </a:r>
            <a:r>
              <a:rPr lang="ja-JP" altLang="en-US" dirty="0"/>
              <a:t>の自動生成字幕（</a:t>
            </a:r>
            <a:r>
              <a:rPr lang="en-US" altLang="ja-JP" dirty="0"/>
              <a:t>ASR</a:t>
            </a:r>
            <a:r>
              <a:rPr lang="ja-JP" altLang="en-US" dirty="0"/>
              <a:t>）を用い、元動画と切り抜き動画のテキスト類似度（</a:t>
            </a:r>
            <a:r>
              <a:rPr lang="en-US" altLang="ja-JP" dirty="0"/>
              <a:t>LCS</a:t>
            </a:r>
            <a:r>
              <a:rPr lang="ja-JP" altLang="en-US" dirty="0"/>
              <a:t>ベース）で対応部分を推定する手法を提案。</a:t>
            </a:r>
            <a:endParaRPr lang="en-US" altLang="ja-JP" dirty="0"/>
          </a:p>
          <a:p>
            <a:endParaRPr lang="en-US" altLang="ja-JP" dirty="0"/>
          </a:p>
          <a:p>
            <a:endParaRPr kumimoji="1" lang="en-US" altLang="ja-JP" dirty="0"/>
          </a:p>
          <a:p>
            <a:pPr marL="0" indent="0">
              <a:buNone/>
            </a:pPr>
            <a:endParaRPr kumimoji="1" lang="ja-JP" altLang="en-US" dirty="0"/>
          </a:p>
        </p:txBody>
      </p:sp>
      <p:pic>
        <p:nvPicPr>
          <p:cNvPr id="5" name="図 4">
            <a:extLst>
              <a:ext uri="{FF2B5EF4-FFF2-40B4-BE49-F238E27FC236}">
                <a16:creationId xmlns:a16="http://schemas.microsoft.com/office/drawing/2014/main" id="{4DE4344A-A2A0-F27C-DD1F-CC0437096649}"/>
              </a:ext>
            </a:extLst>
          </p:cNvPr>
          <p:cNvPicPr>
            <a:picLocks noChangeAspect="1"/>
          </p:cNvPicPr>
          <p:nvPr/>
        </p:nvPicPr>
        <p:blipFill>
          <a:blip r:embed="rId2"/>
          <a:stretch>
            <a:fillRect/>
          </a:stretch>
        </p:blipFill>
        <p:spPr>
          <a:xfrm>
            <a:off x="2843282" y="3429000"/>
            <a:ext cx="6273428" cy="2006575"/>
          </a:xfrm>
          <a:prstGeom prst="rect">
            <a:avLst/>
          </a:prstGeom>
        </p:spPr>
      </p:pic>
      <p:sp>
        <p:nvSpPr>
          <p:cNvPr id="6" name="スライド番号プレースホルダー 5">
            <a:extLst>
              <a:ext uri="{FF2B5EF4-FFF2-40B4-BE49-F238E27FC236}">
                <a16:creationId xmlns:a16="http://schemas.microsoft.com/office/drawing/2014/main" id="{C40C6955-E621-3975-EAF9-1393441FACB0}"/>
              </a:ext>
            </a:extLst>
          </p:cNvPr>
          <p:cNvSpPr>
            <a:spLocks noGrp="1"/>
          </p:cNvSpPr>
          <p:nvPr>
            <p:ph type="sldNum" sz="quarter" idx="12"/>
          </p:nvPr>
        </p:nvSpPr>
        <p:spPr/>
        <p:txBody>
          <a:bodyPr/>
          <a:lstStyle/>
          <a:p>
            <a:fld id="{2CA7D769-6668-4A5A-B100-B5007F5D3A0E}" type="slidenum">
              <a:rPr kumimoji="1" lang="ja-JP" altLang="en-US" smtClean="0"/>
              <a:t>6</a:t>
            </a:fld>
            <a:endParaRPr kumimoji="1" lang="ja-JP" altLang="en-US"/>
          </a:p>
        </p:txBody>
      </p:sp>
    </p:spTree>
    <p:extLst>
      <p:ext uri="{BB962C8B-B14F-4D97-AF65-F5344CB8AC3E}">
        <p14:creationId xmlns:p14="http://schemas.microsoft.com/office/powerpoint/2010/main" val="2109235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A5EB8-2E28-9E22-9219-5E3166711F01}"/>
              </a:ext>
            </a:extLst>
          </p:cNvPr>
          <p:cNvSpPr>
            <a:spLocks noGrp="1"/>
          </p:cNvSpPr>
          <p:nvPr>
            <p:ph type="title"/>
          </p:nvPr>
        </p:nvSpPr>
        <p:spPr/>
        <p:txBody>
          <a:bodyPr/>
          <a:lstStyle/>
          <a:p>
            <a:r>
              <a:rPr kumimoji="1" lang="ja-JP" altLang="en-US" dirty="0"/>
              <a:t>　　　 文字起こしに基づく</a:t>
            </a:r>
            <a:br>
              <a:rPr kumimoji="1" lang="en-US" altLang="ja-JP" dirty="0"/>
            </a:br>
            <a:r>
              <a:rPr kumimoji="1" lang="en-US" altLang="ja-JP" dirty="0"/>
              <a:t>	</a:t>
            </a:r>
            <a:r>
              <a:rPr kumimoji="1" lang="ja-JP" altLang="en-US" dirty="0"/>
              <a:t>　動画の切り抜き部分推定</a:t>
            </a:r>
          </a:p>
        </p:txBody>
      </p:sp>
      <p:sp>
        <p:nvSpPr>
          <p:cNvPr id="3" name="コンテンツ プレースホルダー 2">
            <a:extLst>
              <a:ext uri="{FF2B5EF4-FFF2-40B4-BE49-F238E27FC236}">
                <a16:creationId xmlns:a16="http://schemas.microsoft.com/office/drawing/2014/main" id="{65A39312-9D2C-58D5-E339-F88F01662D25}"/>
              </a:ext>
            </a:extLst>
          </p:cNvPr>
          <p:cNvSpPr>
            <a:spLocks noGrp="1"/>
          </p:cNvSpPr>
          <p:nvPr>
            <p:ph idx="1"/>
          </p:nvPr>
        </p:nvSpPr>
        <p:spPr/>
        <p:txBody>
          <a:bodyPr/>
          <a:lstStyle/>
          <a:p>
            <a:pPr>
              <a:buFont typeface="Arial" panose="020B0604020202020204" pitchFamily="34" charset="0"/>
              <a:buChar char="•"/>
            </a:pPr>
            <a:r>
              <a:rPr lang="ja-JP" altLang="en-US" b="1" dirty="0"/>
              <a:t>対象データ</a:t>
            </a:r>
            <a:r>
              <a:rPr lang="en-US" altLang="ja-JP" dirty="0"/>
              <a:t>:</a:t>
            </a:r>
            <a:br>
              <a:rPr lang="en-US" altLang="ja-JP" dirty="0"/>
            </a:br>
            <a:r>
              <a:rPr lang="en-US" altLang="ja-JP" dirty="0" err="1"/>
              <a:t>VTuber</a:t>
            </a:r>
            <a:r>
              <a:rPr lang="ja-JP" altLang="en-US" dirty="0"/>
              <a:t>のライブ動画（</a:t>
            </a:r>
            <a:r>
              <a:rPr lang="en-US" altLang="ja-JP" dirty="0"/>
              <a:t>5</a:t>
            </a:r>
            <a:r>
              <a:rPr lang="ja-JP" altLang="en-US" dirty="0"/>
              <a:t>名の配信者）とその切り抜き動画、計</a:t>
            </a:r>
            <a:r>
              <a:rPr lang="en-US" altLang="ja-JP" dirty="0"/>
              <a:t>25</a:t>
            </a:r>
            <a:r>
              <a:rPr lang="ja-JP" altLang="en-US" dirty="0"/>
              <a:t>組を分析</a:t>
            </a:r>
          </a:p>
          <a:p>
            <a:pPr>
              <a:buFont typeface="Arial" panose="020B0604020202020204" pitchFamily="34" charset="0"/>
              <a:buChar char="•"/>
            </a:pPr>
            <a:r>
              <a:rPr lang="ja-JP" altLang="en-US" b="1" dirty="0"/>
              <a:t>結果</a:t>
            </a:r>
            <a:r>
              <a:rPr lang="en-US" altLang="ja-JP" dirty="0"/>
              <a:t>:</a:t>
            </a:r>
          </a:p>
          <a:p>
            <a:pPr marL="742950" lvl="1" indent="-285750">
              <a:buFont typeface="Arial" panose="020B0604020202020204" pitchFamily="34" charset="0"/>
              <a:buChar char="•"/>
            </a:pPr>
            <a:r>
              <a:rPr lang="ja-JP" altLang="en-US" b="1" dirty="0"/>
              <a:t>平均精度</a:t>
            </a:r>
            <a:r>
              <a:rPr lang="en-US" altLang="ja-JP" b="1" dirty="0"/>
              <a:t>57.0%</a:t>
            </a:r>
            <a:endParaRPr lang="ja-JP" altLang="en-US" dirty="0"/>
          </a:p>
          <a:p>
            <a:pPr marL="742950" lvl="1" indent="-285750">
              <a:buFont typeface="Arial" panose="020B0604020202020204" pitchFamily="34" charset="0"/>
              <a:buChar char="•"/>
            </a:pPr>
            <a:r>
              <a:rPr lang="ja-JP" altLang="en-US" dirty="0"/>
              <a:t>成功例</a:t>
            </a:r>
            <a:r>
              <a:rPr lang="en-US" altLang="ja-JP" dirty="0"/>
              <a:t>: </a:t>
            </a:r>
            <a:r>
              <a:rPr lang="ja-JP" altLang="en-US" dirty="0"/>
              <a:t>月ノ美兎の動画で</a:t>
            </a:r>
            <a:r>
              <a:rPr lang="en-US" altLang="ja-JP" dirty="0"/>
              <a:t>85%</a:t>
            </a:r>
            <a:r>
              <a:rPr lang="ja-JP" altLang="en-US" dirty="0"/>
              <a:t>の精度を達成</a:t>
            </a:r>
          </a:p>
          <a:p>
            <a:pPr marL="742950" lvl="1" indent="-285750">
              <a:buFont typeface="Arial" panose="020B0604020202020204" pitchFamily="34" charset="0"/>
              <a:buChar char="•"/>
            </a:pPr>
            <a:r>
              <a:rPr lang="ja-JP" altLang="en-US" dirty="0"/>
              <a:t>失敗例</a:t>
            </a:r>
            <a:r>
              <a:rPr lang="en-US" altLang="ja-JP" dirty="0"/>
              <a:t>: </a:t>
            </a:r>
            <a:r>
              <a:rPr lang="ja-JP" altLang="en-US" dirty="0"/>
              <a:t>複数人の会話や背景音あり動画では</a:t>
            </a:r>
            <a:r>
              <a:rPr lang="en-US" altLang="ja-JP" dirty="0"/>
              <a:t>15%</a:t>
            </a:r>
            <a:r>
              <a:rPr lang="ja-JP" altLang="en-US" dirty="0"/>
              <a:t>と低精度</a:t>
            </a:r>
            <a:endParaRPr lang="en-US" altLang="ja-JP" dirty="0"/>
          </a:p>
          <a:p>
            <a:pPr marL="457200" lvl="1" indent="0">
              <a:buNone/>
            </a:pPr>
            <a:endParaRPr lang="en-US" altLang="ja-JP" dirty="0"/>
          </a:p>
          <a:p>
            <a:pPr marL="457200" lvl="1" indent="0">
              <a:buNone/>
            </a:pPr>
            <a:r>
              <a:rPr lang="ja-JP" altLang="en-US" dirty="0"/>
              <a:t>配信音声の文字起こしデータのみでは安定した高い精度は得られない</a:t>
            </a:r>
            <a:endParaRPr lang="en-US" altLang="ja-JP" dirty="0"/>
          </a:p>
          <a:p>
            <a:pPr marL="457200" lvl="1" indent="0">
              <a:buNone/>
            </a:pPr>
            <a:r>
              <a:rPr lang="ja-JP" altLang="en-US" dirty="0"/>
              <a:t>→画像データや音声データも使用する必要がある</a:t>
            </a:r>
          </a:p>
          <a:p>
            <a:endParaRPr kumimoji="1" lang="ja-JP" altLang="en-US" dirty="0"/>
          </a:p>
        </p:txBody>
      </p:sp>
      <p:sp>
        <p:nvSpPr>
          <p:cNvPr id="4" name="スライド番号プレースホルダー 3">
            <a:extLst>
              <a:ext uri="{FF2B5EF4-FFF2-40B4-BE49-F238E27FC236}">
                <a16:creationId xmlns:a16="http://schemas.microsoft.com/office/drawing/2014/main" id="{53A55552-81B8-DA4F-D404-1D6310EA9FD5}"/>
              </a:ext>
            </a:extLst>
          </p:cNvPr>
          <p:cNvSpPr>
            <a:spLocks noGrp="1"/>
          </p:cNvSpPr>
          <p:nvPr>
            <p:ph type="sldNum" sz="quarter" idx="12"/>
          </p:nvPr>
        </p:nvSpPr>
        <p:spPr/>
        <p:txBody>
          <a:bodyPr/>
          <a:lstStyle/>
          <a:p>
            <a:fld id="{2CA7D769-6668-4A5A-B100-B5007F5D3A0E}" type="slidenum">
              <a:rPr kumimoji="1" lang="ja-JP" altLang="en-US" smtClean="0"/>
              <a:t>7</a:t>
            </a:fld>
            <a:endParaRPr kumimoji="1" lang="ja-JP" altLang="en-US"/>
          </a:p>
        </p:txBody>
      </p:sp>
    </p:spTree>
    <p:extLst>
      <p:ext uri="{BB962C8B-B14F-4D97-AF65-F5344CB8AC3E}">
        <p14:creationId xmlns:p14="http://schemas.microsoft.com/office/powerpoint/2010/main" val="1355571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964B30-9183-30A9-D164-4EDC9DC938B7}"/>
              </a:ext>
            </a:extLst>
          </p:cNvPr>
          <p:cNvSpPr>
            <a:spLocks noGrp="1"/>
          </p:cNvSpPr>
          <p:nvPr>
            <p:ph type="title"/>
          </p:nvPr>
        </p:nvSpPr>
        <p:spPr/>
        <p:txBody>
          <a:bodyPr/>
          <a:lstStyle/>
          <a:p>
            <a:r>
              <a:rPr kumimoji="1" lang="ja-JP" altLang="en-US" dirty="0"/>
              <a:t>今後の予定</a:t>
            </a:r>
          </a:p>
        </p:txBody>
      </p:sp>
      <p:sp>
        <p:nvSpPr>
          <p:cNvPr id="3" name="コンテンツ プレースホルダー 2">
            <a:extLst>
              <a:ext uri="{FF2B5EF4-FFF2-40B4-BE49-F238E27FC236}">
                <a16:creationId xmlns:a16="http://schemas.microsoft.com/office/drawing/2014/main" id="{738F4DAA-0A39-1494-9F1B-4FAE3C39B3EF}"/>
              </a:ext>
            </a:extLst>
          </p:cNvPr>
          <p:cNvSpPr>
            <a:spLocks noGrp="1"/>
          </p:cNvSpPr>
          <p:nvPr>
            <p:ph idx="1"/>
          </p:nvPr>
        </p:nvSpPr>
        <p:spPr/>
        <p:txBody>
          <a:bodyPr/>
          <a:lstStyle/>
          <a:p>
            <a:r>
              <a:rPr kumimoji="1" lang="ja-JP" altLang="en-US" dirty="0"/>
              <a:t>自動ハイライト検出の対象にするコンテンツの決定</a:t>
            </a:r>
            <a:endParaRPr kumimoji="1" lang="en-US" altLang="ja-JP" dirty="0"/>
          </a:p>
          <a:p>
            <a:endParaRPr lang="en-US" altLang="ja-JP" dirty="0"/>
          </a:p>
          <a:p>
            <a:r>
              <a:rPr kumimoji="1" lang="ja-JP" altLang="en-US" dirty="0"/>
              <a:t>技術アプローチの選定</a:t>
            </a:r>
            <a:endParaRPr kumimoji="1" lang="en-US" altLang="ja-JP" dirty="0"/>
          </a:p>
          <a:p>
            <a:pPr marL="0" indent="0">
              <a:buNone/>
            </a:pPr>
            <a:endParaRPr lang="en-US" altLang="ja-JP" dirty="0"/>
          </a:p>
          <a:p>
            <a:r>
              <a:rPr kumimoji="1" lang="ja-JP" altLang="en-US" dirty="0"/>
              <a:t>関連研究の調査</a:t>
            </a:r>
          </a:p>
        </p:txBody>
      </p:sp>
      <p:sp>
        <p:nvSpPr>
          <p:cNvPr id="4" name="スライド番号プレースホルダー 3">
            <a:extLst>
              <a:ext uri="{FF2B5EF4-FFF2-40B4-BE49-F238E27FC236}">
                <a16:creationId xmlns:a16="http://schemas.microsoft.com/office/drawing/2014/main" id="{0BDF2A17-51AE-CD45-B918-5F3B908D3968}"/>
              </a:ext>
            </a:extLst>
          </p:cNvPr>
          <p:cNvSpPr>
            <a:spLocks noGrp="1"/>
          </p:cNvSpPr>
          <p:nvPr>
            <p:ph type="sldNum" sz="quarter" idx="12"/>
          </p:nvPr>
        </p:nvSpPr>
        <p:spPr/>
        <p:txBody>
          <a:bodyPr/>
          <a:lstStyle/>
          <a:p>
            <a:fld id="{2CA7D769-6668-4A5A-B100-B5007F5D3A0E}" type="slidenum">
              <a:rPr kumimoji="1" lang="ja-JP" altLang="en-US" smtClean="0"/>
              <a:t>8</a:t>
            </a:fld>
            <a:endParaRPr kumimoji="1" lang="ja-JP" altLang="en-US"/>
          </a:p>
        </p:txBody>
      </p:sp>
    </p:spTree>
    <p:extLst>
      <p:ext uri="{BB962C8B-B14F-4D97-AF65-F5344CB8AC3E}">
        <p14:creationId xmlns:p14="http://schemas.microsoft.com/office/powerpoint/2010/main" val="20580658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オン ボードルーム">
  <a:themeElements>
    <a:clrScheme name="イオン ボードルーム">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イオン ボードルーム">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イオン ボードルーム">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366</TotalTime>
  <Words>405</Words>
  <Application>Microsoft Office PowerPoint</Application>
  <PresentationFormat>ワイド画面</PresentationFormat>
  <Paragraphs>58</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IPAexMincho</vt:lpstr>
      <vt:lpstr>游ゴシック</vt:lpstr>
      <vt:lpstr>Arial</vt:lpstr>
      <vt:lpstr>Century Gothic</vt:lpstr>
      <vt:lpstr>Wingdings 3</vt:lpstr>
      <vt:lpstr>イオン ボードルーム</vt:lpstr>
      <vt:lpstr>進捗報告</vt:lpstr>
      <vt:lpstr>進捗</vt:lpstr>
      <vt:lpstr>論文調査</vt:lpstr>
      <vt:lpstr>視聴者の時刻同期コメントを用いた 　　動画の特徴シーンの推定 </vt:lpstr>
      <vt:lpstr>           文字起こしに基づく  　動画の切り抜き部分推定</vt:lpstr>
      <vt:lpstr>  文字起こしに基づく  　動画の切り抜き部分推定</vt:lpstr>
      <vt:lpstr>　　　 文字起こしに基づく  　動画の切り抜き部分推定</vt:lpstr>
      <vt:lpstr>今後の予定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昇汰 三輪</cp:lastModifiedBy>
  <cp:revision>1</cp:revision>
  <dcterms:created xsi:type="dcterms:W3CDTF">2025-04-16T22:16:15Z</dcterms:created>
  <dcterms:modified xsi:type="dcterms:W3CDTF">2025-04-17T04:22:56Z</dcterms:modified>
</cp:coreProperties>
</file>