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Open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SP1TDKl9SlnSq0ofYxIRhWNpP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penSans-bold.fntdata"/><Relationship Id="rId14" Type="http://schemas.openxmlformats.org/officeDocument/2006/relationships/font" Target="fonts/OpenSans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8ad707812e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8ad707812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8ad707812e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ae5bae845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8ae5bae84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ae5bae845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8ae5bae845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ae5bae845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8ae5bae845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ad707812e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8ad707812e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8ad707812e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ad707812e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8ad707812e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8ad707812e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" name="Google Shape;21;p5"/>
          <p:cNvCxnSpPr/>
          <p:nvPr/>
        </p:nvCxnSpPr>
        <p:spPr>
          <a:xfrm>
            <a:off x="715890" y="1114050"/>
            <a:ext cx="0" cy="5735637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1" i="0" sz="6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5" name="Google Shape;35;p7"/>
          <p:cNvCxnSpPr/>
          <p:nvPr/>
        </p:nvCxnSpPr>
        <p:spPr>
          <a:xfrm>
            <a:off x="715890" y="1701425"/>
            <a:ext cx="0" cy="5148262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8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9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9" name="Google Shape;59;p10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4" name="Google Shape;64;p11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4318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2" name="Google Shape;72;p12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0" name="Google Shape;80;p13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7" name="Google Shape;87;p14"/>
          <p:cNvCxnSpPr/>
          <p:nvPr/>
        </p:nvCxnSpPr>
        <p:spPr>
          <a:xfrm>
            <a:off x="715890" y="356812"/>
            <a:ext cx="0" cy="6492875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4" name="Google Shape;94;p15"/>
          <p:cNvCxnSpPr/>
          <p:nvPr/>
        </p:nvCxnSpPr>
        <p:spPr>
          <a:xfrm flipH="1" rot="10800000">
            <a:off x="8313" y="261865"/>
            <a:ext cx="11353802" cy="1"/>
          </a:xfrm>
          <a:prstGeom prst="straightConnector1">
            <a:avLst/>
          </a:prstGeom>
          <a:noFill/>
          <a:ln cap="sq" cmpd="sng" w="25400">
            <a:solidFill>
              <a:schemeClr val="accent2"/>
            </a:solidFill>
            <a:prstDash val="solid"/>
            <a:bevel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4"/>
              </a:gs>
            </a:gsLst>
            <a:lin ang="189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 amt="35000"/>
          </a:blip>
          <a:srcRect b="15730" l="0" r="0" t="0"/>
          <a:stretch/>
        </p:blipFill>
        <p:spPr>
          <a:xfrm>
            <a:off x="20" y="-8877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>
            <p:ph type="ctrTitle"/>
          </p:nvPr>
        </p:nvSpPr>
        <p:spPr>
          <a:xfrm>
            <a:off x="1256275" y="2271449"/>
            <a:ext cx="9679449" cy="284705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"/>
              <a:buNone/>
            </a:pPr>
            <a:r>
              <a:rPr lang="en-US" sz="7200">
                <a:solidFill>
                  <a:srgbClr val="FFFFFF"/>
                </a:solidFill>
              </a:rPr>
              <a:t>進捗報告</a:t>
            </a:r>
            <a:endParaRPr/>
          </a:p>
        </p:txBody>
      </p:sp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1256275" y="5098254"/>
            <a:ext cx="9679449" cy="750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en-US">
                <a:solidFill>
                  <a:srgbClr val="FFFFFF"/>
                </a:solidFill>
              </a:rPr>
              <a:t>Al21120　三輪昇汰　2025/ 10/ 10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8878" y="806470"/>
            <a:ext cx="8453437" cy="0"/>
          </a:xfrm>
          <a:prstGeom prst="straightConnector1">
            <a:avLst/>
          </a:prstGeom>
          <a:noFill/>
          <a:ln cap="sq" cmpd="sng" w="254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</p:spPr>
      </p:cxnSp>
      <p:sp>
        <p:nvSpPr>
          <p:cNvPr id="105" name="Google Shape;105;p1"/>
          <p:cNvSpPr/>
          <p:nvPr/>
        </p:nvSpPr>
        <p:spPr>
          <a:xfrm>
            <a:off x="544954" y="2875093"/>
            <a:ext cx="139039" cy="139039"/>
          </a:xfrm>
          <a:custGeom>
            <a:rect b="b" l="l" r="r" t="t"/>
            <a:pathLst>
              <a:path extrusionOk="0" h="139039" w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903734" y="3104388"/>
            <a:ext cx="91138" cy="91138"/>
          </a:xfrm>
          <a:custGeom>
            <a:rect b="b" l="l" r="r" t="t"/>
            <a:pathLst>
              <a:path extrusionOk="0" h="91138" w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529414" y="3619532"/>
            <a:ext cx="127714" cy="127714"/>
          </a:xfrm>
          <a:custGeom>
            <a:rect b="b" l="l" r="r" t="t"/>
            <a:pathLst>
              <a:path extrusionOk="0" h="127714" w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今週の予定</a:t>
            </a:r>
            <a:endParaRPr/>
          </a:p>
        </p:txBody>
      </p:sp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508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ad707812e_0_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3" name="Google Shape;123;g38ad707812e_0_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4" name="Google Shape;124;g38ad707812e_0_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g38ad707812e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参考論文における学習の全体像</a:t>
            </a:r>
            <a:endParaRPr/>
          </a:p>
        </p:txBody>
      </p:sp>
      <p:sp>
        <p:nvSpPr>
          <p:cNvPr id="131" name="Google Shape;13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" name="Google Shape;132;p2"/>
          <p:cNvSpPr txBox="1"/>
          <p:nvPr>
            <p:ph idx="1" type="body"/>
          </p:nvPr>
        </p:nvSpPr>
        <p:spPr>
          <a:xfrm>
            <a:off x="838200" y="1825625"/>
            <a:ext cx="1051560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１. </a:t>
            </a:r>
            <a:r>
              <a:rPr b="1" lang="en-US"/>
              <a:t>Coherence</a:t>
            </a:r>
            <a:r>
              <a:rPr lang="en-US"/>
              <a:t> モデル(</a:t>
            </a:r>
            <a:r>
              <a:rPr b="1" lang="en-US"/>
              <a:t>一貫性 / 文脈つながり</a:t>
            </a:r>
            <a:r>
              <a:rPr lang="en-US"/>
              <a:t>)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事前学習済みモデルのNSP-BERT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「前の文と次の文が自然に続いているか」を学習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/>
              <a:t>2. </a:t>
            </a:r>
            <a:r>
              <a:rPr b="1" lang="en-US"/>
              <a:t>Topicモデル </a:t>
            </a:r>
            <a:r>
              <a:rPr lang="en-US"/>
              <a:t>(</a:t>
            </a:r>
            <a:r>
              <a:rPr b="1" lang="en-US"/>
              <a:t>トピック類似度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事前学習済みモデルのSimCSE-BERT で文ベクトルを作り、文間の距離を計算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「同じトピックの文は近く、違うトピックの文は遠く」なるように学習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ae5bae845_0_7"/>
          <p:cNvSpPr txBox="1"/>
          <p:nvPr>
            <p:ph type="title"/>
          </p:nvPr>
        </p:nvSpPr>
        <p:spPr>
          <a:xfrm>
            <a:off x="562895" y="410368"/>
            <a:ext cx="12779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正例ペア負例ペアのつくり方（ Coherence ）</a:t>
            </a:r>
            <a:endParaRPr/>
          </a:p>
        </p:txBody>
      </p:sp>
      <p:sp>
        <p:nvSpPr>
          <p:cNvPr id="138" name="Google Shape;138;g38ae5bae845_0_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Coherence モデル用の正例・負例ペア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正例ペア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→対象の発話 (context) + 本来の次の発話 (cur)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負例ペア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→対象の発話（context）+ ランダムにとってきた発話</a:t>
            </a:r>
            <a:endParaRPr/>
          </a:p>
        </p:txBody>
      </p:sp>
      <p:sp>
        <p:nvSpPr>
          <p:cNvPr id="139" name="Google Shape;139;g38ae5bae845_0_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ae5bae845_0_99"/>
          <p:cNvSpPr txBox="1"/>
          <p:nvPr>
            <p:ph type="title"/>
          </p:nvPr>
        </p:nvSpPr>
        <p:spPr>
          <a:xfrm>
            <a:off x="838199" y="365125"/>
            <a:ext cx="11157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正例ペア負例ペアのつくり方（ Topic ）</a:t>
            </a:r>
            <a:endParaRPr/>
          </a:p>
        </p:txBody>
      </p:sp>
      <p:sp>
        <p:nvSpPr>
          <p:cNvPr id="145" name="Google Shape;145;g38ae5bae845_0_9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Topic モデル用の正例・負例ペア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正例ペア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→対象文 + 同じ疑似セグメントに属する文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負例ペア</a:t>
            </a:r>
            <a:endParaRPr b="1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→対象文 ＋ 違う疑似セグメントに属する文</a:t>
            </a:r>
            <a:endParaRPr/>
          </a:p>
        </p:txBody>
      </p:sp>
      <p:sp>
        <p:nvSpPr>
          <p:cNvPr id="146" name="Google Shape;146;g38ae5bae845_0_9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8ae5bae845_1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疑似セグメント生成</a:t>
            </a:r>
            <a:endParaRPr/>
          </a:p>
        </p:txBody>
      </p:sp>
      <p:sp>
        <p:nvSpPr>
          <p:cNvPr id="152" name="Google Shape;152;g38ae5bae845_1_0"/>
          <p:cNvSpPr txBox="1"/>
          <p:nvPr>
            <p:ph idx="1" type="body"/>
          </p:nvPr>
        </p:nvSpPr>
        <p:spPr>
          <a:xfrm>
            <a:off x="703289" y="1343843"/>
            <a:ext cx="10515600" cy="55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/>
              <a:t>１．各発話を埋め込みベクトルに変換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/>
              <a:t>２．各発話において</a:t>
            </a:r>
            <a:r>
              <a:rPr b="1" lang="en-US" sz="2700"/>
              <a:t>左側の発話群</a:t>
            </a:r>
            <a:r>
              <a:rPr lang="en-US" sz="2700"/>
              <a:t> と </a:t>
            </a:r>
            <a:r>
              <a:rPr b="1" lang="en-US" sz="2700"/>
              <a:t>右側の発話群</a:t>
            </a:r>
            <a:r>
              <a:rPr lang="en-US" sz="2700"/>
              <a:t> のベクトルに変換しそれぞれ平均値をだす。</a:t>
            </a:r>
            <a:endParaRPr sz="27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-US" sz="2700"/>
              <a:t>※発話群とは対象文から前後２文をチャンク化したもの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/>
              <a:t>３．２で計算したベクトルの平均値のコサイン類似度を計算。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/>
              <a:t>４．コサイン類似度の</a:t>
            </a:r>
            <a:r>
              <a:rPr lang="en-US"/>
              <a:t>極小点（谷）を探索し、周囲との差（深さ）をスコア化</a:t>
            </a:r>
            <a:endParaRPr sz="27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en-US" sz="2700"/>
              <a:t>５．４の谷の深さが大きい順に</a:t>
            </a:r>
            <a:r>
              <a:rPr b="1" lang="en-US" sz="2700"/>
              <a:t>上位 k 個</a:t>
            </a:r>
            <a:r>
              <a:rPr lang="en-US" sz="2700"/>
              <a:t>を選びそこをセグメント境界とする。論文のコードのデフォルト値はk=5。</a:t>
            </a:r>
            <a:endParaRPr sz="2700"/>
          </a:p>
          <a:p>
            <a:pPr indent="-508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3" name="Google Shape;153;g38ae5bae845_1_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ad707812e_0_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0" name="Google Shape;160;g38ad707812e_0_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1" name="Google Shape;161;g38ad707812e_0_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2" name="Google Shape;162;g38ad707812e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ad707812e_0_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9" name="Google Shape;169;g38ad707812e_0_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0" name="Google Shape;170;g38ad707812e_0_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09725" spcFirstLastPara="1" rIns="109725" wrap="square" tIns="1097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g38ad707812e_0_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adientVTI">
  <a:themeElements>
    <a:clrScheme name="Office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2025-05-18T22:20:18Z</dcterms:created>
  <dc:creator>昇汰 三輪</dc:creator>
</cp:coreProperties>
</file>