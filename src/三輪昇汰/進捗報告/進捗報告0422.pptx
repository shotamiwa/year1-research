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
  </p:notesMasterIdLst>
  <p:sldIdLst>
    <p:sldId id="256" r:id="rId2"/>
    <p:sldId id="261" r:id="rId3"/>
    <p:sldId id="257" r:id="rId4"/>
    <p:sldId id="258" r:id="rId5"/>
    <p:sldId id="259"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0B3BC7-45BF-4246-9C7F-BAF60303AD55}" v="25" dt="2025-04-21T21:40:00.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55" d="100"/>
          <a:sy n="55" d="100"/>
        </p:scale>
        <p:origin x="11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30D6-ADBD-47F4-94F8-C85F55F39094}" type="datetimeFigureOut">
              <a:rPr kumimoji="1" lang="ja-JP" altLang="en-US" smtClean="0"/>
              <a:t>2025/4/22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FDF59E-4EC3-4DE9-B01D-FF5F18951231}" type="slidenum">
              <a:rPr kumimoji="1" lang="ja-JP" altLang="en-US" smtClean="0"/>
              <a:t>‹#›</a:t>
            </a:fld>
            <a:endParaRPr kumimoji="1" lang="ja-JP" altLang="en-US"/>
          </a:p>
        </p:txBody>
      </p:sp>
    </p:spTree>
    <p:extLst>
      <p:ext uri="{BB962C8B-B14F-4D97-AF65-F5344CB8AC3E}">
        <p14:creationId xmlns:p14="http://schemas.microsoft.com/office/powerpoint/2010/main" val="34611701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ja-JP" altLang="en-US"/>
              <a:t>マスター タイトルの書式設定</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26406C6-1AFE-44D5-95ED-A641B1DC90B3}" type="datetime1">
              <a:rPr kumimoji="1" lang="ja-JP" altLang="en-US" smtClean="0"/>
              <a:t>2025/4/22</a:t>
            </a:fld>
            <a:endParaRPr kumimoji="1" lang="ja-JP" alt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kumimoji="1" lang="ja-JP" alt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39138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1AD998E-0818-4B29-AB29-B21C05B14735}"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703317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96156DE-68F7-4FC5-808D-E957612046AC}"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475027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83962183-DAFC-44C5-B68B-4B20791AE946}" type="datetime1">
              <a:rPr kumimoji="1" lang="ja-JP" altLang="en-US" smtClean="0"/>
              <a:t>2025/4/22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759537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5FC4C19-D0F0-4AE4-81E3-BCF74726EA91}" type="datetime1">
              <a:rPr kumimoji="1" lang="ja-JP" altLang="en-US" smtClean="0"/>
              <a:t>2025/4/22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4001623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60405DE5-398A-472A-9B64-D6BFC5B37E18}" type="datetime1">
              <a:rPr kumimoji="1" lang="ja-JP" altLang="en-US" smtClean="0"/>
              <a:t>2025/4/22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4195949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CE68A-6352-4779-94B9-D8C33981C2D3}" type="datetime1">
              <a:rPr kumimoji="1" lang="ja-JP" altLang="en-US" smtClean="0"/>
              <a:t>2025/4/22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3105289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02ABDBC-C192-4ECD-BD01-A57B67E065B6}" type="datetime1">
              <a:rPr kumimoji="1" lang="ja-JP" altLang="en-US" smtClean="0"/>
              <a:t>2025/4/22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519055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ja-JP" altLang="en-US"/>
              <a:t>アイコンをクリックして図を追加</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DDEF169-1D37-4821-9F2A-EF8A165273C6}" type="datetime1">
              <a:rPr kumimoji="1" lang="ja-JP" altLang="en-US" smtClean="0"/>
              <a:t>2025/4/22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54830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86FC60-88B5-41C6-AD7A-09DCA7BAB89C}" type="datetime1">
              <a:rPr kumimoji="1" lang="ja-JP" altLang="en-US" smtClean="0"/>
              <a:t>2025/4/22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42051945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タイトルとキャプション">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ja-JP" altLang="en-US"/>
              <a:t>マスター タイトルの書式設定</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986FC60-88B5-41C6-AD7A-09DCA7BAB89C}"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70141807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引用 (キャプション付き)">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ja-JP" altLang="en-US"/>
              <a:t>マスター タイトルの書式設定</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986FC60-88B5-41C6-AD7A-09DCA7BAB89C}"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282584731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名札">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986FC60-88B5-41C6-AD7A-09DCA7BAB89C}"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255789219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986FC60-88B5-41C6-AD7A-09DCA7BAB89C}" type="datetime1">
              <a:rPr kumimoji="1" lang="ja-JP" altLang="en-US" smtClean="0"/>
              <a:t>2025/4/22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30043236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986FC60-88B5-41C6-AD7A-09DCA7BAB89C}" type="datetime1">
              <a:rPr kumimoji="1" lang="ja-JP" altLang="en-US" smtClean="0"/>
              <a:t>2025/4/22</a:t>
            </a:fld>
            <a:endParaRPr kumimoji="1" lang="ja-JP" altLang="en-US"/>
          </a:p>
        </p:txBody>
      </p:sp>
      <p:sp>
        <p:nvSpPr>
          <p:cNvPr id="8" name="Footer Placeholder 7"/>
          <p:cNvSpPr>
            <a:spLocks noGrp="1"/>
          </p:cNvSpPr>
          <p:nvPr>
            <p:ph type="ftr" sz="quarter" idx="11"/>
          </p:nvPr>
        </p:nvSpPr>
        <p:spPr>
          <a:xfrm>
            <a:off x="561111" y="6391838"/>
            <a:ext cx="3644282" cy="304801"/>
          </a:xfrm>
        </p:spPr>
        <p:txBody>
          <a:bodyPr/>
          <a:lstStyle/>
          <a:p>
            <a:endParaRPr kumimoji="1" lang="ja-JP" altLang="en-US"/>
          </a:p>
        </p:txBody>
      </p:sp>
      <p:sp>
        <p:nvSpPr>
          <p:cNvPr id="9" name="Slide Number Placeholder 8"/>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293269569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C40403F-CF6E-4516-AE02-A9AA873B1B49}"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4131102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9FDD8F3-B504-449E-A54C-49D8C24FA3FC}" type="datetime1">
              <a:rPr kumimoji="1" lang="ja-JP" altLang="en-US" smtClean="0"/>
              <a:t>2025/4/22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2101656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986FC60-88B5-41C6-AD7A-09DCA7BAB89C}" type="datetime1">
              <a:rPr kumimoji="1" lang="ja-JP" altLang="en-US" smtClean="0"/>
              <a:t>2025/4/22</a:t>
            </a:fld>
            <a:endParaRPr kumimoji="1" lang="ja-JP" alt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kumimoji="1" lang="ja-JP" alt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26089AE-5E57-4F1A-AEA9-F5625C5CEAD1}" type="slidenum">
              <a:rPr kumimoji="1" lang="ja-JP" altLang="en-US" smtClean="0"/>
              <a:t>‹#›</a:t>
            </a:fld>
            <a:endParaRPr kumimoji="1" lang="ja-JP" altLang="en-US"/>
          </a:p>
        </p:txBody>
      </p:sp>
    </p:spTree>
    <p:extLst>
      <p:ext uri="{BB962C8B-B14F-4D97-AF65-F5344CB8AC3E}">
        <p14:creationId xmlns:p14="http://schemas.microsoft.com/office/powerpoint/2010/main" val="120903613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hf hdr="0" ftr="0" dt="0"/>
  <p:txStyles>
    <p:titleStyle>
      <a:lvl1pPr algn="l" defTabSz="457200" rtl="0" eaLnBrk="1" latinLnBrk="0" hangingPunct="1">
        <a:spcBef>
          <a:spcPct val="0"/>
        </a:spcBef>
        <a:buNone/>
        <a:defRPr kumimoji="1" sz="3600" b="0" i="0" kern="1200">
          <a:solidFill>
            <a:schemeClr val="bg2"/>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killupai.com/blog/tech/mldl-tips-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B803B6-EDCC-8D72-EC9E-17D38298023F}"/>
              </a:ext>
            </a:extLst>
          </p:cNvPr>
          <p:cNvSpPr>
            <a:spLocks noGrp="1"/>
          </p:cNvSpPr>
          <p:nvPr>
            <p:ph type="ctrTitle"/>
          </p:nvPr>
        </p:nvSpPr>
        <p:spPr/>
        <p:txBody>
          <a:bodyPr/>
          <a:lstStyle/>
          <a:p>
            <a:r>
              <a:rPr kumimoji="1" lang="ja-JP" altLang="en-US" dirty="0"/>
              <a:t>進捗報告</a:t>
            </a:r>
          </a:p>
        </p:txBody>
      </p:sp>
      <p:sp>
        <p:nvSpPr>
          <p:cNvPr id="3" name="字幕 2">
            <a:extLst>
              <a:ext uri="{FF2B5EF4-FFF2-40B4-BE49-F238E27FC236}">
                <a16:creationId xmlns:a16="http://schemas.microsoft.com/office/drawing/2014/main" id="{FA9443CA-215E-B593-A2BD-69C5F25D1DC3}"/>
              </a:ext>
            </a:extLst>
          </p:cNvPr>
          <p:cNvSpPr>
            <a:spLocks noGrp="1"/>
          </p:cNvSpPr>
          <p:nvPr>
            <p:ph type="subTitle" idx="1"/>
          </p:nvPr>
        </p:nvSpPr>
        <p:spPr/>
        <p:txBody>
          <a:bodyPr/>
          <a:lstStyle/>
          <a:p>
            <a:r>
              <a:rPr kumimoji="1" lang="ja-JP" altLang="en-US" dirty="0"/>
              <a:t>三輪昇汰　４</a:t>
            </a:r>
            <a:r>
              <a:rPr kumimoji="1" lang="en-US" altLang="ja-JP" dirty="0"/>
              <a:t>/22</a:t>
            </a:r>
            <a:endParaRPr kumimoji="1" lang="ja-JP" altLang="en-US" dirty="0"/>
          </a:p>
        </p:txBody>
      </p:sp>
      <p:sp>
        <p:nvSpPr>
          <p:cNvPr id="4" name="スライド番号プレースホルダー 3">
            <a:extLst>
              <a:ext uri="{FF2B5EF4-FFF2-40B4-BE49-F238E27FC236}">
                <a16:creationId xmlns:a16="http://schemas.microsoft.com/office/drawing/2014/main" id="{BDA4E662-4FC8-21CC-9EDE-60DEDC37ACA0}"/>
              </a:ext>
            </a:extLst>
          </p:cNvPr>
          <p:cNvSpPr>
            <a:spLocks noGrp="1"/>
          </p:cNvSpPr>
          <p:nvPr>
            <p:ph type="sldNum" sz="quarter" idx="12"/>
          </p:nvPr>
        </p:nvSpPr>
        <p:spPr/>
        <p:txBody>
          <a:bodyPr/>
          <a:lstStyle/>
          <a:p>
            <a:fld id="{926089AE-5E57-4F1A-AEA9-F5625C5CEAD1}" type="slidenum">
              <a:rPr kumimoji="1" lang="ja-JP" altLang="en-US" smtClean="0"/>
              <a:t>1</a:t>
            </a:fld>
            <a:endParaRPr kumimoji="1" lang="ja-JP" altLang="en-US"/>
          </a:p>
        </p:txBody>
      </p:sp>
    </p:spTree>
    <p:extLst>
      <p:ext uri="{BB962C8B-B14F-4D97-AF65-F5344CB8AC3E}">
        <p14:creationId xmlns:p14="http://schemas.microsoft.com/office/powerpoint/2010/main" val="1660617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B67156-32ED-8D50-6BB8-5FF9F8FD8F5C}"/>
              </a:ext>
            </a:extLst>
          </p:cNvPr>
          <p:cNvSpPr>
            <a:spLocks noGrp="1"/>
          </p:cNvSpPr>
          <p:nvPr>
            <p:ph type="title"/>
          </p:nvPr>
        </p:nvSpPr>
        <p:spPr/>
        <p:txBody>
          <a:bodyPr/>
          <a:lstStyle/>
          <a:p>
            <a:r>
              <a:rPr kumimoji="1" lang="ja-JP" altLang="en-US" dirty="0"/>
              <a:t>進捗</a:t>
            </a:r>
          </a:p>
        </p:txBody>
      </p:sp>
      <p:sp>
        <p:nvSpPr>
          <p:cNvPr id="3" name="コンテンツ プレースホルダー 2">
            <a:extLst>
              <a:ext uri="{FF2B5EF4-FFF2-40B4-BE49-F238E27FC236}">
                <a16:creationId xmlns:a16="http://schemas.microsoft.com/office/drawing/2014/main" id="{9A8C0613-1F25-BE99-5E4B-91DDDD83718A}"/>
              </a:ext>
            </a:extLst>
          </p:cNvPr>
          <p:cNvSpPr>
            <a:spLocks noGrp="1"/>
          </p:cNvSpPr>
          <p:nvPr>
            <p:ph idx="1"/>
          </p:nvPr>
        </p:nvSpPr>
        <p:spPr/>
        <p:txBody>
          <a:bodyPr>
            <a:normAutofit/>
          </a:bodyPr>
          <a:lstStyle/>
          <a:p>
            <a:r>
              <a:rPr kumimoji="1" lang="ja-JP" altLang="en-US" sz="2400" dirty="0"/>
              <a:t>研究内容の方向性についてまとめた</a:t>
            </a:r>
          </a:p>
        </p:txBody>
      </p:sp>
      <p:sp>
        <p:nvSpPr>
          <p:cNvPr id="4" name="スライド番号プレースホルダー 3">
            <a:extLst>
              <a:ext uri="{FF2B5EF4-FFF2-40B4-BE49-F238E27FC236}">
                <a16:creationId xmlns:a16="http://schemas.microsoft.com/office/drawing/2014/main" id="{ECDF68E0-B16F-AB17-7B5B-ECC2A60DB59C}"/>
              </a:ext>
            </a:extLst>
          </p:cNvPr>
          <p:cNvSpPr>
            <a:spLocks noGrp="1"/>
          </p:cNvSpPr>
          <p:nvPr>
            <p:ph type="sldNum" sz="quarter" idx="12"/>
          </p:nvPr>
        </p:nvSpPr>
        <p:spPr/>
        <p:txBody>
          <a:bodyPr/>
          <a:lstStyle/>
          <a:p>
            <a:fld id="{926089AE-5E57-4F1A-AEA9-F5625C5CEAD1}" type="slidenum">
              <a:rPr kumimoji="1" lang="ja-JP" altLang="en-US" smtClean="0"/>
              <a:t>2</a:t>
            </a:fld>
            <a:endParaRPr kumimoji="1" lang="ja-JP" altLang="en-US"/>
          </a:p>
        </p:txBody>
      </p:sp>
    </p:spTree>
    <p:extLst>
      <p:ext uri="{BB962C8B-B14F-4D97-AF65-F5344CB8AC3E}">
        <p14:creationId xmlns:p14="http://schemas.microsoft.com/office/powerpoint/2010/main" val="975959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58A9FF-6500-3B34-8085-35C52A920038}"/>
              </a:ext>
            </a:extLst>
          </p:cNvPr>
          <p:cNvSpPr>
            <a:spLocks noGrp="1"/>
          </p:cNvSpPr>
          <p:nvPr>
            <p:ph type="title"/>
          </p:nvPr>
        </p:nvSpPr>
        <p:spPr/>
        <p:txBody>
          <a:bodyPr/>
          <a:lstStyle/>
          <a:p>
            <a:r>
              <a:rPr kumimoji="1" lang="ja-JP" altLang="en-US" dirty="0"/>
              <a:t>研究目標</a:t>
            </a:r>
          </a:p>
        </p:txBody>
      </p:sp>
      <p:sp>
        <p:nvSpPr>
          <p:cNvPr id="3" name="コンテンツ プレースホルダー 2">
            <a:extLst>
              <a:ext uri="{FF2B5EF4-FFF2-40B4-BE49-F238E27FC236}">
                <a16:creationId xmlns:a16="http://schemas.microsoft.com/office/drawing/2014/main" id="{5C25285F-4AFB-B257-D1B7-3A635D960F73}"/>
              </a:ext>
            </a:extLst>
          </p:cNvPr>
          <p:cNvSpPr>
            <a:spLocks noGrp="1"/>
          </p:cNvSpPr>
          <p:nvPr>
            <p:ph idx="1"/>
          </p:nvPr>
        </p:nvSpPr>
        <p:spPr/>
        <p:txBody>
          <a:bodyPr>
            <a:normAutofit/>
          </a:bodyPr>
          <a:lstStyle/>
          <a:p>
            <a:r>
              <a:rPr kumimoji="1" lang="ja-JP" altLang="en-US" sz="2400" b="1" dirty="0"/>
              <a:t>生配信動画からダイジェスト動画を生成</a:t>
            </a:r>
            <a:endParaRPr kumimoji="1" lang="en-US" altLang="ja-JP" sz="2400" b="1" dirty="0"/>
          </a:p>
          <a:p>
            <a:endParaRPr lang="en-US" altLang="ja-JP" sz="2400" dirty="0"/>
          </a:p>
          <a:p>
            <a:r>
              <a:rPr kumimoji="1" lang="ja-JP" altLang="en-US" sz="2400" dirty="0"/>
              <a:t>生配信（</a:t>
            </a:r>
            <a:r>
              <a:rPr kumimoji="1" lang="ja-JP" altLang="en-US" sz="2400" b="1" dirty="0">
                <a:solidFill>
                  <a:schemeClr val="accent4"/>
                </a:solidFill>
              </a:rPr>
              <a:t>雑談配信、ニュース</a:t>
            </a:r>
            <a:r>
              <a:rPr kumimoji="1" lang="ja-JP" altLang="en-US" sz="2400" dirty="0"/>
              <a:t>、</a:t>
            </a:r>
            <a:r>
              <a:rPr kumimoji="1" lang="ja-JP" altLang="en-US" sz="2400" b="1" dirty="0">
                <a:solidFill>
                  <a:schemeClr val="accent6"/>
                </a:solidFill>
              </a:rPr>
              <a:t>ゲーム配信、スポーツ配信</a:t>
            </a:r>
            <a:r>
              <a:rPr kumimoji="1" lang="ja-JP" altLang="en-US" sz="2400" dirty="0"/>
              <a:t>）</a:t>
            </a:r>
            <a:endParaRPr kumimoji="1" lang="en-US" altLang="ja-JP" sz="2400" dirty="0"/>
          </a:p>
          <a:p>
            <a:endParaRPr lang="en-US" altLang="ja-JP" sz="2400" dirty="0"/>
          </a:p>
          <a:p>
            <a:endParaRPr kumimoji="1" lang="en-US" altLang="ja-JP" sz="2400" dirty="0"/>
          </a:p>
          <a:p>
            <a:r>
              <a:rPr lang="ja-JP" altLang="en-US" sz="2400" dirty="0"/>
              <a:t>とりあえず</a:t>
            </a:r>
            <a:r>
              <a:rPr lang="ja-JP" altLang="en-US" sz="2400" b="1" dirty="0">
                <a:solidFill>
                  <a:schemeClr val="accent4"/>
                </a:solidFill>
              </a:rPr>
              <a:t>雑談配信</a:t>
            </a:r>
            <a:r>
              <a:rPr lang="ja-JP" altLang="en-US" sz="2400" dirty="0"/>
              <a:t>に絞ってダイジェスト動画を生成できるようにしたい</a:t>
            </a:r>
            <a:endParaRPr kumimoji="1" lang="ja-JP" altLang="en-US" sz="2400" dirty="0"/>
          </a:p>
        </p:txBody>
      </p:sp>
      <p:sp>
        <p:nvSpPr>
          <p:cNvPr id="4" name="スライド番号プレースホルダー 3">
            <a:extLst>
              <a:ext uri="{FF2B5EF4-FFF2-40B4-BE49-F238E27FC236}">
                <a16:creationId xmlns:a16="http://schemas.microsoft.com/office/drawing/2014/main" id="{BA2F136B-B4AE-A0D6-ACCD-F3167DB1D3F3}"/>
              </a:ext>
            </a:extLst>
          </p:cNvPr>
          <p:cNvSpPr>
            <a:spLocks noGrp="1"/>
          </p:cNvSpPr>
          <p:nvPr>
            <p:ph type="sldNum" sz="quarter" idx="12"/>
          </p:nvPr>
        </p:nvSpPr>
        <p:spPr/>
        <p:txBody>
          <a:bodyPr/>
          <a:lstStyle/>
          <a:p>
            <a:fld id="{926089AE-5E57-4F1A-AEA9-F5625C5CEAD1}" type="slidenum">
              <a:rPr kumimoji="1" lang="ja-JP" altLang="en-US" smtClean="0"/>
              <a:t>3</a:t>
            </a:fld>
            <a:endParaRPr kumimoji="1" lang="ja-JP" altLang="en-US"/>
          </a:p>
        </p:txBody>
      </p:sp>
      <p:sp>
        <p:nvSpPr>
          <p:cNvPr id="5" name="テキスト ボックス 4">
            <a:extLst>
              <a:ext uri="{FF2B5EF4-FFF2-40B4-BE49-F238E27FC236}">
                <a16:creationId xmlns:a16="http://schemas.microsoft.com/office/drawing/2014/main" id="{D0A07A4F-1BF4-FE0F-B7D5-DB077E346F0F}"/>
              </a:ext>
            </a:extLst>
          </p:cNvPr>
          <p:cNvSpPr txBox="1"/>
          <p:nvPr/>
        </p:nvSpPr>
        <p:spPr>
          <a:xfrm>
            <a:off x="2527492" y="4304348"/>
            <a:ext cx="3218688" cy="369332"/>
          </a:xfrm>
          <a:prstGeom prst="rect">
            <a:avLst/>
          </a:prstGeom>
          <a:noFill/>
        </p:spPr>
        <p:txBody>
          <a:bodyPr wrap="square" rtlCol="0">
            <a:spAutoFit/>
          </a:bodyPr>
          <a:lstStyle/>
          <a:p>
            <a:r>
              <a:rPr lang="ja-JP" altLang="en-US" b="1" dirty="0">
                <a:solidFill>
                  <a:schemeClr val="accent4"/>
                </a:solidFill>
              </a:rPr>
              <a:t>字幕データ</a:t>
            </a:r>
            <a:r>
              <a:rPr kumimoji="1" lang="ja-JP" altLang="en-US" b="1" dirty="0">
                <a:solidFill>
                  <a:schemeClr val="accent4"/>
                </a:solidFill>
              </a:rPr>
              <a:t>＋音声＋コメント</a:t>
            </a:r>
          </a:p>
        </p:txBody>
      </p:sp>
      <p:sp>
        <p:nvSpPr>
          <p:cNvPr id="6" name="テキスト ボックス 5">
            <a:extLst>
              <a:ext uri="{FF2B5EF4-FFF2-40B4-BE49-F238E27FC236}">
                <a16:creationId xmlns:a16="http://schemas.microsoft.com/office/drawing/2014/main" id="{B928C4FE-3338-70ED-90B4-66FCB94FA1C0}"/>
              </a:ext>
            </a:extLst>
          </p:cNvPr>
          <p:cNvSpPr txBox="1"/>
          <p:nvPr/>
        </p:nvSpPr>
        <p:spPr>
          <a:xfrm>
            <a:off x="6042599" y="4311650"/>
            <a:ext cx="3938014" cy="369332"/>
          </a:xfrm>
          <a:prstGeom prst="rect">
            <a:avLst/>
          </a:prstGeom>
          <a:noFill/>
        </p:spPr>
        <p:txBody>
          <a:bodyPr wrap="square" rtlCol="0">
            <a:spAutoFit/>
          </a:bodyPr>
          <a:lstStyle/>
          <a:p>
            <a:r>
              <a:rPr lang="ja-JP" altLang="en-US" b="1" dirty="0">
                <a:solidFill>
                  <a:schemeClr val="accent6"/>
                </a:solidFill>
              </a:rPr>
              <a:t>字幕データ＋音声＋コメント＋映像</a:t>
            </a:r>
            <a:endParaRPr kumimoji="1" lang="ja-JP" altLang="en-US" b="1" dirty="0">
              <a:solidFill>
                <a:schemeClr val="accent6"/>
              </a:solidFill>
            </a:endParaRPr>
          </a:p>
        </p:txBody>
      </p:sp>
      <p:sp>
        <p:nvSpPr>
          <p:cNvPr id="7" name="楕円 6">
            <a:extLst>
              <a:ext uri="{FF2B5EF4-FFF2-40B4-BE49-F238E27FC236}">
                <a16:creationId xmlns:a16="http://schemas.microsoft.com/office/drawing/2014/main" id="{06033EF1-717E-E9FD-1912-3A6F9B93EB33}"/>
              </a:ext>
            </a:extLst>
          </p:cNvPr>
          <p:cNvSpPr/>
          <p:nvPr/>
        </p:nvSpPr>
        <p:spPr>
          <a:xfrm>
            <a:off x="2438400" y="3398977"/>
            <a:ext cx="3364992" cy="722376"/>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8D0F18C1-E949-969D-CCAD-5622B756463F}"/>
              </a:ext>
            </a:extLst>
          </p:cNvPr>
          <p:cNvSpPr/>
          <p:nvPr/>
        </p:nvSpPr>
        <p:spPr>
          <a:xfrm>
            <a:off x="5746180" y="3374545"/>
            <a:ext cx="4007420" cy="771239"/>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37432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6A1508-E12C-A066-6D47-AEFAF16F5AB1}"/>
              </a:ext>
            </a:extLst>
          </p:cNvPr>
          <p:cNvSpPr>
            <a:spLocks noGrp="1"/>
          </p:cNvSpPr>
          <p:nvPr>
            <p:ph type="title"/>
          </p:nvPr>
        </p:nvSpPr>
        <p:spPr/>
        <p:txBody>
          <a:bodyPr/>
          <a:lstStyle/>
          <a:p>
            <a:r>
              <a:rPr kumimoji="1" lang="ja-JP" altLang="en-US" dirty="0"/>
              <a:t>ダイジェスト</a:t>
            </a:r>
            <a:r>
              <a:rPr lang="ja-JP" altLang="en-US" dirty="0"/>
              <a:t>動画</a:t>
            </a:r>
            <a:r>
              <a:rPr kumimoji="1" lang="ja-JP" altLang="en-US" dirty="0"/>
              <a:t>について（雑談）</a:t>
            </a:r>
          </a:p>
        </p:txBody>
      </p:sp>
      <p:sp>
        <p:nvSpPr>
          <p:cNvPr id="3" name="コンテンツ プレースホルダー 2">
            <a:extLst>
              <a:ext uri="{FF2B5EF4-FFF2-40B4-BE49-F238E27FC236}">
                <a16:creationId xmlns:a16="http://schemas.microsoft.com/office/drawing/2014/main" id="{162CF976-6FD8-33D5-D236-11B10ECE20E2}"/>
              </a:ext>
            </a:extLst>
          </p:cNvPr>
          <p:cNvSpPr>
            <a:spLocks noGrp="1"/>
          </p:cNvSpPr>
          <p:nvPr>
            <p:ph idx="1"/>
          </p:nvPr>
        </p:nvSpPr>
        <p:spPr>
          <a:xfrm>
            <a:off x="1410986" y="2102272"/>
            <a:ext cx="8825659" cy="3416300"/>
          </a:xfrm>
        </p:spPr>
        <p:txBody>
          <a:bodyPr>
            <a:noAutofit/>
          </a:bodyPr>
          <a:lstStyle/>
          <a:p>
            <a:pPr marL="0" indent="0">
              <a:buNone/>
            </a:pPr>
            <a:endParaRPr lang="en-US" altLang="ja-JP" sz="2400" dirty="0"/>
          </a:p>
          <a:p>
            <a:r>
              <a:rPr lang="ja-JP" altLang="en-US" sz="2400" dirty="0"/>
              <a:t>ダイジェスト動画とは→特に盛り上がった話題をつなぎ合わせた１つの動画</a:t>
            </a:r>
            <a:endParaRPr lang="en-US" altLang="ja-JP" sz="2400" dirty="0"/>
          </a:p>
          <a:p>
            <a:endParaRPr lang="en-US" altLang="ja-JP" sz="2400" dirty="0"/>
          </a:p>
          <a:p>
            <a:r>
              <a:rPr kumimoji="1" lang="ja-JP" altLang="en-US" sz="2400" dirty="0"/>
              <a:t>雑談　→　話題</a:t>
            </a:r>
            <a:r>
              <a:rPr kumimoji="1" lang="en-US" altLang="ja-JP" sz="2400" dirty="0"/>
              <a:t>A</a:t>
            </a:r>
            <a:r>
              <a:rPr kumimoji="1" lang="ja-JP" altLang="en-US" sz="2400" dirty="0"/>
              <a:t>　＋　話題</a:t>
            </a:r>
            <a:r>
              <a:rPr kumimoji="1" lang="en-US" altLang="ja-JP" sz="2400" dirty="0"/>
              <a:t>B</a:t>
            </a:r>
            <a:r>
              <a:rPr kumimoji="1" lang="ja-JP" altLang="en-US" sz="2400" dirty="0"/>
              <a:t>　＋　話題</a:t>
            </a:r>
            <a:r>
              <a:rPr kumimoji="1" lang="en-US" altLang="ja-JP" sz="2400" dirty="0"/>
              <a:t>C</a:t>
            </a:r>
            <a:r>
              <a:rPr kumimoji="1" lang="ja-JP" altLang="en-US" sz="2400" dirty="0"/>
              <a:t>　＋　・・・</a:t>
            </a:r>
            <a:endParaRPr lang="en-US" altLang="ja-JP" sz="2400" dirty="0"/>
          </a:p>
          <a:p>
            <a:endParaRPr lang="en-US" altLang="ja-JP" sz="2400" dirty="0"/>
          </a:p>
          <a:p>
            <a:r>
              <a:rPr lang="ja-JP" altLang="en-US" sz="2400" dirty="0"/>
              <a:t>１つの配信から話題ごとに抽出</a:t>
            </a:r>
            <a:endParaRPr lang="en-US" altLang="ja-JP" sz="2400" dirty="0"/>
          </a:p>
          <a:p>
            <a:pPr marL="0" indent="0">
              <a:buNone/>
            </a:pPr>
            <a:r>
              <a:rPr lang="ja-JP" altLang="en-US" sz="2400" dirty="0"/>
              <a:t>→コメントの盛り上がり具合（コメント数）と発話主の音声データの情報（ピッチ変動）を比較しダイジェストに含める話題のセグメントを決定する。</a:t>
            </a:r>
            <a:br>
              <a:rPr lang="en-US" altLang="ja-JP" sz="2400" dirty="0"/>
            </a:br>
            <a:endParaRPr kumimoji="1" lang="en-US" altLang="ja-JP" sz="2400" dirty="0"/>
          </a:p>
        </p:txBody>
      </p:sp>
      <p:sp>
        <p:nvSpPr>
          <p:cNvPr id="4" name="スライド番号プレースホルダー 3">
            <a:extLst>
              <a:ext uri="{FF2B5EF4-FFF2-40B4-BE49-F238E27FC236}">
                <a16:creationId xmlns:a16="http://schemas.microsoft.com/office/drawing/2014/main" id="{88C3FDD9-92F8-BE9A-A83D-05FB004F2204}"/>
              </a:ext>
            </a:extLst>
          </p:cNvPr>
          <p:cNvSpPr>
            <a:spLocks noGrp="1"/>
          </p:cNvSpPr>
          <p:nvPr>
            <p:ph type="sldNum" sz="quarter" idx="12"/>
          </p:nvPr>
        </p:nvSpPr>
        <p:spPr/>
        <p:txBody>
          <a:bodyPr/>
          <a:lstStyle/>
          <a:p>
            <a:fld id="{926089AE-5E57-4F1A-AEA9-F5625C5CEAD1}" type="slidenum">
              <a:rPr kumimoji="1" lang="ja-JP" altLang="en-US" smtClean="0"/>
              <a:t>4</a:t>
            </a:fld>
            <a:endParaRPr kumimoji="1" lang="ja-JP" altLang="en-US"/>
          </a:p>
        </p:txBody>
      </p:sp>
    </p:spTree>
    <p:extLst>
      <p:ext uri="{BB962C8B-B14F-4D97-AF65-F5344CB8AC3E}">
        <p14:creationId xmlns:p14="http://schemas.microsoft.com/office/powerpoint/2010/main" val="3210923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4160DC-C47C-9250-A597-DC8190D1FA82}"/>
              </a:ext>
            </a:extLst>
          </p:cNvPr>
          <p:cNvSpPr>
            <a:spLocks noGrp="1"/>
          </p:cNvSpPr>
          <p:nvPr>
            <p:ph type="title"/>
          </p:nvPr>
        </p:nvSpPr>
        <p:spPr/>
        <p:txBody>
          <a:bodyPr/>
          <a:lstStyle/>
          <a:p>
            <a:r>
              <a:rPr kumimoji="1" lang="ja-JP" altLang="en-US" dirty="0"/>
              <a:t>話題遷移の検出について</a:t>
            </a:r>
          </a:p>
        </p:txBody>
      </p:sp>
      <p:sp>
        <p:nvSpPr>
          <p:cNvPr id="3" name="コンテンツ プレースホルダー 2">
            <a:extLst>
              <a:ext uri="{FF2B5EF4-FFF2-40B4-BE49-F238E27FC236}">
                <a16:creationId xmlns:a16="http://schemas.microsoft.com/office/drawing/2014/main" id="{790E4C38-6C66-916D-4EB7-6ED2D0507F4D}"/>
              </a:ext>
            </a:extLst>
          </p:cNvPr>
          <p:cNvSpPr>
            <a:spLocks noGrp="1"/>
          </p:cNvSpPr>
          <p:nvPr>
            <p:ph idx="1"/>
          </p:nvPr>
        </p:nvSpPr>
        <p:spPr>
          <a:xfrm>
            <a:off x="508778" y="2579116"/>
            <a:ext cx="8825659" cy="3416300"/>
          </a:xfrm>
        </p:spPr>
        <p:txBody>
          <a:bodyPr>
            <a:noAutofit/>
          </a:bodyPr>
          <a:lstStyle/>
          <a:p>
            <a:r>
              <a:rPr kumimoji="1" lang="ja-JP" altLang="en-US" sz="2000" dirty="0"/>
              <a:t>教師あり学習で話題遷移検出</a:t>
            </a:r>
            <a:endParaRPr kumimoji="1" lang="en-US" altLang="ja-JP" sz="2000" dirty="0"/>
          </a:p>
          <a:p>
            <a:r>
              <a:rPr lang="ja-JP" altLang="en-US" sz="2000" dirty="0"/>
              <a:t>入力：配信の文字起こしされたテキスト（</a:t>
            </a:r>
            <a:r>
              <a:rPr lang="en-US" altLang="ja-JP" sz="2000" dirty="0" err="1"/>
              <a:t>Youtube</a:t>
            </a:r>
            <a:r>
              <a:rPr lang="ja-JP" altLang="en-US" sz="2000" dirty="0"/>
              <a:t>の自動字幕テキスト）</a:t>
            </a:r>
            <a:endParaRPr lang="en-US" altLang="ja-JP" sz="2000" dirty="0"/>
          </a:p>
          <a:p>
            <a:r>
              <a:rPr lang="ja-JP" altLang="en-US" sz="2000" dirty="0"/>
              <a:t>出力：</a:t>
            </a:r>
            <a:r>
              <a:rPr lang="en-US" altLang="ja-JP" sz="2000" dirty="0" err="1"/>
              <a:t>Youtube</a:t>
            </a:r>
            <a:r>
              <a:rPr lang="ja-JP" altLang="en-US" sz="2000" dirty="0"/>
              <a:t>から得られた配信のタイムスタンプに対して「トピックが変わったかどうか」のラベル（例：</a:t>
            </a:r>
            <a:r>
              <a:rPr lang="en-US" altLang="ja-JP" sz="2000" dirty="0"/>
              <a:t>0 or 1</a:t>
            </a:r>
            <a:r>
              <a:rPr lang="ja-JP" altLang="en-US" sz="2000" dirty="0"/>
              <a:t>）</a:t>
            </a:r>
            <a:endParaRPr lang="en-US" altLang="ja-JP" sz="2000" dirty="0"/>
          </a:p>
          <a:p>
            <a:r>
              <a:rPr lang="ja-JP" altLang="en-US" sz="2000" dirty="0"/>
              <a:t>学習</a:t>
            </a:r>
            <a:r>
              <a:rPr kumimoji="1" lang="ja-JP" altLang="en-US" sz="2000" dirty="0"/>
              <a:t>データのつくり方</a:t>
            </a:r>
            <a:endParaRPr kumimoji="1" lang="en-US" altLang="ja-JP" sz="2000" dirty="0"/>
          </a:p>
          <a:p>
            <a:pPr marL="0" indent="0">
              <a:buNone/>
            </a:pPr>
            <a:r>
              <a:rPr lang="ja-JP" altLang="en-US" sz="2000" dirty="0"/>
              <a:t>配信の字幕テキスト</a:t>
            </a:r>
            <a:r>
              <a:rPr lang="en-US" altLang="ja-JP" sz="2000" dirty="0"/>
              <a:t>+</a:t>
            </a:r>
            <a:r>
              <a:rPr lang="ja-JP" altLang="en-US" sz="2000" dirty="0"/>
              <a:t>話題が変わったところにラベル付け＋話題セグメントごとにトピック名をつける。</a:t>
            </a:r>
            <a:endParaRPr lang="en-US" altLang="ja-JP" sz="2000" dirty="0"/>
          </a:p>
          <a:p>
            <a:pPr marL="0" indent="0">
              <a:buNone/>
            </a:pPr>
            <a:r>
              <a:rPr kumimoji="1" lang="ja-JP" altLang="en-US" sz="2000" dirty="0"/>
              <a:t>→</a:t>
            </a:r>
            <a:r>
              <a:rPr lang="en-US" altLang="ja-JP" sz="2000" dirty="0" err="1"/>
              <a:t>Y</a:t>
            </a:r>
            <a:r>
              <a:rPr kumimoji="1" lang="en-US" altLang="ja-JP" sz="2000" dirty="0" err="1"/>
              <a:t>outube</a:t>
            </a:r>
            <a:r>
              <a:rPr kumimoji="1" lang="ja-JP" altLang="en-US" sz="2000" dirty="0"/>
              <a:t>のコメント欄に視聴者がタイムスタンプを投稿している配信が多数あったためそれを利用する</a:t>
            </a:r>
          </a:p>
        </p:txBody>
      </p:sp>
      <p:sp>
        <p:nvSpPr>
          <p:cNvPr id="4" name="スライド番号プレースホルダー 3">
            <a:extLst>
              <a:ext uri="{FF2B5EF4-FFF2-40B4-BE49-F238E27FC236}">
                <a16:creationId xmlns:a16="http://schemas.microsoft.com/office/drawing/2014/main" id="{F0117474-9201-F085-F909-EAA278C251B8}"/>
              </a:ext>
            </a:extLst>
          </p:cNvPr>
          <p:cNvSpPr>
            <a:spLocks noGrp="1"/>
          </p:cNvSpPr>
          <p:nvPr>
            <p:ph type="sldNum" sz="quarter" idx="12"/>
          </p:nvPr>
        </p:nvSpPr>
        <p:spPr/>
        <p:txBody>
          <a:bodyPr/>
          <a:lstStyle/>
          <a:p>
            <a:fld id="{926089AE-5E57-4F1A-AEA9-F5625C5CEAD1}" type="slidenum">
              <a:rPr kumimoji="1" lang="ja-JP" altLang="en-US" smtClean="0"/>
              <a:t>5</a:t>
            </a:fld>
            <a:endParaRPr kumimoji="1" lang="ja-JP" altLang="en-US"/>
          </a:p>
        </p:txBody>
      </p:sp>
      <p:pic>
        <p:nvPicPr>
          <p:cNvPr id="6" name="図 5">
            <a:extLst>
              <a:ext uri="{FF2B5EF4-FFF2-40B4-BE49-F238E27FC236}">
                <a16:creationId xmlns:a16="http://schemas.microsoft.com/office/drawing/2014/main" id="{9DDD6B24-A333-42FF-B496-C94E26A2C40D}"/>
              </a:ext>
            </a:extLst>
          </p:cNvPr>
          <p:cNvPicPr>
            <a:picLocks noChangeAspect="1"/>
          </p:cNvPicPr>
          <p:nvPr/>
        </p:nvPicPr>
        <p:blipFill>
          <a:blip r:embed="rId2"/>
          <a:srcRect l="-1156" t="-9220" r="123" b="59784"/>
          <a:stretch/>
        </p:blipFill>
        <p:spPr>
          <a:xfrm>
            <a:off x="9517677" y="4224455"/>
            <a:ext cx="2801549" cy="2337816"/>
          </a:xfrm>
          <a:prstGeom prst="rect">
            <a:avLst/>
          </a:prstGeom>
        </p:spPr>
      </p:pic>
      <p:sp>
        <p:nvSpPr>
          <p:cNvPr id="11" name="矢印: 右 10">
            <a:extLst>
              <a:ext uri="{FF2B5EF4-FFF2-40B4-BE49-F238E27FC236}">
                <a16:creationId xmlns:a16="http://schemas.microsoft.com/office/drawing/2014/main" id="{3F32B962-6821-D58C-CFA8-BEF05F7E839E}"/>
              </a:ext>
            </a:extLst>
          </p:cNvPr>
          <p:cNvSpPr/>
          <p:nvPr/>
        </p:nvSpPr>
        <p:spPr>
          <a:xfrm>
            <a:off x="9112663" y="5576484"/>
            <a:ext cx="443547" cy="4189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1509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9A737E-C60D-1074-460F-EE07AABAD533}"/>
              </a:ext>
            </a:extLst>
          </p:cNvPr>
          <p:cNvSpPr>
            <a:spLocks noGrp="1"/>
          </p:cNvSpPr>
          <p:nvPr>
            <p:ph type="title"/>
          </p:nvPr>
        </p:nvSpPr>
        <p:spPr>
          <a:xfrm>
            <a:off x="935030" y="937400"/>
            <a:ext cx="10255709" cy="567163"/>
          </a:xfrm>
        </p:spPr>
        <p:txBody>
          <a:bodyPr>
            <a:normAutofit fontScale="90000"/>
          </a:bodyPr>
          <a:lstStyle/>
          <a:p>
            <a:r>
              <a:rPr lang="ja-JP" altLang="en-US" dirty="0"/>
              <a:t>関連研究調査</a:t>
            </a:r>
            <a:endParaRPr kumimoji="1" lang="ja-JP" altLang="en-US" dirty="0"/>
          </a:p>
        </p:txBody>
      </p:sp>
      <p:sp>
        <p:nvSpPr>
          <p:cNvPr id="3" name="コンテンツ プレースホルダー 2">
            <a:extLst>
              <a:ext uri="{FF2B5EF4-FFF2-40B4-BE49-F238E27FC236}">
                <a16:creationId xmlns:a16="http://schemas.microsoft.com/office/drawing/2014/main" id="{E2F9DC4C-7913-9164-A37B-DD6846252F60}"/>
              </a:ext>
            </a:extLst>
          </p:cNvPr>
          <p:cNvSpPr>
            <a:spLocks noGrp="1"/>
          </p:cNvSpPr>
          <p:nvPr>
            <p:ph idx="1"/>
          </p:nvPr>
        </p:nvSpPr>
        <p:spPr/>
        <p:txBody>
          <a:bodyPr>
            <a:normAutofit fontScale="92500"/>
          </a:bodyPr>
          <a:lstStyle/>
          <a:p>
            <a:r>
              <a:rPr lang="ja-JP" altLang="en-US" b="1" dirty="0"/>
              <a:t>教師なし動画要約</a:t>
            </a:r>
            <a:endParaRPr lang="en-US" altLang="ja-JP" b="1" dirty="0"/>
          </a:p>
          <a:p>
            <a:r>
              <a:rPr kumimoji="1" lang="ja-JP" altLang="en-US" b="1" dirty="0"/>
              <a:t>手法：</a:t>
            </a:r>
            <a:r>
              <a:rPr kumimoji="1" lang="en-US" altLang="ja-JP" b="1" dirty="0"/>
              <a:t>GAN</a:t>
            </a:r>
            <a:r>
              <a:rPr kumimoji="1" lang="ja-JP" altLang="en-US" b="1" dirty="0"/>
              <a:t>（敵対的生成ネットワーク）を応用</a:t>
            </a:r>
            <a:endParaRPr kumimoji="1" lang="en-US" altLang="ja-JP" b="1" dirty="0"/>
          </a:p>
          <a:p>
            <a:pPr marL="0" indent="0">
              <a:buNone/>
            </a:pPr>
            <a:endParaRPr kumimoji="1" lang="en-US" altLang="ja-JP" b="1" dirty="0"/>
          </a:p>
          <a:p>
            <a:pPr marL="0" indent="0">
              <a:buNone/>
            </a:pPr>
            <a:r>
              <a:rPr kumimoji="1" lang="ja-JP" altLang="en-US" b="1" dirty="0"/>
              <a:t>                            重要フレーム選択→　意味のあるまとまりに切り出す　→　動画の連結</a:t>
            </a:r>
            <a:endParaRPr kumimoji="1" lang="en-US" altLang="ja-JP" b="1" dirty="0"/>
          </a:p>
          <a:p>
            <a:pPr marL="0" indent="0">
              <a:buNone/>
            </a:pPr>
            <a:endParaRPr kumimoji="1" lang="en-US" altLang="ja-JP" b="1" dirty="0"/>
          </a:p>
          <a:p>
            <a:pPr marL="0" indent="0">
              <a:buNone/>
            </a:pPr>
            <a:r>
              <a:rPr kumimoji="1" lang="ja-JP" altLang="en-US" b="1" dirty="0"/>
              <a:t>例）</a:t>
            </a:r>
            <a:r>
              <a:rPr lang="ja-JP" altLang="en-US" b="1" dirty="0"/>
              <a:t>入力動画</a:t>
            </a:r>
            <a:r>
              <a:rPr lang="en-US" altLang="ja-JP" dirty="0"/>
              <a:t>: </a:t>
            </a:r>
            <a:r>
              <a:rPr lang="ja-JP" altLang="en-US" dirty="0"/>
              <a:t>サッカー試合（</a:t>
            </a:r>
            <a:r>
              <a:rPr lang="en-US" altLang="ja-JP" dirty="0"/>
              <a:t>60</a:t>
            </a:r>
            <a:r>
              <a:rPr lang="ja-JP" altLang="en-US" dirty="0"/>
              <a:t>秒）→</a:t>
            </a:r>
            <a:endParaRPr kumimoji="1" lang="en-US" altLang="ja-JP" b="1" dirty="0"/>
          </a:p>
          <a:p>
            <a:pPr marL="0" indent="0">
              <a:buNone/>
            </a:pPr>
            <a:endParaRPr kumimoji="1" lang="en-US" altLang="ja-JP" b="1" dirty="0"/>
          </a:p>
          <a:p>
            <a:pPr marL="0" indent="0">
              <a:buNone/>
            </a:pPr>
            <a:r>
              <a:rPr lang="en-US" altLang="ja-JP" b="1" dirty="0"/>
              <a:t>GAN</a:t>
            </a:r>
            <a:r>
              <a:rPr lang="ja-JP" altLang="en-US" b="1" dirty="0"/>
              <a:t>では本来ピクセルレベルでデータを扱うが、関連研究では動画要約のためのフレーム選択が目的のため特徴量（ベクトル）で扱ったため計算コストが低い</a:t>
            </a:r>
            <a:endParaRPr lang="en-US" altLang="ja-JP" b="1" dirty="0"/>
          </a:p>
          <a:p>
            <a:pPr marL="0" indent="0">
              <a:buNone/>
            </a:pPr>
            <a:endParaRPr lang="en-US" altLang="ja-JP" b="1" dirty="0"/>
          </a:p>
        </p:txBody>
      </p:sp>
      <p:sp>
        <p:nvSpPr>
          <p:cNvPr id="4" name="スライド番号プレースホルダー 3">
            <a:extLst>
              <a:ext uri="{FF2B5EF4-FFF2-40B4-BE49-F238E27FC236}">
                <a16:creationId xmlns:a16="http://schemas.microsoft.com/office/drawing/2014/main" id="{31185AF9-2237-E282-2EDD-0FB2D84683B2}"/>
              </a:ext>
            </a:extLst>
          </p:cNvPr>
          <p:cNvSpPr>
            <a:spLocks noGrp="1"/>
          </p:cNvSpPr>
          <p:nvPr>
            <p:ph type="sldNum" sz="quarter" idx="12"/>
          </p:nvPr>
        </p:nvSpPr>
        <p:spPr/>
        <p:txBody>
          <a:bodyPr/>
          <a:lstStyle/>
          <a:p>
            <a:fld id="{926089AE-5E57-4F1A-AEA9-F5625C5CEAD1}" type="slidenum">
              <a:rPr kumimoji="1" lang="ja-JP" altLang="en-US" smtClean="0"/>
              <a:t>6</a:t>
            </a:fld>
            <a:endParaRPr kumimoji="1" lang="ja-JP" altLang="en-US"/>
          </a:p>
        </p:txBody>
      </p:sp>
      <p:sp>
        <p:nvSpPr>
          <p:cNvPr id="8" name="テキスト ボックス 7">
            <a:hlinkClick r:id="rId2"/>
            <a:extLst>
              <a:ext uri="{FF2B5EF4-FFF2-40B4-BE49-F238E27FC236}">
                <a16:creationId xmlns:a16="http://schemas.microsoft.com/office/drawing/2014/main" id="{55260135-C7E5-310E-156C-A9F029322AF5}"/>
              </a:ext>
            </a:extLst>
          </p:cNvPr>
          <p:cNvSpPr txBox="1"/>
          <p:nvPr/>
        </p:nvSpPr>
        <p:spPr>
          <a:xfrm>
            <a:off x="6516251" y="6497215"/>
            <a:ext cx="6096000" cy="369332"/>
          </a:xfrm>
          <a:prstGeom prst="rect">
            <a:avLst/>
          </a:prstGeom>
          <a:noFill/>
        </p:spPr>
        <p:txBody>
          <a:bodyPr wrap="square">
            <a:spAutoFit/>
          </a:bodyPr>
          <a:lstStyle/>
          <a:p>
            <a:r>
              <a:rPr lang="ja-JP" altLang="en-US" dirty="0"/>
              <a:t>https://www.skillupai.com/blog/tech/mldl-tips-1/</a:t>
            </a:r>
          </a:p>
        </p:txBody>
      </p:sp>
      <p:sp>
        <p:nvSpPr>
          <p:cNvPr id="11" name="テキスト ボックス 10">
            <a:extLst>
              <a:ext uri="{FF2B5EF4-FFF2-40B4-BE49-F238E27FC236}">
                <a16:creationId xmlns:a16="http://schemas.microsoft.com/office/drawing/2014/main" id="{329C8A97-706B-7AE9-CFDD-AAA2688367B2}"/>
              </a:ext>
            </a:extLst>
          </p:cNvPr>
          <p:cNvSpPr txBox="1"/>
          <p:nvPr/>
        </p:nvSpPr>
        <p:spPr>
          <a:xfrm>
            <a:off x="5027867" y="6521486"/>
            <a:ext cx="1653017" cy="369332"/>
          </a:xfrm>
          <a:prstGeom prst="rect">
            <a:avLst/>
          </a:prstGeom>
          <a:noFill/>
        </p:spPr>
        <p:txBody>
          <a:bodyPr wrap="none" rtlCol="0">
            <a:spAutoFit/>
          </a:bodyPr>
          <a:lstStyle/>
          <a:p>
            <a:r>
              <a:rPr kumimoji="1" lang="en-US" altLang="ja-JP" dirty="0"/>
              <a:t>GAN</a:t>
            </a:r>
            <a:r>
              <a:rPr kumimoji="1" lang="ja-JP" altLang="en-US" dirty="0"/>
              <a:t>について</a:t>
            </a:r>
          </a:p>
        </p:txBody>
      </p:sp>
      <p:sp>
        <p:nvSpPr>
          <p:cNvPr id="12" name="テキスト ボックス 11">
            <a:extLst>
              <a:ext uri="{FF2B5EF4-FFF2-40B4-BE49-F238E27FC236}">
                <a16:creationId xmlns:a16="http://schemas.microsoft.com/office/drawing/2014/main" id="{531EA097-45D4-505A-0C15-186A97F89BBC}"/>
              </a:ext>
            </a:extLst>
          </p:cNvPr>
          <p:cNvSpPr txBox="1"/>
          <p:nvPr/>
        </p:nvSpPr>
        <p:spPr>
          <a:xfrm>
            <a:off x="5331992" y="4307307"/>
            <a:ext cx="3836209" cy="800219"/>
          </a:xfrm>
          <a:prstGeom prst="rect">
            <a:avLst/>
          </a:prstGeom>
          <a:noFill/>
        </p:spPr>
        <p:txBody>
          <a:bodyPr wrap="square" rtlCol="0">
            <a:spAutoFit/>
          </a:bodyPr>
          <a:lstStyle/>
          <a:p>
            <a:r>
              <a:rPr lang="ja-JP" altLang="en-US" sz="1400" dirty="0"/>
              <a:t>フレーム</a:t>
            </a:r>
            <a:r>
              <a:rPr lang="en-US" altLang="ja-JP" sz="1400" dirty="0"/>
              <a:t>45</a:t>
            </a:r>
            <a:r>
              <a:rPr lang="ja-JP" altLang="en-US" sz="1400" dirty="0"/>
              <a:t>（ゴール瞬間）→ スコア</a:t>
            </a:r>
            <a:r>
              <a:rPr lang="en-US" altLang="ja-JP" sz="1400" dirty="0"/>
              <a:t>0.95</a:t>
            </a:r>
          </a:p>
          <a:p>
            <a:r>
              <a:rPr lang="ja-JP" altLang="en-US" sz="1400" dirty="0"/>
              <a:t>フレーム</a:t>
            </a:r>
            <a:r>
              <a:rPr lang="en-US" altLang="ja-JP" sz="1400" dirty="0"/>
              <a:t>20</a:t>
            </a:r>
            <a:r>
              <a:rPr lang="ja-JP" altLang="en-US" sz="1400" dirty="0"/>
              <a:t>（選手のドリブル）→ スコア</a:t>
            </a:r>
            <a:r>
              <a:rPr lang="en-US" altLang="ja-JP" sz="1400" dirty="0"/>
              <a:t>0.8</a:t>
            </a:r>
          </a:p>
          <a:p>
            <a:endParaRPr kumimoji="1" lang="ja-JP" altLang="en-US" dirty="0"/>
          </a:p>
        </p:txBody>
      </p:sp>
      <p:sp>
        <p:nvSpPr>
          <p:cNvPr id="14" name="テキスト ボックス 13">
            <a:extLst>
              <a:ext uri="{FF2B5EF4-FFF2-40B4-BE49-F238E27FC236}">
                <a16:creationId xmlns:a16="http://schemas.microsoft.com/office/drawing/2014/main" id="{CE945C97-9F26-0802-98A5-00A93AB7665A}"/>
              </a:ext>
            </a:extLst>
          </p:cNvPr>
          <p:cNvSpPr txBox="1"/>
          <p:nvPr/>
        </p:nvSpPr>
        <p:spPr>
          <a:xfrm>
            <a:off x="9057209" y="4307307"/>
            <a:ext cx="3428859" cy="584775"/>
          </a:xfrm>
          <a:prstGeom prst="rect">
            <a:avLst/>
          </a:prstGeom>
          <a:noFill/>
        </p:spPr>
        <p:txBody>
          <a:bodyPr wrap="square" rtlCol="0">
            <a:spAutoFit/>
          </a:bodyPr>
          <a:lstStyle/>
          <a:p>
            <a:r>
              <a:rPr kumimoji="1" lang="ja-JP" altLang="en-US" dirty="0"/>
              <a:t>→　</a:t>
            </a:r>
            <a:r>
              <a:rPr lang="ja-JP" altLang="en-US" sz="1400" dirty="0"/>
              <a:t>ゴールシーン（</a:t>
            </a:r>
            <a:r>
              <a:rPr lang="en-US" altLang="ja-JP" sz="1400" dirty="0"/>
              <a:t>5</a:t>
            </a:r>
            <a:r>
              <a:rPr lang="ja-JP" altLang="en-US" sz="1400" dirty="0"/>
              <a:t>秒）</a:t>
            </a:r>
            <a:endParaRPr lang="en-US" altLang="ja-JP" sz="1400" dirty="0"/>
          </a:p>
          <a:p>
            <a:r>
              <a:rPr lang="ja-JP" altLang="en-US" sz="1400" dirty="0"/>
              <a:t> 　　</a:t>
            </a:r>
            <a:r>
              <a:rPr lang="en-US" altLang="ja-JP" sz="1400" dirty="0"/>
              <a:t>+ </a:t>
            </a:r>
            <a:r>
              <a:rPr lang="ja-JP" altLang="en-US" sz="1400" dirty="0"/>
              <a:t>ドリブルシーン（</a:t>
            </a:r>
            <a:r>
              <a:rPr lang="en-US" altLang="ja-JP" sz="1400" dirty="0"/>
              <a:t>4</a:t>
            </a:r>
            <a:r>
              <a:rPr lang="ja-JP" altLang="en-US" sz="1400" dirty="0"/>
              <a:t>秒）を選択</a:t>
            </a:r>
            <a:endParaRPr kumimoji="1" lang="ja-JP" altLang="en-US" sz="1400" dirty="0"/>
          </a:p>
        </p:txBody>
      </p:sp>
      <p:sp>
        <p:nvSpPr>
          <p:cNvPr id="15" name="テキスト ボックス 14">
            <a:extLst>
              <a:ext uri="{FF2B5EF4-FFF2-40B4-BE49-F238E27FC236}">
                <a16:creationId xmlns:a16="http://schemas.microsoft.com/office/drawing/2014/main" id="{47BB0CE1-EF76-B446-5EC7-77E67E7C9F05}"/>
              </a:ext>
            </a:extLst>
          </p:cNvPr>
          <p:cNvSpPr txBox="1"/>
          <p:nvPr/>
        </p:nvSpPr>
        <p:spPr>
          <a:xfrm>
            <a:off x="7250097" y="2370704"/>
            <a:ext cx="5093351" cy="646331"/>
          </a:xfrm>
          <a:prstGeom prst="rect">
            <a:avLst/>
          </a:prstGeom>
          <a:noFill/>
        </p:spPr>
        <p:txBody>
          <a:bodyPr wrap="square" rtlCol="0">
            <a:spAutoFit/>
          </a:bodyPr>
          <a:lstStyle/>
          <a:p>
            <a:r>
              <a:rPr lang="ja-JP" altLang="en-US" dirty="0"/>
              <a:t>隣接フレーム間の</a:t>
            </a:r>
            <a:endParaRPr lang="en-US" altLang="ja-JP" dirty="0"/>
          </a:p>
          <a:p>
            <a:r>
              <a:rPr kumimoji="1" lang="ja-JP" altLang="en-US" dirty="0"/>
              <a:t>視覚的特徴量の類似度の低下から切れ目を検出</a:t>
            </a:r>
          </a:p>
        </p:txBody>
      </p:sp>
      <p:cxnSp>
        <p:nvCxnSpPr>
          <p:cNvPr id="17" name="直線矢印コネクタ 16">
            <a:extLst>
              <a:ext uri="{FF2B5EF4-FFF2-40B4-BE49-F238E27FC236}">
                <a16:creationId xmlns:a16="http://schemas.microsoft.com/office/drawing/2014/main" id="{625EB667-1FF2-93E1-38E6-D2A965811D89}"/>
              </a:ext>
            </a:extLst>
          </p:cNvPr>
          <p:cNvCxnSpPr>
            <a:cxnSpLocks/>
          </p:cNvCxnSpPr>
          <p:nvPr/>
        </p:nvCxnSpPr>
        <p:spPr>
          <a:xfrm flipH="1">
            <a:off x="6790944" y="3032472"/>
            <a:ext cx="1072896" cy="673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9788A10-CEE3-F4F5-8E70-F3D409B9CC98}"/>
              </a:ext>
            </a:extLst>
          </p:cNvPr>
          <p:cNvSpPr txBox="1"/>
          <p:nvPr/>
        </p:nvSpPr>
        <p:spPr>
          <a:xfrm>
            <a:off x="222231" y="6044071"/>
            <a:ext cx="8007369" cy="738664"/>
          </a:xfrm>
          <a:prstGeom prst="rect">
            <a:avLst/>
          </a:prstGeom>
          <a:noFill/>
        </p:spPr>
        <p:txBody>
          <a:bodyPr wrap="square" rtlCol="0">
            <a:spAutoFit/>
          </a:bodyPr>
          <a:lstStyle/>
          <a:p>
            <a:pPr marL="0" indent="0">
              <a:buNone/>
            </a:pPr>
            <a:r>
              <a:rPr lang="en-US" altLang="ja-JP" sz="1200" b="1" dirty="0"/>
              <a:t>※</a:t>
            </a:r>
            <a:r>
              <a:rPr lang="ja-JP" altLang="en-US" sz="1200" b="1" dirty="0"/>
              <a:t>動画フレームからベクトルへの変換</a:t>
            </a:r>
            <a:endParaRPr lang="en-US" altLang="ja-JP" sz="1200" b="1" dirty="0"/>
          </a:p>
          <a:p>
            <a:pPr marL="0" indent="0">
              <a:buNone/>
            </a:pPr>
            <a:r>
              <a:rPr lang="ja-JP" altLang="en-US" sz="1200" b="1" dirty="0"/>
              <a:t>動画フレーム→</a:t>
            </a:r>
            <a:r>
              <a:rPr lang="en-US" altLang="ja-JP" sz="1200" b="1" dirty="0" err="1"/>
              <a:t>GoogleNet</a:t>
            </a:r>
            <a:r>
              <a:rPr lang="ja-JP" altLang="en-US" sz="1200" b="1" dirty="0"/>
              <a:t>の畳み込み層→</a:t>
            </a:r>
            <a:r>
              <a:rPr lang="en-US" altLang="ja-JP" sz="1200" b="1" dirty="0"/>
              <a:t>poo15</a:t>
            </a:r>
            <a:r>
              <a:rPr lang="ja-JP" altLang="en-US" sz="1200" b="1" dirty="0"/>
              <a:t>層→平均プーリング→１０２４次元ベクトル</a:t>
            </a:r>
            <a:endParaRPr lang="en-US" altLang="ja-JP" sz="1200" b="1" dirty="0"/>
          </a:p>
          <a:p>
            <a:endParaRPr kumimoji="1" lang="ja-JP" altLang="en-US" dirty="0"/>
          </a:p>
        </p:txBody>
      </p:sp>
    </p:spTree>
    <p:extLst>
      <p:ext uri="{BB962C8B-B14F-4D97-AF65-F5344CB8AC3E}">
        <p14:creationId xmlns:p14="http://schemas.microsoft.com/office/powerpoint/2010/main" val="355974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89D9EC-ACC3-F6D1-541A-40EE851FAC9E}"/>
              </a:ext>
            </a:extLst>
          </p:cNvPr>
          <p:cNvSpPr>
            <a:spLocks noGrp="1"/>
          </p:cNvSpPr>
          <p:nvPr>
            <p:ph type="title"/>
          </p:nvPr>
        </p:nvSpPr>
        <p:spPr/>
        <p:txBody>
          <a:bodyPr/>
          <a:lstStyle/>
          <a:p>
            <a:r>
              <a:rPr kumimoji="1" lang="ja-JP" altLang="en-US" dirty="0"/>
              <a:t>学習データの注意点</a:t>
            </a:r>
          </a:p>
        </p:txBody>
      </p:sp>
      <p:sp>
        <p:nvSpPr>
          <p:cNvPr id="3" name="コンテンツ プレースホルダー 2">
            <a:extLst>
              <a:ext uri="{FF2B5EF4-FFF2-40B4-BE49-F238E27FC236}">
                <a16:creationId xmlns:a16="http://schemas.microsoft.com/office/drawing/2014/main" id="{09954D21-A932-1210-73FB-514C9A47FD66}"/>
              </a:ext>
            </a:extLst>
          </p:cNvPr>
          <p:cNvSpPr>
            <a:spLocks noGrp="1"/>
          </p:cNvSpPr>
          <p:nvPr>
            <p:ph idx="1"/>
          </p:nvPr>
        </p:nvSpPr>
        <p:spPr/>
        <p:txBody>
          <a:bodyPr>
            <a:normAutofit/>
          </a:bodyPr>
          <a:lstStyle/>
          <a:p>
            <a:r>
              <a:rPr lang="ja-JP" altLang="en-US" sz="2400" dirty="0"/>
              <a:t>１つの話題を</a:t>
            </a:r>
            <a:r>
              <a:rPr kumimoji="1" lang="ja-JP" altLang="en-US" sz="2400" dirty="0"/>
              <a:t>どの程度に分割するのかを統一　どれくらいの細かさ、大雑把さ</a:t>
            </a:r>
          </a:p>
        </p:txBody>
      </p:sp>
      <p:sp>
        <p:nvSpPr>
          <p:cNvPr id="4" name="スライド番号プレースホルダー 3">
            <a:extLst>
              <a:ext uri="{FF2B5EF4-FFF2-40B4-BE49-F238E27FC236}">
                <a16:creationId xmlns:a16="http://schemas.microsoft.com/office/drawing/2014/main" id="{9F4A7925-C45A-5DC0-FB2F-ACDE43EEB01D}"/>
              </a:ext>
            </a:extLst>
          </p:cNvPr>
          <p:cNvSpPr>
            <a:spLocks noGrp="1"/>
          </p:cNvSpPr>
          <p:nvPr>
            <p:ph type="sldNum" sz="quarter" idx="12"/>
          </p:nvPr>
        </p:nvSpPr>
        <p:spPr/>
        <p:txBody>
          <a:bodyPr/>
          <a:lstStyle/>
          <a:p>
            <a:fld id="{926089AE-5E57-4F1A-AEA9-F5625C5CEAD1}" type="slidenum">
              <a:rPr kumimoji="1" lang="ja-JP" altLang="en-US" smtClean="0"/>
              <a:t>7</a:t>
            </a:fld>
            <a:endParaRPr kumimoji="1" lang="ja-JP" altLang="en-US"/>
          </a:p>
        </p:txBody>
      </p:sp>
    </p:spTree>
    <p:extLst>
      <p:ext uri="{BB962C8B-B14F-4D97-AF65-F5344CB8AC3E}">
        <p14:creationId xmlns:p14="http://schemas.microsoft.com/office/powerpoint/2010/main" val="29580616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オン ボードルーム">
  <a:themeElements>
    <a:clrScheme name="イオン ボードルーム">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イオン ボードルーム">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イオン ボードルーム">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2103</TotalTime>
  <Words>444</Words>
  <Application>Microsoft Office PowerPoint</Application>
  <PresentationFormat>ワイド画面</PresentationFormat>
  <Paragraphs>56</Paragraphs>
  <Slides>7</Slides>
  <Notes>0</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游ゴシック</vt:lpstr>
      <vt:lpstr>Arial</vt:lpstr>
      <vt:lpstr>Century Gothic</vt:lpstr>
      <vt:lpstr>Wingdings 3</vt:lpstr>
      <vt:lpstr>イオン ボードルーム</vt:lpstr>
      <vt:lpstr>進捗報告</vt:lpstr>
      <vt:lpstr>進捗</vt:lpstr>
      <vt:lpstr>研究目標</vt:lpstr>
      <vt:lpstr>ダイジェスト動画について（雑談）</vt:lpstr>
      <vt:lpstr>話題遷移の検出について</vt:lpstr>
      <vt:lpstr>関連研究調査</vt:lpstr>
      <vt:lpstr>学習データの注意点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三輪　昇汰</cp:lastModifiedBy>
  <cp:revision>4</cp:revision>
  <dcterms:created xsi:type="dcterms:W3CDTF">2025-04-19T20:27:59Z</dcterms:created>
  <dcterms:modified xsi:type="dcterms:W3CDTF">2025-04-22T02:53:23Z</dcterms:modified>
</cp:coreProperties>
</file>