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94" r:id="rId3"/>
    <p:sldId id="300" r:id="rId4"/>
    <p:sldId id="306" r:id="rId5"/>
    <p:sldId id="304" r:id="rId6"/>
    <p:sldId id="272" r:id="rId7"/>
    <p:sldId id="307" r:id="rId8"/>
    <p:sldId id="296" r:id="rId9"/>
    <p:sldId id="302" r:id="rId10"/>
    <p:sldId id="299" r:id="rId11"/>
  </p:sldIdLst>
  <p:sldSz cx="12192000" cy="6858000"/>
  <p:notesSz cx="6858000" cy="9144000"/>
  <p:embeddedFontLst>
    <p:embeddedFont>
      <p:font typeface="Cambria Math" panose="02040503050406030204" pitchFamily="18" charset="0"/>
      <p:regular r:id="rId13"/>
    </p:embeddedFont>
    <p:embeddedFont>
      <p:font typeface="Open Sans" panose="020B0606030504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94677" autoAdjust="0"/>
  </p:normalViewPr>
  <p:slideViewPr>
    <p:cSldViewPr snapToGrid="0">
      <p:cViewPr varScale="1">
        <p:scale>
          <a:sx n="67" d="100"/>
          <a:sy n="67" d="100"/>
        </p:scale>
        <p:origin x="66" y="3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04.574"/>
    </inkml:context>
    <inkml:brush xml:id="br0">
      <inkml:brushProperty name="width" value="0.05" units="cm"/>
      <inkml:brushProperty name="height" value="0.05" units="cm"/>
    </inkml:brush>
  </inkml:definitions>
  <inkml:trace contextRef="#ctx0" brushRef="#br0">1 10 23129,'13994'0'0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19.976"/>
    </inkml:context>
    <inkml:brush xml:id="br0">
      <inkml:brushProperty name="width" value="0.05" units="cm"/>
      <inkml:brushProperty name="height" value="0.05" units="cm"/>
    </inkml:brush>
  </inkml:definitions>
  <inkml:trace contextRef="#ctx0" brushRef="#br0">1 10 23129,'6167'0'0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2.792"/>
    </inkml:context>
    <inkml:brush xml:id="br0">
      <inkml:brushProperty name="width" value="0.05" units="cm"/>
      <inkml:brushProperty name="height" value="0.05" units="cm"/>
    </inkml:brush>
  </inkml:definitions>
  <inkml:trace contextRef="#ctx0" brushRef="#br0">1 10 23129,'7142'0'0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9.537"/>
    </inkml:context>
    <inkml:brush xml:id="br0">
      <inkml:brushProperty name="width" value="0.05" units="cm"/>
      <inkml:brushProperty name="height" value="0.05" units="cm"/>
    </inkml:brush>
  </inkml:definitions>
  <inkml:trace contextRef="#ctx0" brushRef="#br0">1 10 23129,'9416'0'0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2:49.114"/>
    </inkml:context>
    <inkml:brush xml:id="br0">
      <inkml:brushProperty name="width" value="0.05" units="cm"/>
      <inkml:brushProperty name="height" value="0.05" units="cm"/>
    </inkml:brush>
  </inkml:definitions>
  <inkml:trace contextRef="#ctx0" brushRef="#br0">1 10 23129,'8944'0'0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3:17.663"/>
    </inkml:context>
    <inkml:brush xml:id="br0">
      <inkml:brushProperty name="width" value="0.05" units="cm"/>
      <inkml:brushProperty name="height" value="0.05" units="cm"/>
    </inkml:brush>
  </inkml:definitions>
  <inkml:trace contextRef="#ctx0" brushRef="#br0">1 10 23129,'20462'0'0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1T21:23:55.263"/>
    </inkml:context>
    <inkml:brush xml:id="br0">
      <inkml:brushProperty name="width" value="0.05" units="cm"/>
      <inkml:brushProperty name="height" value="0.05" units="cm"/>
    </inkml:brush>
  </inkml:definitions>
  <inkml:trace contextRef="#ctx0" brushRef="#br0">1 10 23129,'11612'0'0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8T14:55:23.996"/>
    </inkml:context>
    <inkml:brush xml:id="br0">
      <inkml:brushProperty name="width" value="0.05" units="cm"/>
      <inkml:brushProperty name="height" value="0.05" units="cm"/>
    </inkml:brush>
  </inkml:definitions>
  <inkml:trace contextRef="#ctx0" brushRef="#br0">1 10 23129,'23134'0'0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8T14:55:37.631"/>
    </inkml:context>
    <inkml:brush xml:id="br0">
      <inkml:brushProperty name="width" value="0.05" units="cm"/>
      <inkml:brushProperty name="height" value="0.05" units="cm"/>
    </inkml:brush>
  </inkml:definitions>
  <inkml:trace contextRef="#ctx0" brushRef="#br0">1 10 23129,'16983'0'0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9.png"/><Relationship Id="rId18" Type="http://schemas.openxmlformats.org/officeDocument/2006/relationships/customXml" Target="../ink/ink8.xml"/><Relationship Id="rId21" Type="http://schemas.openxmlformats.org/officeDocument/2006/relationships/image" Target="../media/image4.png"/><Relationship Id="rId7" Type="http://schemas.openxmlformats.org/officeDocument/2006/relationships/image" Target="../media/image26.png"/><Relationship Id="rId12" Type="http://schemas.openxmlformats.org/officeDocument/2006/relationships/customXml" Target="../ink/ink5.xml"/><Relationship Id="rId17" Type="http://schemas.openxmlformats.org/officeDocument/2006/relationships/image" Target="../media/image2.png"/><Relationship Id="rId2" Type="http://schemas.openxmlformats.org/officeDocument/2006/relationships/customXml" Target="../ink/ink1.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8.png"/><Relationship Id="rId5" Type="http://schemas.openxmlformats.org/officeDocument/2006/relationships/image" Target="../media/image25.png"/><Relationship Id="rId15" Type="http://schemas.openxmlformats.org/officeDocument/2006/relationships/image" Target="../media/image30.png"/><Relationship Id="rId10" Type="http://schemas.openxmlformats.org/officeDocument/2006/relationships/customXml" Target="../ink/ink4.xml"/><Relationship Id="rId19" Type="http://schemas.openxmlformats.org/officeDocument/2006/relationships/image" Target="../media/image3.png"/><Relationship Id="rId9" Type="http://schemas.openxmlformats.org/officeDocument/2006/relationships/image" Target="../media/image27.png"/><Relationship Id="rId14" Type="http://schemas.openxmlformats.org/officeDocument/2006/relationships/customXml" Target="../ink/ink6.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12/ 1</a:t>
            </a:r>
            <a:r>
              <a:rPr lang="en-US" altLang="ja-JP" dirty="0">
                <a:solidFill>
                  <a:srgbClr val="FFFFFF"/>
                </a:solidFill>
              </a:rPr>
              <a:t>8</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F7A5-9521-35AE-BD22-9EF1010AF15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17749FC9-58F7-959A-2E15-9DB9754FE213}"/>
              </a:ext>
            </a:extLst>
          </p:cNvPr>
          <p:cNvSpPr>
            <a:spLocks noGrp="1"/>
          </p:cNvSpPr>
          <p:nvPr>
            <p:ph type="body" idx="1"/>
          </p:nvPr>
        </p:nvSpPr>
        <p:spPr/>
        <p:txBody>
          <a:bodyPr/>
          <a:lstStyle/>
          <a:p>
            <a:r>
              <a:rPr kumimoji="1" lang="ja-JP" altLang="en-US" dirty="0"/>
              <a:t>テストデータ量の追加</a:t>
            </a:r>
            <a:endParaRPr kumimoji="1" lang="en-US" altLang="ja-JP" dirty="0"/>
          </a:p>
          <a:p>
            <a:r>
              <a:rPr kumimoji="1" lang="en-US" altLang="ja-JP" dirty="0" err="1"/>
              <a:t>Pk,WD</a:t>
            </a:r>
            <a:r>
              <a:rPr kumimoji="1" lang="ja-JP" altLang="en-US" dirty="0"/>
              <a:t>の測定</a:t>
            </a:r>
            <a:endParaRPr kumimoji="1" lang="en-US" altLang="ja-JP" dirty="0"/>
          </a:p>
          <a:p>
            <a:r>
              <a:rPr kumimoji="1" lang="ja-JP" altLang="en-US" dirty="0"/>
              <a:t>論文途中まで</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B9F3788-848D-BD36-2DF4-1D192DE750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99973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15CFB-B549-073E-4EF1-BD4AD251ED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AD24D3-C521-C6F7-7929-7CDB605500EE}"/>
              </a:ext>
            </a:extLst>
          </p:cNvPr>
          <p:cNvSpPr>
            <a:spLocks noGrp="1"/>
          </p:cNvSpPr>
          <p:nvPr>
            <p:ph type="title"/>
          </p:nvPr>
        </p:nvSpPr>
        <p:spPr>
          <a:xfrm>
            <a:off x="738963" y="0"/>
            <a:ext cx="10515600" cy="1325563"/>
          </a:xfrm>
        </p:spPr>
        <p:txBody>
          <a:bodyPr/>
          <a:lstStyle/>
          <a:p>
            <a:r>
              <a:rPr kumimoji="1" lang="ja-JP" altLang="en-US" dirty="0"/>
              <a:t>コメントを含めたテストデータの作成</a:t>
            </a:r>
          </a:p>
        </p:txBody>
      </p:sp>
      <p:sp>
        <p:nvSpPr>
          <p:cNvPr id="3" name="テキスト プレースホルダー 2">
            <a:extLst>
              <a:ext uri="{FF2B5EF4-FFF2-40B4-BE49-F238E27FC236}">
                <a16:creationId xmlns:a16="http://schemas.microsoft.com/office/drawing/2014/main" id="{8F09E1A8-BA35-2503-33F6-B1F324C33169}"/>
              </a:ext>
            </a:extLst>
          </p:cNvPr>
          <p:cNvSpPr>
            <a:spLocks noGrp="1"/>
          </p:cNvSpPr>
          <p:nvPr>
            <p:ph type="body" idx="1"/>
          </p:nvPr>
        </p:nvSpPr>
        <p:spPr>
          <a:xfrm>
            <a:off x="738963" y="1148962"/>
            <a:ext cx="11453037" cy="5383989"/>
          </a:xfrm>
        </p:spPr>
        <p:txBody>
          <a:bodyPr/>
          <a:lstStyle/>
          <a:p>
            <a:r>
              <a:rPr kumimoji="1" lang="ja-JP" altLang="en-US" sz="2100" b="1" dirty="0"/>
              <a:t>テスト目的</a:t>
            </a:r>
            <a:endParaRPr kumimoji="1" lang="en-US" altLang="ja-JP" sz="2100" b="1" dirty="0"/>
          </a:p>
          <a:p>
            <a:pPr lvl="1"/>
            <a:r>
              <a:rPr kumimoji="1" lang="ja-JP" altLang="en-US" sz="2100" u="sng" dirty="0"/>
              <a:t>コメント未使用モデル</a:t>
            </a:r>
            <a:r>
              <a:rPr kumimoji="1" lang="ja-JP" altLang="en-US" sz="2100" dirty="0"/>
              <a:t>と</a:t>
            </a:r>
            <a:r>
              <a:rPr kumimoji="1" lang="ja-JP" altLang="en-US" sz="2100" u="sng" dirty="0"/>
              <a:t>コメント使用モデル</a:t>
            </a:r>
            <a:r>
              <a:rPr kumimoji="1" lang="ja-JP" altLang="en-US" sz="2100" dirty="0"/>
              <a:t>の</a:t>
            </a:r>
            <a:r>
              <a:rPr kumimoji="1" lang="en-US" altLang="ja-JP" sz="2100" dirty="0"/>
              <a:t>Pk, WD</a:t>
            </a:r>
            <a:r>
              <a:rPr kumimoji="1" lang="ja-JP" altLang="en-US" sz="2100" dirty="0"/>
              <a:t>の比較</a:t>
            </a:r>
            <a:endParaRPr kumimoji="1" lang="en-US" altLang="ja-JP" sz="2100" dirty="0"/>
          </a:p>
          <a:p>
            <a:r>
              <a:rPr kumimoji="1" lang="ja-JP" altLang="en-US" sz="2100" b="1" dirty="0"/>
              <a:t>境界ラベルのルール</a:t>
            </a:r>
            <a:endParaRPr kumimoji="1" lang="en-US" altLang="ja-JP" sz="2100" b="1" dirty="0"/>
          </a:p>
          <a:p>
            <a:pPr lvl="1"/>
            <a:r>
              <a:rPr kumimoji="1" lang="ja-JP" altLang="en-US" sz="2100" b="1" dirty="0"/>
              <a:t>対象とした配信者のスタイル</a:t>
            </a:r>
            <a:r>
              <a:rPr kumimoji="1" lang="ja-JP" altLang="en-US" sz="2100" dirty="0"/>
              <a:t>：視聴者から質問コメントをもらい，選択した質問に沿って雑談をするスタイル</a:t>
            </a:r>
            <a:endParaRPr kumimoji="1" lang="en-US" altLang="ja-JP" sz="2100" dirty="0"/>
          </a:p>
          <a:p>
            <a:pPr lvl="1"/>
            <a:r>
              <a:rPr kumimoji="1" lang="ja-JP" altLang="en-US" sz="2100" dirty="0"/>
              <a:t>トピック境界ラベルとして割り当てるのは，配信者が選択した質問コメントが移り変わったところを境界ラベルとし，手動でラベル付けを行う．</a:t>
            </a:r>
            <a:endParaRPr kumimoji="1" lang="en-US" altLang="ja-JP" sz="2100" dirty="0"/>
          </a:p>
        </p:txBody>
      </p:sp>
      <p:sp>
        <p:nvSpPr>
          <p:cNvPr id="4" name="スライド番号プレースホルダー 3">
            <a:extLst>
              <a:ext uri="{FF2B5EF4-FFF2-40B4-BE49-F238E27FC236}">
                <a16:creationId xmlns:a16="http://schemas.microsoft.com/office/drawing/2014/main" id="{4986F48F-3504-3F68-6587-E4C3EE138F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Tree>
    <p:extLst>
      <p:ext uri="{BB962C8B-B14F-4D97-AF65-F5344CB8AC3E}">
        <p14:creationId xmlns:p14="http://schemas.microsoft.com/office/powerpoint/2010/main" val="1562352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B70671-F598-7E26-6796-E1C92BCAEFF8}"/>
              </a:ext>
            </a:extLst>
          </p:cNvPr>
          <p:cNvSpPr>
            <a:spLocks noGrp="1"/>
          </p:cNvSpPr>
          <p:nvPr>
            <p:ph type="title"/>
          </p:nvPr>
        </p:nvSpPr>
        <p:spPr/>
        <p:txBody>
          <a:bodyPr/>
          <a:lstStyle/>
          <a:p>
            <a:r>
              <a:rPr kumimoji="1" lang="ja-JP" altLang="en-US" dirty="0"/>
              <a:t>発話文とコメントの割り当て</a:t>
            </a:r>
          </a:p>
        </p:txBody>
      </p:sp>
      <mc:AlternateContent xmlns:mc="http://schemas.openxmlformats.org/markup-compatibility/2006" xmlns:a14="http://schemas.microsoft.com/office/drawing/2010/main">
        <mc:Choice Requires="a14">
          <p:sp>
            <p:nvSpPr>
              <p:cNvPr id="3" name="テキスト プレースホルダー 2">
                <a:extLst>
                  <a:ext uri="{FF2B5EF4-FFF2-40B4-BE49-F238E27FC236}">
                    <a16:creationId xmlns:a16="http://schemas.microsoft.com/office/drawing/2014/main" id="{E2B3B0E1-4B36-83D7-A695-07802EC9D4CB}"/>
                  </a:ext>
                </a:extLst>
              </p:cNvPr>
              <p:cNvSpPr>
                <a:spLocks noGrp="1"/>
              </p:cNvSpPr>
              <p:nvPr>
                <p:ph type="body" idx="1"/>
              </p:nvPr>
            </p:nvSpPr>
            <p:spPr>
              <a:xfrm>
                <a:off x="838200" y="1588557"/>
                <a:ext cx="10515600" cy="4904317"/>
              </a:xfrm>
            </p:spPr>
            <p:txBody>
              <a:bodyPr/>
              <a:lstStyle/>
              <a:p>
                <a:r>
                  <a:rPr lang="ja-JP" altLang="en-US" dirty="0"/>
                  <a:t>変更点</a:t>
                </a:r>
                <a:endParaRPr lang="en-US" altLang="ja-JP" dirty="0"/>
              </a:p>
              <a:p>
                <a:r>
                  <a:rPr lang="ja-JP" altLang="ja-JP" dirty="0"/>
                  <a:t>各発話</a:t>
                </a:r>
                <a14:m>
                  <m:oMath xmlns:m="http://schemas.openxmlformats.org/officeDocument/2006/math">
                    <m:sSub>
                      <m:sSubPr>
                        <m:ctrlPr>
                          <a:rPr lang="ja-JP" altLang="ja-JP" i="1">
                            <a:latin typeface="Cambria Math" panose="02040503050406030204" pitchFamily="18" charset="0"/>
                          </a:rPr>
                        </m:ctrlPr>
                      </m:sSubPr>
                      <m:e>
                        <m:r>
                          <a:rPr lang="en-US" altLang="ja-JP" i="1">
                            <a:latin typeface="Cambria Math" panose="02040503050406030204" pitchFamily="18" charset="0"/>
                          </a:rPr>
                          <m:t>𝑢</m:t>
                        </m:r>
                      </m:e>
                      <m:sub>
                        <m:r>
                          <a:rPr lang="en-US" altLang="ja-JP" i="1">
                            <a:latin typeface="Cambria Math" panose="02040503050406030204" pitchFamily="18" charset="0"/>
                          </a:rPr>
                          <m:t>𝑖</m:t>
                        </m:r>
                      </m:sub>
                    </m:sSub>
                  </m:oMath>
                </a14:m>
                <a:r>
                  <a:rPr lang="ja-JP" altLang="ja-JP" dirty="0"/>
                  <a:t>に対してその発話開始時刻から</a:t>
                </a:r>
                <a:r>
                  <a:rPr lang="ja-JP" altLang="en-US" dirty="0"/>
                  <a:t>発話終了</a:t>
                </a:r>
                <a:r>
                  <a:rPr lang="en-US" altLang="ja-JP" dirty="0"/>
                  <a:t>+10(s)</a:t>
                </a:r>
                <a:r>
                  <a:rPr lang="ja-JP" altLang="ja-JP" dirty="0"/>
                  <a:t>に投稿された視聴者コメント集合</a:t>
                </a:r>
                <a14:m>
                  <m:oMath xmlns:m="http://schemas.openxmlformats.org/officeDocument/2006/math">
                    <m:d>
                      <m:dPr>
                        <m:begChr m:val="{"/>
                        <m:endChr m:val="}"/>
                        <m:ctrlPr>
                          <a:rPr lang="ja-JP" altLang="ja-JP" i="1">
                            <a:latin typeface="Cambria Math" panose="02040503050406030204" pitchFamily="18" charset="0"/>
                          </a:rPr>
                        </m:ctrlPr>
                      </m:dPr>
                      <m:e>
                        <m:sSub>
                          <m:sSubPr>
                            <m:ctrlPr>
                              <a:rPr lang="ja-JP" altLang="ja-JP" i="1">
                                <a:latin typeface="Cambria Math" panose="02040503050406030204" pitchFamily="18" charset="0"/>
                              </a:rPr>
                            </m:ctrlPr>
                          </m:sSubPr>
                          <m:e>
                            <m:r>
                              <a:rPr lang="en-US" altLang="ja-JP" i="1">
                                <a:latin typeface="Cambria Math" panose="02040503050406030204" pitchFamily="18" charset="0"/>
                              </a:rPr>
                              <m:t>𝑐</m:t>
                            </m:r>
                          </m:e>
                          <m:sub>
                            <m:r>
                              <a:rPr lang="en-US" altLang="ja-JP" i="1">
                                <a:latin typeface="Cambria Math" panose="02040503050406030204" pitchFamily="18" charset="0"/>
                              </a:rPr>
                              <m:t>𝑖</m:t>
                            </m:r>
                            <m:r>
                              <a:rPr lang="en-US" altLang="ja-JP" i="1">
                                <a:latin typeface="Cambria Math" panose="02040503050406030204" pitchFamily="18" charset="0"/>
                              </a:rPr>
                              <m:t>,1</m:t>
                            </m:r>
                          </m:sub>
                        </m:sSub>
                        <m:r>
                          <a:rPr lang="en-US" altLang="ja-JP" i="1">
                            <a:latin typeface="Cambria Math" panose="02040503050406030204" pitchFamily="18" charset="0"/>
                          </a:rPr>
                          <m:t>,</m:t>
                        </m:r>
                        <m:sSub>
                          <m:sSubPr>
                            <m:ctrlPr>
                              <a:rPr lang="ja-JP" altLang="ja-JP" i="1">
                                <a:latin typeface="Cambria Math" panose="02040503050406030204" pitchFamily="18" charset="0"/>
                              </a:rPr>
                            </m:ctrlPr>
                          </m:sSubPr>
                          <m:e>
                            <m:r>
                              <a:rPr lang="en-US" altLang="ja-JP" i="1">
                                <a:latin typeface="Cambria Math" panose="02040503050406030204" pitchFamily="18" charset="0"/>
                              </a:rPr>
                              <m:t>𝑐</m:t>
                            </m:r>
                          </m:e>
                          <m:sub>
                            <m:r>
                              <a:rPr lang="en-US" altLang="ja-JP" i="1">
                                <a:latin typeface="Cambria Math" panose="02040503050406030204" pitchFamily="18" charset="0"/>
                              </a:rPr>
                              <m:t>𝑖</m:t>
                            </m:r>
                            <m:r>
                              <a:rPr lang="en-US" altLang="ja-JP" i="1">
                                <a:latin typeface="Cambria Math" panose="02040503050406030204" pitchFamily="18" charset="0"/>
                              </a:rPr>
                              <m:t>,2</m:t>
                            </m:r>
                          </m:sub>
                        </m:sSub>
                        <m:r>
                          <a:rPr lang="en-US" altLang="ja-JP" i="1">
                            <a:latin typeface="Cambria Math" panose="02040503050406030204" pitchFamily="18" charset="0"/>
                          </a:rPr>
                          <m:t>,…,</m:t>
                        </m:r>
                        <m:sSub>
                          <m:sSubPr>
                            <m:ctrlPr>
                              <a:rPr lang="ja-JP" altLang="ja-JP" i="1">
                                <a:latin typeface="Cambria Math" panose="02040503050406030204" pitchFamily="18" charset="0"/>
                              </a:rPr>
                            </m:ctrlPr>
                          </m:sSubPr>
                          <m:e>
                            <m:r>
                              <a:rPr lang="en-US" altLang="ja-JP" i="1">
                                <a:latin typeface="Cambria Math" panose="02040503050406030204" pitchFamily="18" charset="0"/>
                              </a:rPr>
                              <m:t>𝑐</m:t>
                            </m:r>
                          </m:e>
                          <m:sub>
                            <m:r>
                              <a:rPr lang="en-US" altLang="ja-JP" i="1">
                                <a:latin typeface="Cambria Math" panose="02040503050406030204" pitchFamily="18" charset="0"/>
                              </a:rPr>
                              <m:t>𝑖</m:t>
                            </m:r>
                            <m:r>
                              <a:rPr lang="en-US" altLang="ja-JP" i="1">
                                <a:latin typeface="Cambria Math" panose="02040503050406030204" pitchFamily="18" charset="0"/>
                              </a:rPr>
                              <m:t>,</m:t>
                            </m:r>
                            <m:r>
                              <a:rPr lang="en-US" altLang="ja-JP" i="1">
                                <a:latin typeface="Cambria Math" panose="02040503050406030204" pitchFamily="18" charset="0"/>
                              </a:rPr>
                              <m:t>𝑛</m:t>
                            </m:r>
                          </m:sub>
                        </m:sSub>
                      </m:e>
                    </m:d>
                  </m:oMath>
                </a14:m>
                <a:r>
                  <a:rPr lang="ja-JP" altLang="ja-JP" dirty="0"/>
                  <a:t>を取得</a:t>
                </a:r>
                <a:endParaRPr lang="en-US" altLang="ja-JP" dirty="0"/>
              </a:p>
              <a:p>
                <a:pPr marL="114300" indent="0">
                  <a:buNone/>
                </a:pPr>
                <a:r>
                  <a:rPr lang="ja-JP" altLang="en-US" dirty="0"/>
                  <a:t>→</a:t>
                </a:r>
                <a:r>
                  <a:rPr lang="ja-JP" altLang="ja-JP" dirty="0">
                    <a:solidFill>
                      <a:srgbClr val="FF0000"/>
                    </a:solidFill>
                  </a:rPr>
                  <a:t>各発話</a:t>
                </a:r>
                <a14:m>
                  <m:oMath xmlns:m="http://schemas.openxmlformats.org/officeDocument/2006/math">
                    <m:sSub>
                      <m:sSubPr>
                        <m:ctrlPr>
                          <a:rPr lang="ja-JP" altLang="ja-JP" i="1">
                            <a:solidFill>
                              <a:srgbClr val="FF0000"/>
                            </a:solidFill>
                            <a:latin typeface="Cambria Math" panose="02040503050406030204" pitchFamily="18" charset="0"/>
                          </a:rPr>
                        </m:ctrlPr>
                      </m:sSubPr>
                      <m:e>
                        <m:r>
                          <a:rPr lang="en-US" altLang="ja-JP" i="1">
                            <a:solidFill>
                              <a:srgbClr val="FF0000"/>
                            </a:solidFill>
                            <a:latin typeface="Cambria Math" panose="02040503050406030204" pitchFamily="18" charset="0"/>
                          </a:rPr>
                          <m:t>𝑢</m:t>
                        </m:r>
                      </m:e>
                      <m:sub>
                        <m:r>
                          <a:rPr lang="en-US" altLang="ja-JP" i="1">
                            <a:solidFill>
                              <a:srgbClr val="FF0000"/>
                            </a:solidFill>
                            <a:latin typeface="Cambria Math" panose="02040503050406030204" pitchFamily="18" charset="0"/>
                          </a:rPr>
                          <m:t>𝑖</m:t>
                        </m:r>
                      </m:sub>
                    </m:sSub>
                  </m:oMath>
                </a14:m>
                <a:r>
                  <a:rPr lang="ja-JP" altLang="ja-JP" dirty="0">
                    <a:solidFill>
                      <a:srgbClr val="FF0000"/>
                    </a:solidFill>
                  </a:rPr>
                  <a:t>に対してその発話開始時刻の</a:t>
                </a:r>
                <a:r>
                  <a:rPr lang="en-US" altLang="ja-JP" dirty="0">
                    <a:solidFill>
                      <a:srgbClr val="FF0000"/>
                    </a:solidFill>
                  </a:rPr>
                  <a:t>10</a:t>
                </a:r>
                <a:r>
                  <a:rPr lang="ja-JP" altLang="ja-JP" dirty="0">
                    <a:solidFill>
                      <a:srgbClr val="FF0000"/>
                    </a:solidFill>
                  </a:rPr>
                  <a:t>秒後から</a:t>
                </a:r>
                <a:r>
                  <a:rPr lang="en-US" altLang="ja-JP" dirty="0">
                    <a:solidFill>
                      <a:srgbClr val="FF0000"/>
                    </a:solidFill>
                  </a:rPr>
                  <a:t>5</a:t>
                </a:r>
                <a:r>
                  <a:rPr lang="ja-JP" altLang="ja-JP" dirty="0">
                    <a:solidFill>
                      <a:srgbClr val="FF0000"/>
                    </a:solidFill>
                  </a:rPr>
                  <a:t>秒間に投稿された視聴者コメント集合</a:t>
                </a:r>
                <a14:m>
                  <m:oMath xmlns:m="http://schemas.openxmlformats.org/officeDocument/2006/math">
                    <m:d>
                      <m:dPr>
                        <m:begChr m:val="{"/>
                        <m:endChr m:val="}"/>
                        <m:ctrlPr>
                          <a:rPr lang="ja-JP" altLang="ja-JP" i="1">
                            <a:solidFill>
                              <a:srgbClr val="FF0000"/>
                            </a:solidFill>
                            <a:latin typeface="Cambria Math" panose="02040503050406030204" pitchFamily="18" charset="0"/>
                          </a:rPr>
                        </m:ctrlPr>
                      </m:dPr>
                      <m:e>
                        <m:sSub>
                          <m:sSubPr>
                            <m:ctrlPr>
                              <a:rPr lang="ja-JP" altLang="ja-JP" i="1">
                                <a:solidFill>
                                  <a:srgbClr val="FF0000"/>
                                </a:solidFill>
                                <a:latin typeface="Cambria Math" panose="02040503050406030204" pitchFamily="18" charset="0"/>
                              </a:rPr>
                            </m:ctrlPr>
                          </m:sSubPr>
                          <m:e>
                            <m:r>
                              <a:rPr lang="en-US" altLang="ja-JP" i="1">
                                <a:solidFill>
                                  <a:srgbClr val="FF0000"/>
                                </a:solidFill>
                                <a:latin typeface="Cambria Math" panose="02040503050406030204" pitchFamily="18" charset="0"/>
                              </a:rPr>
                              <m:t>𝑐</m:t>
                            </m:r>
                          </m:e>
                          <m:sub>
                            <m:r>
                              <a:rPr lang="en-US" altLang="ja-JP" i="1">
                                <a:solidFill>
                                  <a:srgbClr val="FF0000"/>
                                </a:solidFill>
                                <a:latin typeface="Cambria Math" panose="02040503050406030204" pitchFamily="18" charset="0"/>
                              </a:rPr>
                              <m:t>𝑖</m:t>
                            </m:r>
                            <m:r>
                              <a:rPr lang="en-US" altLang="ja-JP" i="1">
                                <a:solidFill>
                                  <a:srgbClr val="FF0000"/>
                                </a:solidFill>
                                <a:latin typeface="Cambria Math" panose="02040503050406030204" pitchFamily="18" charset="0"/>
                              </a:rPr>
                              <m:t>,1</m:t>
                            </m:r>
                          </m:sub>
                        </m:sSub>
                        <m:r>
                          <a:rPr lang="en-US" altLang="ja-JP" i="1">
                            <a:solidFill>
                              <a:srgbClr val="FF0000"/>
                            </a:solidFill>
                            <a:latin typeface="Cambria Math" panose="02040503050406030204" pitchFamily="18" charset="0"/>
                          </a:rPr>
                          <m:t>,</m:t>
                        </m:r>
                        <m:sSub>
                          <m:sSubPr>
                            <m:ctrlPr>
                              <a:rPr lang="ja-JP" altLang="ja-JP" i="1">
                                <a:solidFill>
                                  <a:srgbClr val="FF0000"/>
                                </a:solidFill>
                                <a:latin typeface="Cambria Math" panose="02040503050406030204" pitchFamily="18" charset="0"/>
                              </a:rPr>
                            </m:ctrlPr>
                          </m:sSubPr>
                          <m:e>
                            <m:r>
                              <a:rPr lang="en-US" altLang="ja-JP" i="1">
                                <a:solidFill>
                                  <a:srgbClr val="FF0000"/>
                                </a:solidFill>
                                <a:latin typeface="Cambria Math" panose="02040503050406030204" pitchFamily="18" charset="0"/>
                              </a:rPr>
                              <m:t>𝑐</m:t>
                            </m:r>
                          </m:e>
                          <m:sub>
                            <m:r>
                              <a:rPr lang="en-US" altLang="ja-JP" i="1">
                                <a:solidFill>
                                  <a:srgbClr val="FF0000"/>
                                </a:solidFill>
                                <a:latin typeface="Cambria Math" panose="02040503050406030204" pitchFamily="18" charset="0"/>
                              </a:rPr>
                              <m:t>𝑖</m:t>
                            </m:r>
                            <m:r>
                              <a:rPr lang="en-US" altLang="ja-JP" i="1">
                                <a:solidFill>
                                  <a:srgbClr val="FF0000"/>
                                </a:solidFill>
                                <a:latin typeface="Cambria Math" panose="02040503050406030204" pitchFamily="18" charset="0"/>
                              </a:rPr>
                              <m:t>,2</m:t>
                            </m:r>
                          </m:sub>
                        </m:sSub>
                        <m:r>
                          <a:rPr lang="en-US" altLang="ja-JP" i="1">
                            <a:solidFill>
                              <a:srgbClr val="FF0000"/>
                            </a:solidFill>
                            <a:latin typeface="Cambria Math" panose="02040503050406030204" pitchFamily="18" charset="0"/>
                          </a:rPr>
                          <m:t>,…,</m:t>
                        </m:r>
                        <m:sSub>
                          <m:sSubPr>
                            <m:ctrlPr>
                              <a:rPr lang="ja-JP" altLang="ja-JP" i="1">
                                <a:solidFill>
                                  <a:srgbClr val="FF0000"/>
                                </a:solidFill>
                                <a:latin typeface="Cambria Math" panose="02040503050406030204" pitchFamily="18" charset="0"/>
                              </a:rPr>
                            </m:ctrlPr>
                          </m:sSubPr>
                          <m:e>
                            <m:r>
                              <a:rPr lang="en-US" altLang="ja-JP" i="1">
                                <a:solidFill>
                                  <a:srgbClr val="FF0000"/>
                                </a:solidFill>
                                <a:latin typeface="Cambria Math" panose="02040503050406030204" pitchFamily="18" charset="0"/>
                              </a:rPr>
                              <m:t>𝑐</m:t>
                            </m:r>
                          </m:e>
                          <m:sub>
                            <m:r>
                              <a:rPr lang="en-US" altLang="ja-JP" i="1">
                                <a:solidFill>
                                  <a:srgbClr val="FF0000"/>
                                </a:solidFill>
                                <a:latin typeface="Cambria Math" panose="02040503050406030204" pitchFamily="18" charset="0"/>
                              </a:rPr>
                              <m:t>𝑖</m:t>
                            </m:r>
                            <m:r>
                              <a:rPr lang="en-US" altLang="ja-JP" i="1">
                                <a:solidFill>
                                  <a:srgbClr val="FF0000"/>
                                </a:solidFill>
                                <a:latin typeface="Cambria Math" panose="02040503050406030204" pitchFamily="18" charset="0"/>
                              </a:rPr>
                              <m:t>,</m:t>
                            </m:r>
                            <m:r>
                              <a:rPr lang="en-US" altLang="ja-JP" i="1">
                                <a:solidFill>
                                  <a:srgbClr val="FF0000"/>
                                </a:solidFill>
                                <a:latin typeface="Cambria Math" panose="02040503050406030204" pitchFamily="18" charset="0"/>
                              </a:rPr>
                              <m:t>𝑛</m:t>
                            </m:r>
                          </m:sub>
                        </m:sSub>
                      </m:e>
                    </m:d>
                  </m:oMath>
                </a14:m>
                <a:r>
                  <a:rPr lang="ja-JP" altLang="ja-JP" dirty="0">
                    <a:solidFill>
                      <a:srgbClr val="FF0000"/>
                    </a:solidFill>
                  </a:rPr>
                  <a:t>を取得</a:t>
                </a:r>
                <a:endParaRPr lang="en-US" altLang="ja-JP" dirty="0"/>
              </a:p>
              <a:p>
                <a:r>
                  <a:rPr lang="ja-JP" altLang="en-US" dirty="0"/>
                  <a:t>その後の処理はこれまで通り</a:t>
                </a:r>
                <a:endParaRPr lang="en-US" altLang="ja-JP" dirty="0"/>
              </a:p>
              <a:p>
                <a:pPr lvl="1"/>
                <a:r>
                  <a:rPr lang="ja-JP" altLang="ja-JP" dirty="0"/>
                  <a:t>各コメントもベクトル化し，時間窓内の全コメントベクトルの平均を取ることで，発話に対応するコメントベクトル</a:t>
                </a:r>
                <a14:m>
                  <m:oMath xmlns:m="http://schemas.openxmlformats.org/officeDocument/2006/math">
                    <m:sSub>
                      <m:sSubPr>
                        <m:ctrlPr>
                          <a:rPr lang="ja-JP" altLang="ja-JP" i="1">
                            <a:latin typeface="Cambria Math" panose="02040503050406030204" pitchFamily="18" charset="0"/>
                          </a:rPr>
                        </m:ctrlPr>
                      </m:sSubPr>
                      <m:e>
                        <m:r>
                          <a:rPr lang="en-US" altLang="ja-JP" b="1" i="1">
                            <a:latin typeface="Cambria Math" panose="02040503050406030204" pitchFamily="18" charset="0"/>
                          </a:rPr>
                          <m:t>𝐯</m:t>
                        </m:r>
                      </m:e>
                      <m:sub>
                        <m:r>
                          <a:rPr lang="en-US" altLang="ja-JP" i="1">
                            <a:latin typeface="Cambria Math" panose="02040503050406030204" pitchFamily="18" charset="0"/>
                          </a:rPr>
                          <m:t>𝑖</m:t>
                        </m:r>
                      </m:sub>
                    </m:sSub>
                    <m:r>
                      <a:rPr lang="en-US" altLang="ja-JP" i="1">
                        <a:latin typeface="Cambria Math" panose="02040503050406030204" pitchFamily="18" charset="0"/>
                      </a:rPr>
                      <m:t>∈</m:t>
                    </m:r>
                    <m:sSup>
                      <m:sSupPr>
                        <m:ctrlPr>
                          <a:rPr lang="ja-JP" altLang="ja-JP" i="1">
                            <a:latin typeface="Cambria Math" panose="02040503050406030204" pitchFamily="18" charset="0"/>
                          </a:rPr>
                        </m:ctrlPr>
                      </m:sSupPr>
                      <m:e>
                        <m:r>
                          <a:rPr lang="en-US" altLang="ja-JP" i="1">
                            <a:latin typeface="Cambria Math" panose="02040503050406030204" pitchFamily="18" charset="0"/>
                          </a:rPr>
                          <m:t>ℝ</m:t>
                        </m:r>
                      </m:e>
                      <m:sup>
                        <m:r>
                          <a:rPr lang="en-US" altLang="ja-JP" i="1">
                            <a:latin typeface="Cambria Math" panose="02040503050406030204" pitchFamily="18" charset="0"/>
                          </a:rPr>
                          <m:t>768</m:t>
                        </m:r>
                      </m:sup>
                    </m:sSup>
                  </m:oMath>
                </a14:m>
                <a:r>
                  <a:rPr lang="ja-JP" altLang="ja-JP" dirty="0"/>
                  <a:t>を得る．</a:t>
                </a:r>
                <a:endParaRPr lang="en-US" altLang="ja-JP" dirty="0"/>
              </a:p>
              <a:p>
                <a:pPr lvl="1"/>
                <a:r>
                  <a:rPr lang="ja-JP" altLang="ja-JP" dirty="0"/>
                  <a:t>発話ベクトル</a:t>
                </a:r>
                <a14:m>
                  <m:oMath xmlns:m="http://schemas.openxmlformats.org/officeDocument/2006/math">
                    <m:sSub>
                      <m:sSubPr>
                        <m:ctrlPr>
                          <a:rPr lang="ja-JP" altLang="ja-JP" i="1">
                            <a:latin typeface="Cambria Math" panose="02040503050406030204" pitchFamily="18" charset="0"/>
                          </a:rPr>
                        </m:ctrlPr>
                      </m:sSubPr>
                      <m:e>
                        <m:r>
                          <a:rPr lang="en-US" altLang="ja-JP" b="1" i="1">
                            <a:latin typeface="Cambria Math" panose="02040503050406030204" pitchFamily="18" charset="0"/>
                          </a:rPr>
                          <m:t>𝐡</m:t>
                        </m:r>
                      </m:e>
                      <m:sub>
                        <m:r>
                          <a:rPr lang="en-US" altLang="ja-JP" i="1">
                            <a:latin typeface="Cambria Math" panose="02040503050406030204" pitchFamily="18" charset="0"/>
                          </a:rPr>
                          <m:t>𝑖</m:t>
                        </m:r>
                      </m:sub>
                    </m:sSub>
                  </m:oMath>
                </a14:m>
                <a:r>
                  <a:rPr lang="ja-JP" altLang="ja-JP" dirty="0"/>
                  <a:t>とコメントベクトル</a:t>
                </a:r>
                <a14:m>
                  <m:oMath xmlns:m="http://schemas.openxmlformats.org/officeDocument/2006/math">
                    <m:sSub>
                      <m:sSubPr>
                        <m:ctrlPr>
                          <a:rPr lang="ja-JP" altLang="ja-JP" i="1">
                            <a:latin typeface="Cambria Math" panose="02040503050406030204" pitchFamily="18" charset="0"/>
                          </a:rPr>
                        </m:ctrlPr>
                      </m:sSubPr>
                      <m:e>
                        <m:r>
                          <a:rPr lang="en-US" altLang="ja-JP" b="1" i="1">
                            <a:latin typeface="Cambria Math" panose="02040503050406030204" pitchFamily="18" charset="0"/>
                          </a:rPr>
                          <m:t>𝐯</m:t>
                        </m:r>
                      </m:e>
                      <m:sub>
                        <m:r>
                          <a:rPr lang="en-US" altLang="ja-JP" i="1">
                            <a:latin typeface="Cambria Math" panose="02040503050406030204" pitchFamily="18" charset="0"/>
                          </a:rPr>
                          <m:t>𝑖</m:t>
                        </m:r>
                      </m:sub>
                    </m:sSub>
                  </m:oMath>
                </a14:m>
                <a:r>
                  <a:rPr lang="ja-JP" altLang="ja-JP" dirty="0"/>
                  <a:t>を平均</a:t>
                </a:r>
                <a:r>
                  <a:rPr lang="ja-JP" altLang="en-US" dirty="0"/>
                  <a:t>して</a:t>
                </a:r>
                <a:r>
                  <a:rPr lang="ja-JP" altLang="ja-JP" dirty="0"/>
                  <a:t>融合</a:t>
                </a:r>
                <a:endParaRPr kumimoji="1" lang="ja-JP" altLang="en-US" dirty="0"/>
              </a:p>
            </p:txBody>
          </p:sp>
        </mc:Choice>
        <mc:Fallback xmlns="">
          <p:sp>
            <p:nvSpPr>
              <p:cNvPr id="3" name="テキスト プレースホルダー 2">
                <a:extLst>
                  <a:ext uri="{FF2B5EF4-FFF2-40B4-BE49-F238E27FC236}">
                    <a16:creationId xmlns:a16="http://schemas.microsoft.com/office/drawing/2014/main" id="{E2B3B0E1-4B36-83D7-A695-07802EC9D4CB}"/>
                  </a:ext>
                </a:extLst>
              </p:cNvPr>
              <p:cNvSpPr>
                <a:spLocks noGrp="1" noRot="1" noChangeAspect="1" noMove="1" noResize="1" noEditPoints="1" noAdjustHandles="1" noChangeArrowheads="1" noChangeShapeType="1" noTextEdit="1"/>
              </p:cNvSpPr>
              <p:nvPr>
                <p:ph type="body" idx="1"/>
              </p:nvPr>
            </p:nvSpPr>
            <p:spPr>
              <a:xfrm>
                <a:off x="838200" y="1588557"/>
                <a:ext cx="10515600" cy="4904317"/>
              </a:xfrm>
              <a:blipFill>
                <a:blip r:embed="rId2"/>
                <a:stretch>
                  <a:fillRect r="-464" b="-2363"/>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8B8FE587-0654-A639-5AEF-F3B858FD7A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20253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27411C-44ED-D74C-741B-966AEB191F74}"/>
              </a:ext>
            </a:extLst>
          </p:cNvPr>
          <p:cNvSpPr>
            <a:spLocks noGrp="1"/>
          </p:cNvSpPr>
          <p:nvPr>
            <p:ph type="title"/>
          </p:nvPr>
        </p:nvSpPr>
        <p:spPr/>
        <p:txBody>
          <a:bodyPr/>
          <a:lstStyle/>
          <a:p>
            <a:r>
              <a:rPr kumimoji="1" lang="ja-JP" altLang="en-US" dirty="0"/>
              <a:t>測定結果</a:t>
            </a:r>
          </a:p>
        </p:txBody>
      </p:sp>
      <p:sp>
        <p:nvSpPr>
          <p:cNvPr id="3" name="テキスト プレースホルダー 2">
            <a:extLst>
              <a:ext uri="{FF2B5EF4-FFF2-40B4-BE49-F238E27FC236}">
                <a16:creationId xmlns:a16="http://schemas.microsoft.com/office/drawing/2014/main" id="{10C7A731-9107-6F06-0897-052CE42A0C06}"/>
              </a:ext>
            </a:extLst>
          </p:cNvPr>
          <p:cNvSpPr>
            <a:spLocks noGrp="1"/>
          </p:cNvSpPr>
          <p:nvPr>
            <p:ph type="body" idx="1"/>
          </p:nvPr>
        </p:nvSpPr>
        <p:spPr>
          <a:xfrm>
            <a:off x="838199" y="1825624"/>
            <a:ext cx="11066253" cy="4329643"/>
          </a:xfrm>
        </p:spPr>
        <p:txBody>
          <a:bodyPr/>
          <a:lstStyle/>
          <a:p>
            <a:r>
              <a:rPr kumimoji="1" lang="ja-JP" altLang="en-US" dirty="0"/>
              <a:t>合計データ量：</a:t>
            </a:r>
            <a:r>
              <a:rPr lang="ja-JP" altLang="en-US" dirty="0"/>
              <a:t>  </a:t>
            </a:r>
            <a:r>
              <a:rPr lang="en-US" altLang="ja-JP" dirty="0"/>
              <a:t>1147</a:t>
            </a:r>
            <a:r>
              <a:rPr lang="ja-JP" altLang="en-US" dirty="0"/>
              <a:t>文（６０分程度）　境界数</a:t>
            </a:r>
            <a:r>
              <a:rPr lang="en-US" altLang="ja-JP" dirty="0"/>
              <a:t>12</a:t>
            </a:r>
          </a:p>
          <a:p>
            <a:endParaRPr kumimoji="1" lang="en-US" altLang="ja-JP" dirty="0"/>
          </a:p>
          <a:p>
            <a:endParaRPr kumimoji="1" lang="en-US" altLang="ja-JP" dirty="0"/>
          </a:p>
          <a:p>
            <a:endParaRPr kumimoji="1" lang="en-US" altLang="ja-JP" dirty="0"/>
          </a:p>
          <a:p>
            <a:endParaRPr kumimoji="1" lang="en-US" altLang="ja-JP" dirty="0"/>
          </a:p>
          <a:p>
            <a:r>
              <a:rPr kumimoji="1" lang="ja-JP" altLang="en-US" dirty="0"/>
              <a:t>コメント利用で精度がやや上昇</a:t>
            </a:r>
            <a:endParaRPr kumimoji="1" lang="en-US" altLang="ja-JP" dirty="0"/>
          </a:p>
          <a:p>
            <a:r>
              <a:rPr kumimoji="1" lang="ja-JP" altLang="en-US" dirty="0"/>
              <a:t>学習により約２０％程度の差</a:t>
            </a:r>
            <a:endParaRPr kumimoji="1" lang="en-US" altLang="ja-JP" dirty="0"/>
          </a:p>
        </p:txBody>
      </p:sp>
      <p:sp>
        <p:nvSpPr>
          <p:cNvPr id="4" name="スライド番号プレースホルダー 3">
            <a:extLst>
              <a:ext uri="{FF2B5EF4-FFF2-40B4-BE49-F238E27FC236}">
                <a16:creationId xmlns:a16="http://schemas.microsoft.com/office/drawing/2014/main" id="{3D71DF25-621C-DE35-B115-395C669CB6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13" name="図 12">
            <a:extLst>
              <a:ext uri="{FF2B5EF4-FFF2-40B4-BE49-F238E27FC236}">
                <a16:creationId xmlns:a16="http://schemas.microsoft.com/office/drawing/2014/main" id="{43F0356C-8248-A247-160A-8CEB63667599}"/>
              </a:ext>
            </a:extLst>
          </p:cNvPr>
          <p:cNvPicPr>
            <a:picLocks noChangeAspect="1"/>
          </p:cNvPicPr>
          <p:nvPr/>
        </p:nvPicPr>
        <p:blipFill>
          <a:blip r:embed="rId2"/>
          <a:stretch>
            <a:fillRect/>
          </a:stretch>
        </p:blipFill>
        <p:spPr>
          <a:xfrm>
            <a:off x="1166155" y="2893423"/>
            <a:ext cx="10738297" cy="1452154"/>
          </a:xfrm>
          <a:prstGeom prst="rect">
            <a:avLst/>
          </a:prstGeom>
        </p:spPr>
      </p:pic>
    </p:spTree>
    <p:extLst>
      <p:ext uri="{BB962C8B-B14F-4D97-AF65-F5344CB8AC3E}">
        <p14:creationId xmlns:p14="http://schemas.microsoft.com/office/powerpoint/2010/main" val="1439117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91540" y="0"/>
            <a:ext cx="10515600" cy="1325563"/>
          </a:xfrm>
        </p:spPr>
        <p:txBody>
          <a:bodyPr/>
          <a:lstStyle/>
          <a:p>
            <a:r>
              <a:rPr lang="ja-JP" altLang="en-US" dirty="0"/>
              <a:t>進捗と</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84859" y="929013"/>
            <a:ext cx="11548907" cy="5792461"/>
          </a:xfrm>
        </p:spPr>
        <p:txBody>
          <a:bodyPr/>
          <a:lstStyle/>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a:t>
            </a:r>
            <a:endParaRPr kumimoji="1" lang="en-US" altLang="ja-JP" dirty="0"/>
          </a:p>
          <a:p>
            <a:pPr lvl="1"/>
            <a:r>
              <a:rPr kumimoji="1" lang="ja-JP" altLang="en-US" dirty="0"/>
              <a:t>発表題目案✅</a:t>
            </a:r>
            <a:r>
              <a:rPr kumimoji="1" lang="en-US" altLang="ja-JP" dirty="0"/>
              <a:t>,</a:t>
            </a:r>
            <a:r>
              <a:rPr kumimoji="1" lang="ja-JP" altLang="en-US" dirty="0"/>
              <a:t>要旨の作成✅</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を測る（コメント利用なし）✅</a:t>
            </a:r>
            <a:endParaRPr kumimoji="1" lang="en-US" altLang="ja-JP" dirty="0"/>
          </a:p>
          <a:p>
            <a:pPr lvl="1"/>
            <a:r>
              <a:rPr kumimoji="1" lang="ja-JP" altLang="en-US" dirty="0"/>
              <a:t>コメントを利用した手法の実装✅</a:t>
            </a:r>
            <a:endParaRPr kumimoji="1" lang="en-US" altLang="ja-JP" dirty="0"/>
          </a:p>
          <a:p>
            <a:pPr lvl="1"/>
            <a:r>
              <a:rPr kumimoji="1" lang="ja-JP" altLang="en-US" dirty="0"/>
              <a:t>コメントなしとコメントあり手法の比較用テストデータの作成✅</a:t>
            </a:r>
            <a:endParaRPr kumimoji="1" lang="en-US" altLang="ja-JP" dirty="0"/>
          </a:p>
          <a:p>
            <a:pPr lvl="1"/>
            <a:r>
              <a:rPr kumimoji="1" lang="ja-JP" altLang="en-US" dirty="0"/>
              <a:t>コメントなしとコメントありの</a:t>
            </a:r>
            <a:r>
              <a:rPr kumimoji="1" lang="en-US" altLang="ja-JP" dirty="0"/>
              <a:t>Pk</a:t>
            </a:r>
            <a:r>
              <a:rPr kumimoji="1" lang="ja-JP" altLang="en-US" dirty="0"/>
              <a:t>，</a:t>
            </a:r>
            <a:r>
              <a:rPr kumimoji="1" lang="en-US" altLang="ja-JP" dirty="0"/>
              <a:t>WD</a:t>
            </a:r>
            <a:r>
              <a:rPr kumimoji="1" lang="ja-JP" altLang="en-US" dirty="0"/>
              <a:t>の測定✅</a:t>
            </a:r>
            <a:endParaRPr kumimoji="1" lang="en-US" altLang="ja-JP" dirty="0"/>
          </a:p>
          <a:p>
            <a:pPr lvl="1"/>
            <a:r>
              <a:rPr kumimoji="1" lang="ja-JP" altLang="en-US" dirty="0"/>
              <a:t>実験結果からみられる傾向の分析（今週中）</a:t>
            </a:r>
            <a:endParaRPr kumimoji="1" lang="en-US" altLang="ja-JP" dirty="0"/>
          </a:p>
          <a:p>
            <a:pPr lvl="1"/>
            <a:r>
              <a:rPr kumimoji="1" lang="ja-JP" altLang="en-US" dirty="0"/>
              <a:t>論文原稿の作成（途中）</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mc:AlternateContent xmlns:mc="http://schemas.openxmlformats.org/markup-compatibility/2006" xmlns:p14="http://schemas.microsoft.com/office/powerpoint/2010/main">
        <mc:Choice Requires="p14">
          <p:contentPart p14:bwMode="auto" r:id="rId2">
            <p14:nvContentPartPr>
              <p14:cNvPr id="5" name="インク 4">
                <a:extLst>
                  <a:ext uri="{FF2B5EF4-FFF2-40B4-BE49-F238E27FC236}">
                    <a16:creationId xmlns:a16="http://schemas.microsoft.com/office/drawing/2014/main" id="{5201A5F8-6759-541B-848E-4ACB324F5A78}"/>
                  </a:ext>
                </a:extLst>
              </p14:cNvPr>
              <p14:cNvContentPartPr/>
              <p14:nvPr/>
            </p14:nvContentPartPr>
            <p14:xfrm>
              <a:off x="1915690" y="1285525"/>
              <a:ext cx="5038000" cy="720"/>
            </p14:xfrm>
          </p:contentPart>
        </mc:Choice>
        <mc:Fallback xmlns="">
          <p:pic>
            <p:nvPicPr>
              <p:cNvPr id="5" name="インク 4">
                <a:extLst>
                  <a:ext uri="{FF2B5EF4-FFF2-40B4-BE49-F238E27FC236}">
                    <a16:creationId xmlns:a16="http://schemas.microsoft.com/office/drawing/2014/main" id="{5201A5F8-6759-541B-848E-4ACB324F5A78}"/>
                  </a:ext>
                </a:extLst>
              </p:cNvPr>
              <p:cNvPicPr/>
              <p:nvPr/>
            </p:nvPicPr>
            <p:blipFill>
              <a:blip r:embed="rId5"/>
              <a:stretch>
                <a:fillRect/>
              </a:stretch>
            </p:blipFill>
            <p:spPr>
              <a:xfrm>
                <a:off x="1906690" y="1267525"/>
                <a:ext cx="5055639"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インク 7">
                <a:extLst>
                  <a:ext uri="{FF2B5EF4-FFF2-40B4-BE49-F238E27FC236}">
                    <a16:creationId xmlns:a16="http://schemas.microsoft.com/office/drawing/2014/main" id="{6E52387A-EDEF-8263-9DED-BD9EA11417B2}"/>
                  </a:ext>
                </a:extLst>
              </p14:cNvPr>
              <p14:cNvContentPartPr/>
              <p14:nvPr/>
            </p14:nvContentPartPr>
            <p14:xfrm>
              <a:off x="1915692" y="2256390"/>
              <a:ext cx="2220374" cy="720"/>
            </p14:xfrm>
          </p:contentPart>
        </mc:Choice>
        <mc:Fallback xmlns="">
          <p:pic>
            <p:nvPicPr>
              <p:cNvPr id="8" name="インク 7">
                <a:extLst>
                  <a:ext uri="{FF2B5EF4-FFF2-40B4-BE49-F238E27FC236}">
                    <a16:creationId xmlns:a16="http://schemas.microsoft.com/office/drawing/2014/main" id="{6E52387A-EDEF-8263-9DED-BD9EA11417B2}"/>
                  </a:ext>
                </a:extLst>
              </p:cNvPr>
              <p:cNvPicPr/>
              <p:nvPr/>
            </p:nvPicPr>
            <p:blipFill>
              <a:blip r:embed="rId7"/>
              <a:stretch>
                <a:fillRect/>
              </a:stretch>
            </p:blipFill>
            <p:spPr>
              <a:xfrm>
                <a:off x="1906692" y="2238390"/>
                <a:ext cx="223801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インク 8">
                <a:extLst>
                  <a:ext uri="{FF2B5EF4-FFF2-40B4-BE49-F238E27FC236}">
                    <a16:creationId xmlns:a16="http://schemas.microsoft.com/office/drawing/2014/main" id="{B37762DB-F8D8-FE96-2C89-C14E77FEA7B7}"/>
                  </a:ext>
                </a:extLst>
              </p14:cNvPr>
              <p14:cNvContentPartPr/>
              <p14:nvPr/>
            </p14:nvContentPartPr>
            <p14:xfrm>
              <a:off x="1915691" y="2681939"/>
              <a:ext cx="2571250" cy="720"/>
            </p14:xfrm>
          </p:contentPart>
        </mc:Choice>
        <mc:Fallback xmlns="">
          <p:pic>
            <p:nvPicPr>
              <p:cNvPr id="9" name="インク 8">
                <a:extLst>
                  <a:ext uri="{FF2B5EF4-FFF2-40B4-BE49-F238E27FC236}">
                    <a16:creationId xmlns:a16="http://schemas.microsoft.com/office/drawing/2014/main" id="{B37762DB-F8D8-FE96-2C89-C14E77FEA7B7}"/>
                  </a:ext>
                </a:extLst>
              </p:cNvPr>
              <p:cNvPicPr/>
              <p:nvPr/>
            </p:nvPicPr>
            <p:blipFill>
              <a:blip r:embed="rId9"/>
              <a:stretch>
                <a:fillRect/>
              </a:stretch>
            </p:blipFill>
            <p:spPr>
              <a:xfrm>
                <a:off x="1906692" y="2663939"/>
                <a:ext cx="2588888"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インク 9">
                <a:extLst>
                  <a:ext uri="{FF2B5EF4-FFF2-40B4-BE49-F238E27FC236}">
                    <a16:creationId xmlns:a16="http://schemas.microsoft.com/office/drawing/2014/main" id="{7F7A17AB-FBFE-C372-6E3D-E9D71141086D}"/>
                  </a:ext>
                </a:extLst>
              </p14:cNvPr>
              <p14:cNvContentPartPr/>
              <p14:nvPr/>
            </p14:nvContentPartPr>
            <p14:xfrm>
              <a:off x="1915690" y="3186123"/>
              <a:ext cx="3389958" cy="720"/>
            </p14:xfrm>
          </p:contentPart>
        </mc:Choice>
        <mc:Fallback xmlns="">
          <p:pic>
            <p:nvPicPr>
              <p:cNvPr id="10" name="インク 9">
                <a:extLst>
                  <a:ext uri="{FF2B5EF4-FFF2-40B4-BE49-F238E27FC236}">
                    <a16:creationId xmlns:a16="http://schemas.microsoft.com/office/drawing/2014/main" id="{7F7A17AB-FBFE-C372-6E3D-E9D71141086D}"/>
                  </a:ext>
                </a:extLst>
              </p:cNvPr>
              <p:cNvPicPr/>
              <p:nvPr/>
            </p:nvPicPr>
            <p:blipFill>
              <a:blip r:embed="rId11"/>
              <a:stretch>
                <a:fillRect/>
              </a:stretch>
            </p:blipFill>
            <p:spPr>
              <a:xfrm>
                <a:off x="1906690" y="3168123"/>
                <a:ext cx="3407597"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インク 10">
                <a:extLst>
                  <a:ext uri="{FF2B5EF4-FFF2-40B4-BE49-F238E27FC236}">
                    <a16:creationId xmlns:a16="http://schemas.microsoft.com/office/drawing/2014/main" id="{EF3AE1EC-118F-419E-8D0F-7838CB297776}"/>
                  </a:ext>
                </a:extLst>
              </p14:cNvPr>
              <p14:cNvContentPartPr/>
              <p14:nvPr/>
            </p14:nvContentPartPr>
            <p14:xfrm>
              <a:off x="1915691" y="1788989"/>
              <a:ext cx="3219835" cy="720"/>
            </p14:xfrm>
          </p:contentPart>
        </mc:Choice>
        <mc:Fallback xmlns="">
          <p:pic>
            <p:nvPicPr>
              <p:cNvPr id="11" name="インク 10">
                <a:extLst>
                  <a:ext uri="{FF2B5EF4-FFF2-40B4-BE49-F238E27FC236}">
                    <a16:creationId xmlns:a16="http://schemas.microsoft.com/office/drawing/2014/main" id="{EF3AE1EC-118F-419E-8D0F-7838CB297776}"/>
                  </a:ext>
                </a:extLst>
              </p:cNvPr>
              <p:cNvPicPr/>
              <p:nvPr/>
            </p:nvPicPr>
            <p:blipFill>
              <a:blip r:embed="rId13"/>
              <a:stretch>
                <a:fillRect/>
              </a:stretch>
            </p:blipFill>
            <p:spPr>
              <a:xfrm>
                <a:off x="1906692" y="1770989"/>
                <a:ext cx="323747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インク 11">
                <a:extLst>
                  <a:ext uri="{FF2B5EF4-FFF2-40B4-BE49-F238E27FC236}">
                    <a16:creationId xmlns:a16="http://schemas.microsoft.com/office/drawing/2014/main" id="{B994906A-0A38-F5BB-A882-37EF33267634}"/>
                  </a:ext>
                </a:extLst>
              </p14:cNvPr>
              <p14:cNvContentPartPr/>
              <p14:nvPr/>
            </p14:nvContentPartPr>
            <p14:xfrm>
              <a:off x="1915689" y="3610952"/>
              <a:ext cx="7366533" cy="720"/>
            </p14:xfrm>
          </p:contentPart>
        </mc:Choice>
        <mc:Fallback xmlns="">
          <p:pic>
            <p:nvPicPr>
              <p:cNvPr id="12" name="インク 11">
                <a:extLst>
                  <a:ext uri="{FF2B5EF4-FFF2-40B4-BE49-F238E27FC236}">
                    <a16:creationId xmlns:a16="http://schemas.microsoft.com/office/drawing/2014/main" id="{B994906A-0A38-F5BB-A882-37EF33267634}"/>
                  </a:ext>
                </a:extLst>
              </p:cNvPr>
              <p:cNvPicPr/>
              <p:nvPr/>
            </p:nvPicPr>
            <p:blipFill>
              <a:blip r:embed="rId15"/>
              <a:stretch>
                <a:fillRect/>
              </a:stretch>
            </p:blipFill>
            <p:spPr>
              <a:xfrm>
                <a:off x="1906689" y="3592952"/>
                <a:ext cx="7384173"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インク 5">
                <a:extLst>
                  <a:ext uri="{FF2B5EF4-FFF2-40B4-BE49-F238E27FC236}">
                    <a16:creationId xmlns:a16="http://schemas.microsoft.com/office/drawing/2014/main" id="{E4EB5A0F-AB08-72B5-6623-B1D838BE6DFC}"/>
                  </a:ext>
                </a:extLst>
              </p14:cNvPr>
              <p14:cNvContentPartPr/>
              <p14:nvPr/>
            </p14:nvContentPartPr>
            <p14:xfrm>
              <a:off x="1915689" y="4106304"/>
              <a:ext cx="4180312" cy="720"/>
            </p14:xfrm>
          </p:contentPart>
        </mc:Choice>
        <mc:Fallback xmlns="">
          <p:pic>
            <p:nvPicPr>
              <p:cNvPr id="6" name="インク 5">
                <a:extLst>
                  <a:ext uri="{FF2B5EF4-FFF2-40B4-BE49-F238E27FC236}">
                    <a16:creationId xmlns:a16="http://schemas.microsoft.com/office/drawing/2014/main" id="{E4EB5A0F-AB08-72B5-6623-B1D838BE6DFC}"/>
                  </a:ext>
                </a:extLst>
              </p:cNvPr>
              <p:cNvPicPr/>
              <p:nvPr/>
            </p:nvPicPr>
            <p:blipFill>
              <a:blip r:embed="rId17"/>
              <a:stretch>
                <a:fillRect/>
              </a:stretch>
            </p:blipFill>
            <p:spPr>
              <a:xfrm>
                <a:off x="1906690" y="4088304"/>
                <a:ext cx="419795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インク 12">
                <a:extLst>
                  <a:ext uri="{FF2B5EF4-FFF2-40B4-BE49-F238E27FC236}">
                    <a16:creationId xmlns:a16="http://schemas.microsoft.com/office/drawing/2014/main" id="{0A556F0C-4A07-86C7-6FEB-7B9D602879BD}"/>
                  </a:ext>
                </a:extLst>
              </p14:cNvPr>
              <p14:cNvContentPartPr/>
              <p14:nvPr/>
            </p14:nvContentPartPr>
            <p14:xfrm>
              <a:off x="1915689" y="4583257"/>
              <a:ext cx="8328449" cy="720"/>
            </p14:xfrm>
          </p:contentPart>
        </mc:Choice>
        <mc:Fallback xmlns="">
          <p:pic>
            <p:nvPicPr>
              <p:cNvPr id="13" name="インク 12">
                <a:extLst>
                  <a:ext uri="{FF2B5EF4-FFF2-40B4-BE49-F238E27FC236}">
                    <a16:creationId xmlns:a16="http://schemas.microsoft.com/office/drawing/2014/main" id="{0A556F0C-4A07-86C7-6FEB-7B9D602879BD}"/>
                  </a:ext>
                </a:extLst>
              </p:cNvPr>
              <p:cNvPicPr/>
              <p:nvPr/>
            </p:nvPicPr>
            <p:blipFill>
              <a:blip r:embed="rId19"/>
              <a:stretch>
                <a:fillRect/>
              </a:stretch>
            </p:blipFill>
            <p:spPr>
              <a:xfrm>
                <a:off x="1906689" y="4565257"/>
                <a:ext cx="8346089"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インク 13">
                <a:extLst>
                  <a:ext uri="{FF2B5EF4-FFF2-40B4-BE49-F238E27FC236}">
                    <a16:creationId xmlns:a16="http://schemas.microsoft.com/office/drawing/2014/main" id="{8B5D14EA-1B4B-E0F0-61FA-D9B3A441BCAA}"/>
                  </a:ext>
                </a:extLst>
              </p14:cNvPr>
              <p14:cNvContentPartPr/>
              <p14:nvPr/>
            </p14:nvContentPartPr>
            <p14:xfrm>
              <a:off x="1915689" y="5035317"/>
              <a:ext cx="6113886" cy="720"/>
            </p14:xfrm>
          </p:contentPart>
        </mc:Choice>
        <mc:Fallback xmlns="">
          <p:pic>
            <p:nvPicPr>
              <p:cNvPr id="14" name="インク 13">
                <a:extLst>
                  <a:ext uri="{FF2B5EF4-FFF2-40B4-BE49-F238E27FC236}">
                    <a16:creationId xmlns:a16="http://schemas.microsoft.com/office/drawing/2014/main" id="{8B5D14EA-1B4B-E0F0-61FA-D9B3A441BCAA}"/>
                  </a:ext>
                </a:extLst>
              </p:cNvPr>
              <p:cNvPicPr/>
              <p:nvPr/>
            </p:nvPicPr>
            <p:blipFill>
              <a:blip r:embed="rId21"/>
              <a:stretch>
                <a:fillRect/>
              </a:stretch>
            </p:blipFill>
            <p:spPr>
              <a:xfrm>
                <a:off x="1906690" y="5017317"/>
                <a:ext cx="6131525" cy="36000"/>
              </a:xfrm>
              <a:prstGeom prst="rect">
                <a:avLst/>
              </a:prstGeom>
            </p:spPr>
          </p:pic>
        </mc:Fallback>
      </mc:AlternateContent>
    </p:spTree>
    <p:extLst>
      <p:ext uri="{BB962C8B-B14F-4D97-AF65-F5344CB8AC3E}">
        <p14:creationId xmlns:p14="http://schemas.microsoft.com/office/powerpoint/2010/main" val="2716303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1DF6DB-FBE0-29F7-2934-16426D0E11FA}"/>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D76FDB0-61F5-9CDE-F641-2C37E23499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7" name="図 6">
            <a:extLst>
              <a:ext uri="{FF2B5EF4-FFF2-40B4-BE49-F238E27FC236}">
                <a16:creationId xmlns:a16="http://schemas.microsoft.com/office/drawing/2014/main" id="{C4FDD8F6-CC0B-2CD0-F078-C0C232B6AB65}"/>
              </a:ext>
            </a:extLst>
          </p:cNvPr>
          <p:cNvPicPr>
            <a:picLocks noChangeAspect="1"/>
          </p:cNvPicPr>
          <p:nvPr/>
        </p:nvPicPr>
        <p:blipFill>
          <a:blip r:embed="rId2"/>
          <a:stretch>
            <a:fillRect/>
          </a:stretch>
        </p:blipFill>
        <p:spPr>
          <a:xfrm>
            <a:off x="1024387" y="2728277"/>
            <a:ext cx="10676626" cy="2865120"/>
          </a:xfrm>
          <a:prstGeom prst="rect">
            <a:avLst/>
          </a:prstGeom>
        </p:spPr>
      </p:pic>
    </p:spTree>
    <p:extLst>
      <p:ext uri="{BB962C8B-B14F-4D97-AF65-F5344CB8AC3E}">
        <p14:creationId xmlns:p14="http://schemas.microsoft.com/office/powerpoint/2010/main" val="1334409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20E6-DD15-62E3-B16F-155E3BF6B41E}"/>
              </a:ext>
            </a:extLst>
          </p:cNvPr>
          <p:cNvSpPr>
            <a:spLocks noGrp="1"/>
          </p:cNvSpPr>
          <p:nvPr>
            <p:ph type="title"/>
          </p:nvPr>
        </p:nvSpPr>
        <p:spPr/>
        <p:txBody>
          <a:bodyPr/>
          <a:lstStyle/>
          <a:p>
            <a:r>
              <a:rPr kumimoji="1" lang="ja-JP" altLang="en-US" dirty="0"/>
              <a:t>テスト結果（コメント未使用）</a:t>
            </a:r>
          </a:p>
        </p:txBody>
      </p:sp>
      <p:sp>
        <p:nvSpPr>
          <p:cNvPr id="4" name="スライド番号プレースホルダー 3">
            <a:extLst>
              <a:ext uri="{FF2B5EF4-FFF2-40B4-BE49-F238E27FC236}">
                <a16:creationId xmlns:a16="http://schemas.microsoft.com/office/drawing/2014/main" id="{5FD8C694-C4EB-0397-B965-E595833C5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
        <p:nvSpPr>
          <p:cNvPr id="11" name="テキスト ボックス 10">
            <a:extLst>
              <a:ext uri="{FF2B5EF4-FFF2-40B4-BE49-F238E27FC236}">
                <a16:creationId xmlns:a16="http://schemas.microsoft.com/office/drawing/2014/main" id="{A2C78442-7B4E-E196-655F-74441ACE5718}"/>
              </a:ext>
            </a:extLst>
          </p:cNvPr>
          <p:cNvSpPr txBox="1"/>
          <p:nvPr/>
        </p:nvSpPr>
        <p:spPr>
          <a:xfrm>
            <a:off x="945684" y="5628267"/>
            <a:ext cx="10408116" cy="646331"/>
          </a:xfrm>
          <a:prstGeom prst="rect">
            <a:avLst/>
          </a:prstGeom>
          <a:noFill/>
        </p:spPr>
        <p:txBody>
          <a:bodyPr wrap="square" rtlCol="0">
            <a:spAutoFit/>
          </a:bodyPr>
          <a:lstStyle/>
          <a:p>
            <a:r>
              <a:rPr kumimoji="1" lang="ja-JP" altLang="en-US" sz="1800" dirty="0"/>
              <a:t>４エポック目のモデルが平均</a:t>
            </a:r>
            <a:r>
              <a:rPr kumimoji="1" lang="en-US" altLang="ja-JP" sz="1800" dirty="0" err="1"/>
              <a:t>Pk,WD</a:t>
            </a:r>
            <a:r>
              <a:rPr kumimoji="1" lang="ja-JP" altLang="en-US" sz="1800" dirty="0"/>
              <a:t>ともに最高値</a:t>
            </a:r>
            <a:endParaRPr kumimoji="1" lang="en-US" altLang="ja-JP" sz="1800" dirty="0"/>
          </a:p>
          <a:p>
            <a:r>
              <a:rPr kumimoji="1" lang="ja-JP" altLang="en-US" sz="1800" dirty="0"/>
              <a:t>学習前と比べ，</a:t>
            </a:r>
            <a:r>
              <a:rPr kumimoji="1" lang="en-US" altLang="ja-JP" sz="1800" dirty="0"/>
              <a:t>Pk</a:t>
            </a:r>
            <a:r>
              <a:rPr kumimoji="1" lang="ja-JP" altLang="en-US" sz="1800" dirty="0"/>
              <a:t>は</a:t>
            </a:r>
            <a:r>
              <a:rPr kumimoji="1" lang="en-US" altLang="ja-JP" sz="1800" dirty="0"/>
              <a:t>0.108767</a:t>
            </a:r>
            <a:r>
              <a:rPr kumimoji="1" lang="ja-JP" altLang="en-US" sz="1800" dirty="0"/>
              <a:t>↑　</a:t>
            </a:r>
            <a:r>
              <a:rPr kumimoji="1" lang="en-US" altLang="ja-JP" sz="1800" dirty="0"/>
              <a:t>WD</a:t>
            </a:r>
            <a:r>
              <a:rPr kumimoji="1" lang="ja-JP" altLang="en-US" sz="1800" dirty="0"/>
              <a:t>は</a:t>
            </a:r>
            <a:r>
              <a:rPr kumimoji="1" lang="en-US" altLang="ja-JP" sz="1800" dirty="0"/>
              <a:t>0.119067</a:t>
            </a:r>
            <a:r>
              <a:rPr kumimoji="1" lang="ja-JP" altLang="en-US" sz="1800" dirty="0"/>
              <a:t>↑</a:t>
            </a:r>
          </a:p>
        </p:txBody>
      </p:sp>
      <p:pic>
        <p:nvPicPr>
          <p:cNvPr id="6" name="図 5">
            <a:extLst>
              <a:ext uri="{FF2B5EF4-FFF2-40B4-BE49-F238E27FC236}">
                <a16:creationId xmlns:a16="http://schemas.microsoft.com/office/drawing/2014/main" id="{F767A63B-1EF1-18AE-4752-6643E1614FB0}"/>
              </a:ext>
            </a:extLst>
          </p:cNvPr>
          <p:cNvPicPr>
            <a:picLocks noChangeAspect="1"/>
          </p:cNvPicPr>
          <p:nvPr/>
        </p:nvPicPr>
        <p:blipFill>
          <a:blip r:embed="rId2"/>
          <a:stretch>
            <a:fillRect/>
          </a:stretch>
        </p:blipFill>
        <p:spPr>
          <a:xfrm>
            <a:off x="774984" y="1831162"/>
            <a:ext cx="10749516" cy="3438355"/>
          </a:xfrm>
          <a:prstGeom prst="rect">
            <a:avLst/>
          </a:prstGeom>
        </p:spPr>
      </p:pic>
    </p:spTree>
    <p:extLst>
      <p:ext uri="{BB962C8B-B14F-4D97-AF65-F5344CB8AC3E}">
        <p14:creationId xmlns:p14="http://schemas.microsoft.com/office/powerpoint/2010/main" val="2289232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71484-0E53-586E-2C32-62EDF74C4DD5}"/>
              </a:ext>
            </a:extLst>
          </p:cNvPr>
          <p:cNvSpPr>
            <a:spLocks noGrp="1"/>
          </p:cNvSpPr>
          <p:nvPr>
            <p:ph type="title"/>
          </p:nvPr>
        </p:nvSpPr>
        <p:spPr/>
        <p:txBody>
          <a:bodyPr/>
          <a:lstStyle/>
          <a:p>
            <a:r>
              <a:rPr kumimoji="1" lang="ja-JP" altLang="en-US" dirty="0"/>
              <a:t>実験結果分析内容</a:t>
            </a:r>
          </a:p>
        </p:txBody>
      </p:sp>
      <p:sp>
        <p:nvSpPr>
          <p:cNvPr id="3" name="テキスト プレースホルダー 2">
            <a:extLst>
              <a:ext uri="{FF2B5EF4-FFF2-40B4-BE49-F238E27FC236}">
                <a16:creationId xmlns:a16="http://schemas.microsoft.com/office/drawing/2014/main" id="{55742E68-F93A-E16A-4BA6-3A4288DFAFDD}"/>
              </a:ext>
            </a:extLst>
          </p:cNvPr>
          <p:cNvSpPr>
            <a:spLocks noGrp="1"/>
          </p:cNvSpPr>
          <p:nvPr>
            <p:ph type="body" idx="1"/>
          </p:nvPr>
        </p:nvSpPr>
        <p:spPr/>
        <p:txBody>
          <a:bodyPr/>
          <a:lstStyle/>
          <a:p>
            <a:r>
              <a:rPr lang="ja-JP" altLang="en-US" b="1" dirty="0"/>
              <a:t>誤検出の要因分析</a:t>
            </a:r>
            <a:endParaRPr lang="en-US" altLang="ja-JP" b="1" dirty="0"/>
          </a:p>
          <a:p>
            <a:pPr lvl="1"/>
            <a:r>
              <a:rPr lang="ja-JP" altLang="en-US" b="1" dirty="0"/>
              <a:t>誤って境界と判断した場合</a:t>
            </a:r>
            <a:endParaRPr lang="en-US" altLang="ja-JP" b="1" dirty="0"/>
          </a:p>
          <a:p>
            <a:pPr lvl="1"/>
            <a:r>
              <a:rPr lang="ja-JP" altLang="en-US" b="1" dirty="0"/>
              <a:t>境界を見逃す場合</a:t>
            </a:r>
          </a:p>
          <a:p>
            <a:r>
              <a:rPr lang="ja-JP" altLang="en-US" b="1" dirty="0"/>
              <a:t>正解境界位置の前後の字幕，コメントのパターン分析</a:t>
            </a:r>
          </a:p>
          <a:p>
            <a:endParaRPr kumimoji="1" lang="en-US" altLang="ja-JP" dirty="0"/>
          </a:p>
        </p:txBody>
      </p:sp>
      <p:sp>
        <p:nvSpPr>
          <p:cNvPr id="4" name="スライド番号プレースホルダー 3">
            <a:extLst>
              <a:ext uri="{FF2B5EF4-FFF2-40B4-BE49-F238E27FC236}">
                <a16:creationId xmlns:a16="http://schemas.microsoft.com/office/drawing/2014/main" id="{EDB3618E-6AC9-46FE-5446-B9C4D932D5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139318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41309E-F470-D649-861A-3C5E1F185518}"/>
              </a:ext>
            </a:extLst>
          </p:cNvPr>
          <p:cNvSpPr>
            <a:spLocks noGrp="1"/>
          </p:cNvSpPr>
          <p:nvPr>
            <p:ph type="title"/>
          </p:nvPr>
        </p:nvSpPr>
        <p:spPr/>
        <p:txBody>
          <a:bodyPr/>
          <a:lstStyle/>
          <a:p>
            <a:r>
              <a:rPr kumimoji="1" lang="ja-JP" altLang="en-US" dirty="0"/>
              <a:t>コメント利用版のテストデータの作成</a:t>
            </a:r>
          </a:p>
        </p:txBody>
      </p:sp>
      <p:sp>
        <p:nvSpPr>
          <p:cNvPr id="3" name="テキスト プレースホルダー 2">
            <a:extLst>
              <a:ext uri="{FF2B5EF4-FFF2-40B4-BE49-F238E27FC236}">
                <a16:creationId xmlns:a16="http://schemas.microsoft.com/office/drawing/2014/main" id="{FAA75F41-25DD-9D65-6FA9-DE887566D38E}"/>
              </a:ext>
            </a:extLst>
          </p:cNvPr>
          <p:cNvSpPr>
            <a:spLocks noGrp="1"/>
          </p:cNvSpPr>
          <p:nvPr>
            <p:ph type="body" idx="1"/>
          </p:nvPr>
        </p:nvSpPr>
        <p:spPr>
          <a:xfrm>
            <a:off x="738963" y="1154923"/>
            <a:ext cx="11453037" cy="5383989"/>
          </a:xfrm>
        </p:spPr>
        <p:txBody>
          <a:bodyPr/>
          <a:lstStyle/>
          <a:p>
            <a:r>
              <a:rPr kumimoji="1" lang="ja-JP" altLang="en-US" dirty="0"/>
              <a:t>テスト目的：コメント不使用モデルとコメント使用モデルの比較</a:t>
            </a:r>
            <a:endParaRPr kumimoji="1" lang="en-US" altLang="ja-JP" dirty="0"/>
          </a:p>
          <a:p>
            <a:r>
              <a:rPr kumimoji="1" lang="ja-JP" altLang="en-US" dirty="0"/>
              <a:t>前回のテストデータ生成との違い</a:t>
            </a:r>
            <a:endParaRPr lang="en-US" altLang="ja-JP" dirty="0"/>
          </a:p>
          <a:p>
            <a:pPr lvl="1"/>
            <a:r>
              <a:rPr lang="ja-JP" altLang="en-US" dirty="0"/>
              <a:t>字幕のみなら、複数の切り抜き動画をつなぐ → 境界は自動で明確に決まる</a:t>
            </a:r>
            <a:endParaRPr lang="en-US" altLang="ja-JP" dirty="0"/>
          </a:p>
          <a:p>
            <a:pPr lvl="1"/>
            <a:r>
              <a:rPr lang="ja-JP" altLang="en-US" dirty="0"/>
              <a:t>コメント数が一定数確保できるライブ配信にする必要がある（</a:t>
            </a:r>
            <a:r>
              <a:rPr lang="en-US" altLang="ja-JP" dirty="0" err="1"/>
              <a:t>NewsCH</a:t>
            </a:r>
            <a:r>
              <a:rPr lang="ja-JP" altLang="en-US" dirty="0"/>
              <a:t>の生放送ではコメント数が少ないため人気配信者の雑談配信を選択）</a:t>
            </a:r>
            <a:endParaRPr lang="en-US" altLang="ja-JP" dirty="0"/>
          </a:p>
          <a:p>
            <a:pPr lvl="1"/>
            <a:r>
              <a:rPr lang="ja-JP" altLang="en-US" dirty="0"/>
              <a:t>長尺（</a:t>
            </a:r>
            <a:r>
              <a:rPr lang="en-US" altLang="ja-JP" dirty="0"/>
              <a:t>1〜3</a:t>
            </a:r>
            <a:r>
              <a:rPr lang="ja-JP" altLang="en-US" dirty="0"/>
              <a:t>時間）に対して手でラベルを付けるのは手間もかかり、主観的な評価になってしまう．</a:t>
            </a:r>
            <a:endParaRPr lang="en-US" altLang="ja-JP" dirty="0"/>
          </a:p>
          <a:p>
            <a:r>
              <a:rPr kumimoji="1" lang="ja-JP" altLang="en-US" dirty="0"/>
              <a:t>生成手順</a:t>
            </a:r>
            <a:endParaRPr kumimoji="1" lang="en-US" altLang="ja-JP" dirty="0"/>
          </a:p>
          <a:p>
            <a:pPr lvl="1"/>
            <a:r>
              <a:rPr kumimoji="1" lang="ja-JP" altLang="en-US" dirty="0"/>
              <a:t>切り抜き動画（１動画に複数シーンのクリップを含む）を基にして，それぞれのシーン中に生放送中に投稿されたコメントを取得し，境界検出に利用する．境界ラベルはシーンの切り替りの発話点とし，テストデータとする．</a:t>
            </a:r>
            <a:endParaRPr kumimoji="1" lang="en-US" altLang="ja-JP" dirty="0"/>
          </a:p>
        </p:txBody>
      </p:sp>
      <p:sp>
        <p:nvSpPr>
          <p:cNvPr id="4" name="スライド番号プレースホルダー 3">
            <a:extLst>
              <a:ext uri="{FF2B5EF4-FFF2-40B4-BE49-F238E27FC236}">
                <a16:creationId xmlns:a16="http://schemas.microsoft.com/office/drawing/2014/main" id="{4ADA1662-D3C3-3563-EDFF-527382C34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Tree>
    <p:extLst>
      <p:ext uri="{BB962C8B-B14F-4D97-AF65-F5344CB8AC3E}">
        <p14:creationId xmlns:p14="http://schemas.microsoft.com/office/powerpoint/2010/main" val="3435182351"/>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21090</TotalTime>
  <Words>555</Words>
  <Application>Microsoft Office PowerPoint</Application>
  <PresentationFormat>ワイド画面</PresentationFormat>
  <Paragraphs>65</Paragraphs>
  <Slides>10</Slides>
  <Notes>1</Notes>
  <HiddenSlides>4</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Cambria Math</vt:lpstr>
      <vt:lpstr>Arial</vt:lpstr>
      <vt:lpstr>Open Sans</vt:lpstr>
      <vt:lpstr>GradientVTI</vt:lpstr>
      <vt:lpstr>進捗報告</vt:lpstr>
      <vt:lpstr>進捗</vt:lpstr>
      <vt:lpstr>コメントを含めたテストデータの作成</vt:lpstr>
      <vt:lpstr>発話文とコメントの割り当て</vt:lpstr>
      <vt:lpstr>測定結果</vt:lpstr>
      <vt:lpstr>進捗と予定</vt:lpstr>
      <vt:lpstr>PowerPoint プレゼンテーション</vt:lpstr>
      <vt:lpstr>テスト結果（コメント未使用）</vt:lpstr>
      <vt:lpstr>実験結果分析内容</vt:lpstr>
      <vt:lpstr>コメント利用版のテストデータの作成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三輪　昇汰</cp:lastModifiedBy>
  <cp:revision>61</cp:revision>
  <dcterms:created xsi:type="dcterms:W3CDTF">2025-05-18T22:20:18Z</dcterms:created>
  <dcterms:modified xsi:type="dcterms:W3CDTF">2025-12-19T01:40:41Z</dcterms:modified>
</cp:coreProperties>
</file>