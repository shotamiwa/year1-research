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notesMasterIdLst>
    <p:notesMasterId r:id="rId17"/>
  </p:notesMasterIdLst>
  <p:sldIdLst>
    <p:sldId id="256" r:id="rId2"/>
    <p:sldId id="257" r:id="rId3"/>
    <p:sldId id="263" r:id="rId4"/>
    <p:sldId id="262" r:id="rId5"/>
    <p:sldId id="258" r:id="rId6"/>
    <p:sldId id="259" r:id="rId7"/>
    <p:sldId id="265" r:id="rId8"/>
    <p:sldId id="264" r:id="rId9"/>
    <p:sldId id="260" r:id="rId10"/>
    <p:sldId id="267" r:id="rId11"/>
    <p:sldId id="266" r:id="rId12"/>
    <p:sldId id="268" r:id="rId13"/>
    <p:sldId id="269" r:id="rId14"/>
    <p:sldId id="270" r:id="rId15"/>
    <p:sldId id="261"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C1FB71-A051-4E0E-AB97-712272489FA9}" v="121" dt="2025-06-23T02:54:18.447"/>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3" autoAdjust="0"/>
    <p:restoredTop sz="94660"/>
  </p:normalViewPr>
  <p:slideViewPr>
    <p:cSldViewPr snapToGrid="0">
      <p:cViewPr varScale="1">
        <p:scale>
          <a:sx n="92" d="100"/>
          <a:sy n="92" d="100"/>
        </p:scale>
        <p:origin x="9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189518-7BDC-4EF2-BA07-E597FC3F5EA0}" type="datetimeFigureOut">
              <a:rPr kumimoji="1" lang="ja-JP" altLang="en-US" smtClean="0"/>
              <a:t>2025/6/23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8DC819-7384-4D0C-892B-5B4234F1FB04}" type="slidenum">
              <a:rPr kumimoji="1" lang="ja-JP" altLang="en-US" smtClean="0"/>
              <a:t>‹#›</a:t>
            </a:fld>
            <a:endParaRPr kumimoji="1" lang="ja-JP" altLang="en-US"/>
          </a:p>
        </p:txBody>
      </p:sp>
    </p:spTree>
    <p:extLst>
      <p:ext uri="{BB962C8B-B14F-4D97-AF65-F5344CB8AC3E}">
        <p14:creationId xmlns:p14="http://schemas.microsoft.com/office/powerpoint/2010/main" val="271252401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anchor="b"/>
          <a:lstStyle>
            <a:lvl1pPr algn="l">
              <a:defRPr sz="6000" b="0" i="0" cap="none" baseline="0"/>
            </a:lvl1pPr>
          </a:lstStyle>
          <a:p>
            <a:r>
              <a:rPr lang="en-US"/>
              <a:t>Click to edit Master title style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E66DA5-7751-4D3D-B753-58DF3B418763}"/>
              </a:ext>
            </a:extLst>
          </p:cNvPr>
          <p:cNvSpPr>
            <a:spLocks noGrp="1"/>
          </p:cNvSpPr>
          <p:nvPr>
            <p:ph type="dt" sz="half" idx="10"/>
          </p:nvPr>
        </p:nvSpPr>
        <p:spPr/>
        <p:txBody>
          <a:bodyPr/>
          <a:lstStyle/>
          <a:p>
            <a:fld id="{EC017EED-94F8-48BD-AD46-42CC091DFCD5}" type="datetime1">
              <a:rPr lang="en-US" altLang="ja-JP" smtClean="0"/>
              <a:t>6/23/2025</a:t>
            </a:fld>
            <a:endParaRPr lang="en-US"/>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1" name="Straight Connector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5270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p>
            <a:fld id="{9DAB9055-7364-4701-BD19-5946FD70A601}" type="datetime1">
              <a:rPr lang="en-US" altLang="ja-JP" smtClean="0"/>
              <a:t>6/23/2025</a:t>
            </a:fld>
            <a:endParaRPr lang="en-US"/>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1269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FC2D1-D3FE-4B37-8740-57444421FDBF}"/>
              </a:ext>
            </a:extLst>
          </p:cNvPr>
          <p:cNvSpPr>
            <a:spLocks noGrp="1"/>
          </p:cNvSpPr>
          <p:nvPr>
            <p:ph type="title"/>
          </p:nvPr>
        </p:nvSpPr>
        <p:spPr>
          <a:xfrm>
            <a:off x="831850" y="1709738"/>
            <a:ext cx="10515600" cy="2852737"/>
          </a:xfrm>
        </p:spPr>
        <p:txBody>
          <a:bodyPr anchor="b"/>
          <a:lstStyle>
            <a:lvl1pPr>
              <a:defRPr sz="6000" b="1" i="0" cap="all" baseline="0"/>
            </a:lvl1pPr>
          </a:lstStyle>
          <a:p>
            <a:r>
              <a:rPr lang="en-US"/>
              <a:t>Click to edit Master title style</a:t>
            </a:r>
          </a:p>
        </p:txBody>
      </p:sp>
      <p:sp>
        <p:nvSpPr>
          <p:cNvPr id="3" name="Text Placeholder 2">
            <a:extLst>
              <a:ext uri="{FF2B5EF4-FFF2-40B4-BE49-F238E27FC236}">
                <a16:creationId xmlns:a16="http://schemas.microsoft.com/office/drawing/2014/main" id="{BA5AF550-086C-426E-A374-85DB395701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A58988-AD39-4AE9-8E6A-0907F0BE2673}"/>
              </a:ext>
            </a:extLst>
          </p:cNvPr>
          <p:cNvSpPr>
            <a:spLocks noGrp="1"/>
          </p:cNvSpPr>
          <p:nvPr>
            <p:ph type="dt" sz="half" idx="10"/>
          </p:nvPr>
        </p:nvSpPr>
        <p:spPr/>
        <p:txBody>
          <a:bodyPr/>
          <a:lstStyle/>
          <a:p>
            <a:fld id="{3CA98758-20B1-499B-8141-454EB5136267}" type="datetime1">
              <a:rPr lang="en-US" altLang="ja-JP" smtClean="0"/>
              <a:t>6/23/2025</a:t>
            </a:fld>
            <a:endParaRPr lang="en-US"/>
          </a:p>
        </p:txBody>
      </p:sp>
      <p:sp>
        <p:nvSpPr>
          <p:cNvPr id="5" name="Footer Placeholder 4">
            <a:extLst>
              <a:ext uri="{FF2B5EF4-FFF2-40B4-BE49-F238E27FC236}">
                <a16:creationId xmlns:a16="http://schemas.microsoft.com/office/drawing/2014/main" id="{1D366319-82EE-408E-819F-8F8E6DBA7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1C8A6-777F-496D-8620-AE52BFC33FC4}"/>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9" name="Straight Connector 8">
            <a:extLst>
              <a:ext uri="{FF2B5EF4-FFF2-40B4-BE49-F238E27FC236}">
                <a16:creationId xmlns:a16="http://schemas.microsoft.com/office/drawing/2014/main" id="{C031F83B-57A8-4533-981C-D1FFAD2B6B6F}"/>
              </a:ext>
            </a:extLst>
          </p:cNvPr>
          <p:cNvCxnSpPr>
            <a:cxnSpLocks/>
          </p:cNvCxnSpPr>
          <p:nvPr/>
        </p:nvCxnSpPr>
        <p:spPr>
          <a:xfrm>
            <a:off x="715890" y="1701425"/>
            <a:ext cx="0" cy="5148262"/>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4433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D8FDCB-69DA-4A8F-8B91-5CFF77897C27}"/>
              </a:ext>
            </a:extLst>
          </p:cNvPr>
          <p:cNvSpPr>
            <a:spLocks noGrp="1"/>
          </p:cNvSpPr>
          <p:nvPr>
            <p:ph type="dt" sz="half" idx="10"/>
          </p:nvPr>
        </p:nvSpPr>
        <p:spPr/>
        <p:txBody>
          <a:bodyPr/>
          <a:lstStyle/>
          <a:p>
            <a:fld id="{505F8DC0-3FF3-456F-B845-1F95A740D5BA}" type="datetime1">
              <a:rPr lang="en-US" altLang="ja-JP" smtClean="0"/>
              <a:t>6/23/2025</a:t>
            </a:fld>
            <a:endParaRPr lang="en-US"/>
          </a:p>
        </p:txBody>
      </p:sp>
      <p:sp>
        <p:nvSpPr>
          <p:cNvPr id="6" name="Footer Placeholder 5">
            <a:extLst>
              <a:ext uri="{FF2B5EF4-FFF2-40B4-BE49-F238E27FC236}">
                <a16:creationId xmlns:a16="http://schemas.microsoft.com/office/drawing/2014/main" id="{91AC8C07-E0D3-4464-AE3C-25730D75C8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2596A6-734E-4AE0-BFB8-3089137BF8E8}"/>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1302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6B3EF2-2C04-480F-A570-14E520DD00DE}"/>
              </a:ext>
            </a:extLst>
          </p:cNvPr>
          <p:cNvSpPr>
            <a:spLocks noGrp="1"/>
          </p:cNvSpPr>
          <p:nvPr>
            <p:ph type="dt" sz="half" idx="10"/>
          </p:nvPr>
        </p:nvSpPr>
        <p:spPr/>
        <p:txBody>
          <a:bodyPr/>
          <a:lstStyle/>
          <a:p>
            <a:fld id="{DBD26BD3-0DB2-4F5D-B55E-23D09E3B9D2C}" type="datetime1">
              <a:rPr lang="en-US" altLang="ja-JP" smtClean="0"/>
              <a:t>6/23/2025</a:t>
            </a:fld>
            <a:endParaRPr lang="en-US"/>
          </a:p>
        </p:txBody>
      </p:sp>
      <p:sp>
        <p:nvSpPr>
          <p:cNvPr id="8" name="Footer Placeholder 7">
            <a:extLst>
              <a:ext uri="{FF2B5EF4-FFF2-40B4-BE49-F238E27FC236}">
                <a16:creationId xmlns:a16="http://schemas.microsoft.com/office/drawing/2014/main" id="{1CF5783E-3073-4F4D-8B9C-C5B18DDA5A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A75FE3-6719-4790-AA00-251BC2A6E5A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9940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p:txBody>
          <a:bodyPr/>
          <a:lstStyle/>
          <a:p>
            <a:fld id="{5A6843B8-C56B-4A4D-B246-717FE45E2163}" type="datetime1">
              <a:rPr lang="en-US" altLang="ja-JP" smtClean="0"/>
              <a:t>6/23/2025</a:t>
            </a:fld>
            <a:endParaRPr lang="en-US"/>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6" name="Straight Connector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061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F36D6-399B-43E3-84DD-9FC5119ECCE9}"/>
              </a:ext>
            </a:extLst>
          </p:cNvPr>
          <p:cNvSpPr>
            <a:spLocks noGrp="1"/>
          </p:cNvSpPr>
          <p:nvPr>
            <p:ph type="dt" sz="half" idx="10"/>
          </p:nvPr>
        </p:nvSpPr>
        <p:spPr/>
        <p:txBody>
          <a:bodyPr/>
          <a:lstStyle/>
          <a:p>
            <a:fld id="{41C2B5C4-827B-4A60-8899-EBC8D1207273}" type="datetime1">
              <a:rPr lang="en-US" altLang="ja-JP" smtClean="0"/>
              <a:t>6/23/2025</a:t>
            </a:fld>
            <a:endParaRPr lang="en-US"/>
          </a:p>
        </p:txBody>
      </p:sp>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5" name="Straight Connector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332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6AACE-FAFB-4934-8E3C-AB5B216353D8}"/>
              </a:ext>
            </a:extLst>
          </p:cNvPr>
          <p:cNvSpPr>
            <a:spLocks noGrp="1"/>
          </p:cNvSpPr>
          <p:nvPr>
            <p:ph type="dt" sz="half" idx="10"/>
          </p:nvPr>
        </p:nvSpPr>
        <p:spPr/>
        <p:txBody>
          <a:bodyPr/>
          <a:lstStyle/>
          <a:p>
            <a:fld id="{7368CA27-71E2-4445-B2A7-5B3A6F88CF78}" type="datetime1">
              <a:rPr lang="en-US" altLang="ja-JP" smtClean="0"/>
              <a:t>6/23/2025</a:t>
            </a:fld>
            <a:endParaRPr lang="en-US"/>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722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C4E9A-CA29-4CCD-ACFA-B29F80FBA163}"/>
              </a:ext>
            </a:extLst>
          </p:cNvPr>
          <p:cNvSpPr>
            <a:spLocks noGrp="1"/>
          </p:cNvSpPr>
          <p:nvPr>
            <p:ph type="dt" sz="half" idx="10"/>
          </p:nvPr>
        </p:nvSpPr>
        <p:spPr/>
        <p:txBody>
          <a:bodyPr/>
          <a:lstStyle/>
          <a:p>
            <a:fld id="{628E84A6-53AF-442C-AA27-75F8B8EA139D}" type="datetime1">
              <a:rPr lang="en-US" altLang="ja-JP" smtClean="0"/>
              <a:t>6/23/2025</a:t>
            </a:fld>
            <a:endParaRPr lang="en-US"/>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193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D429-654B-4F0E-94E9-6FEF8EC67E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8D60B2-06F5-4567-BE1F-BBA5270537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16F6F2-8269-4B80-8EE3-81FEE0F9DFA6}"/>
              </a:ext>
            </a:extLst>
          </p:cNvPr>
          <p:cNvSpPr>
            <a:spLocks noGrp="1"/>
          </p:cNvSpPr>
          <p:nvPr>
            <p:ph type="dt" sz="half" idx="10"/>
          </p:nvPr>
        </p:nvSpPr>
        <p:spPr/>
        <p:txBody>
          <a:bodyPr/>
          <a:lstStyle/>
          <a:p>
            <a:fld id="{D1C6A50A-875F-4B78-B835-9A325647FF3E}" type="datetime1">
              <a:rPr lang="en-US" altLang="ja-JP" smtClean="0"/>
              <a:t>6/23/2025</a:t>
            </a:fld>
            <a:endParaRPr lang="en-US"/>
          </a:p>
        </p:txBody>
      </p:sp>
      <p:sp>
        <p:nvSpPr>
          <p:cNvPr id="5" name="Footer Placeholder 4">
            <a:extLst>
              <a:ext uri="{FF2B5EF4-FFF2-40B4-BE49-F238E27FC236}">
                <a16:creationId xmlns:a16="http://schemas.microsoft.com/office/drawing/2014/main" id="{56BC86E4-3EDE-4EB4-B1A3-A1198AADD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1752B0-ACEC-49EF-8131-FCF35BC5CD35}"/>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1A0462E3-375D-4E76-8886-69E06985D069}"/>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0535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3B094-F480-477B-901C-7181F88C07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052089-A920-4E52-98DC-8A5DC7B0AC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074FE-F1B4-421F-A66E-FA351C8F99E9}"/>
              </a:ext>
            </a:extLst>
          </p:cNvPr>
          <p:cNvSpPr>
            <a:spLocks noGrp="1"/>
          </p:cNvSpPr>
          <p:nvPr>
            <p:ph type="dt" sz="half" idx="10"/>
          </p:nvPr>
        </p:nvSpPr>
        <p:spPr/>
        <p:txBody>
          <a:bodyPr/>
          <a:lstStyle/>
          <a:p>
            <a:fld id="{B3B8D614-06F2-4E43-9C71-B89E30245769}" type="datetime1">
              <a:rPr lang="en-US" altLang="ja-JP" smtClean="0"/>
              <a:t>6/23/2025</a:t>
            </a:fld>
            <a:endParaRPr lang="en-US"/>
          </a:p>
        </p:txBody>
      </p:sp>
      <p:sp>
        <p:nvSpPr>
          <p:cNvPr id="5" name="Footer Placeholder 4">
            <a:extLst>
              <a:ext uri="{FF2B5EF4-FFF2-40B4-BE49-F238E27FC236}">
                <a16:creationId xmlns:a16="http://schemas.microsoft.com/office/drawing/2014/main" id="{34D764BA-3AB2-45FD-ABCB-975B3FDDF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B3FEF-8252-49FD-82F2-3E5FABC65F9A}"/>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0AEB5C65-83BB-4EBD-AD22-EDA8489D0F5D}"/>
              </a:ext>
            </a:extLst>
          </p:cNvPr>
          <p:cNvCxnSpPr>
            <a:cxnSpLocks/>
          </p:cNvCxnSpPr>
          <p:nvPr/>
        </p:nvCxnSpPr>
        <p:spPr>
          <a:xfrm flipV="1">
            <a:off x="8313" y="261865"/>
            <a:ext cx="11353802" cy="1"/>
          </a:xfrm>
          <a:prstGeom prst="line">
            <a:avLst/>
          </a:prstGeom>
          <a:ln w="25400" cap="sq">
            <a:gradFill flip="none" rotWithShape="1">
              <a:gsLst>
                <a:gs pos="0">
                  <a:schemeClr val="accent2"/>
                </a:gs>
                <a:gs pos="100000">
                  <a:schemeClr val="accent4"/>
                </a:gs>
              </a:gsLst>
              <a:lin ang="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6505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lIns="109728" tIns="109728" rIns="109728" bIns="91440" anchor="ct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lIns="109728" tIns="109728" rIns="109728" b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lIns="109728" tIns="109728" rIns="109728" bIns="91440" anchor="ctr"/>
          <a:lstStyle>
            <a:lvl1pPr algn="l">
              <a:defRPr sz="1200" b="0" i="0" cap="all" spc="100" baseline="0">
                <a:solidFill>
                  <a:schemeClr val="tx1">
                    <a:tint val="75000"/>
                  </a:schemeClr>
                </a:solidFill>
              </a:defRPr>
            </a:lvl1pPr>
          </a:lstStyle>
          <a:p>
            <a:fld id="{250198D0-9CF8-4813-A053-00B2EAF8E379}" type="datetime1">
              <a:rPr lang="en-US" altLang="ja-JP" smtClean="0"/>
              <a:t>6/23/2025</a:t>
            </a:fld>
            <a:endParaRPr lang="en-US" dirty="0"/>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lIns="109728" tIns="109728" rIns="109728" bIns="91440" anchor="ctr"/>
          <a:lstStyle>
            <a:lvl1pPr algn="ctr">
              <a:defRPr sz="1200" b="0" i="0" cap="none" spc="100" baseline="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lIns="109728" tIns="109728" rIns="109728" bIns="91440" anchor="ctr"/>
          <a:lstStyle>
            <a:lvl1pPr algn="r">
              <a:defRPr sz="1200" b="1" i="0" cap="all" spc="100" baseline="0">
                <a:solidFill>
                  <a:schemeClr val="tx1">
                    <a:tint val="75000"/>
                  </a:schemeClr>
                </a:solidFill>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3253197263"/>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28" r:id="rId6"/>
    <p:sldLayoutId id="2147483724" r:id="rId7"/>
    <p:sldLayoutId id="2147483725" r:id="rId8"/>
    <p:sldLayoutId id="2147483726" r:id="rId9"/>
    <p:sldLayoutId id="2147483727" r:id="rId10"/>
    <p:sldLayoutId id="2147483729" r:id="rId11"/>
  </p:sldLayoutIdLst>
  <p:hf hdr="0" ftr="0" dt="0"/>
  <p:txStyles>
    <p:titleStyle>
      <a:lvl1pPr algn="l" defTabSz="914400" rtl="0" eaLnBrk="1" latinLnBrk="0" hangingPunct="1">
        <a:lnSpc>
          <a:spcPct val="110000"/>
        </a:lnSpc>
        <a:spcBef>
          <a:spcPct val="0"/>
        </a:spcBef>
        <a:buNone/>
        <a:defRPr sz="4400" kern="1200" spc="16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spc="15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spc="15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spc="15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spc="15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spc="15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7278C5-34E8-4293-BE47-73B18483A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a:extLst>
              <a:ext uri="{FF2B5EF4-FFF2-40B4-BE49-F238E27FC236}">
                <a16:creationId xmlns:a16="http://schemas.microsoft.com/office/drawing/2014/main" id="{9A3F5928-D955-456A-97B5-AA390B8CE9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Univers"/>
              <a:ea typeface="+mn-ea"/>
              <a:cs typeface="+mn-cs"/>
            </a:endParaRPr>
          </a:p>
        </p:txBody>
      </p:sp>
      <p:pic>
        <p:nvPicPr>
          <p:cNvPr id="4" name="Picture 3">
            <a:extLst>
              <a:ext uri="{FF2B5EF4-FFF2-40B4-BE49-F238E27FC236}">
                <a16:creationId xmlns:a16="http://schemas.microsoft.com/office/drawing/2014/main" id="{D1991C1B-AA14-C6A8-77BE-AF69940D8906}"/>
              </a:ext>
            </a:extLst>
          </p:cNvPr>
          <p:cNvPicPr>
            <a:picLocks noChangeAspect="1"/>
          </p:cNvPicPr>
          <p:nvPr/>
        </p:nvPicPr>
        <p:blipFill>
          <a:blip r:embed="rId2">
            <a:duotone>
              <a:schemeClr val="accent1">
                <a:shade val="45000"/>
                <a:satMod val="135000"/>
              </a:schemeClr>
              <a:prstClr val="white"/>
            </a:duotone>
            <a:alphaModFix amt="35000"/>
          </a:blip>
          <a:srcRect b="15730"/>
          <a:stretch>
            <a:fillRect/>
          </a:stretch>
        </p:blipFill>
        <p:spPr>
          <a:xfrm>
            <a:off x="20" y="-8877"/>
            <a:ext cx="12191980" cy="6858000"/>
          </a:xfrm>
          <a:prstGeom prst="rect">
            <a:avLst/>
          </a:prstGeom>
        </p:spPr>
      </p:pic>
      <p:sp>
        <p:nvSpPr>
          <p:cNvPr id="2" name="タイトル 1">
            <a:extLst>
              <a:ext uri="{FF2B5EF4-FFF2-40B4-BE49-F238E27FC236}">
                <a16:creationId xmlns:a16="http://schemas.microsoft.com/office/drawing/2014/main" id="{0B561EC4-925D-3098-4683-C702208DDA23}"/>
              </a:ext>
            </a:extLst>
          </p:cNvPr>
          <p:cNvSpPr>
            <a:spLocks noGrp="1"/>
          </p:cNvSpPr>
          <p:nvPr>
            <p:ph type="ctrTitle"/>
          </p:nvPr>
        </p:nvSpPr>
        <p:spPr>
          <a:xfrm>
            <a:off x="1256275" y="2271449"/>
            <a:ext cx="9679449" cy="2847058"/>
          </a:xfrm>
        </p:spPr>
        <p:txBody>
          <a:bodyPr anchor="b">
            <a:normAutofit/>
          </a:bodyPr>
          <a:lstStyle/>
          <a:p>
            <a:r>
              <a:rPr kumimoji="1" lang="ja-JP" altLang="en-US" sz="7200" dirty="0">
                <a:solidFill>
                  <a:srgbClr val="FFFFFF"/>
                </a:solidFill>
              </a:rPr>
              <a:t>進捗報告</a:t>
            </a:r>
          </a:p>
        </p:txBody>
      </p:sp>
      <p:sp>
        <p:nvSpPr>
          <p:cNvPr id="3" name="字幕 2">
            <a:extLst>
              <a:ext uri="{FF2B5EF4-FFF2-40B4-BE49-F238E27FC236}">
                <a16:creationId xmlns:a16="http://schemas.microsoft.com/office/drawing/2014/main" id="{192DF71A-4D5A-C01D-C3AD-C999293F80D5}"/>
              </a:ext>
            </a:extLst>
          </p:cNvPr>
          <p:cNvSpPr>
            <a:spLocks noGrp="1"/>
          </p:cNvSpPr>
          <p:nvPr>
            <p:ph type="subTitle" idx="1"/>
          </p:nvPr>
        </p:nvSpPr>
        <p:spPr>
          <a:xfrm>
            <a:off x="1256275" y="5098254"/>
            <a:ext cx="9679449" cy="750259"/>
          </a:xfrm>
        </p:spPr>
        <p:txBody>
          <a:bodyPr anchor="ctr">
            <a:normAutofit/>
          </a:bodyPr>
          <a:lstStyle/>
          <a:p>
            <a:r>
              <a:rPr kumimoji="1" lang="en-US" altLang="ja-JP" dirty="0">
                <a:solidFill>
                  <a:srgbClr val="FFFFFF"/>
                </a:solidFill>
              </a:rPr>
              <a:t>Al21120</a:t>
            </a:r>
            <a:r>
              <a:rPr kumimoji="1" lang="ja-JP" altLang="en-US" dirty="0">
                <a:solidFill>
                  <a:srgbClr val="FFFFFF"/>
                </a:solidFill>
              </a:rPr>
              <a:t>　三輪昇汰　</a:t>
            </a:r>
            <a:r>
              <a:rPr kumimoji="1" lang="en-US" altLang="ja-JP" dirty="0">
                <a:solidFill>
                  <a:srgbClr val="FFFFFF"/>
                </a:solidFill>
              </a:rPr>
              <a:t>2025/06/23</a:t>
            </a:r>
            <a:endParaRPr kumimoji="1" lang="ja-JP" altLang="en-US" dirty="0">
              <a:solidFill>
                <a:srgbClr val="FFFFFF"/>
              </a:solidFill>
            </a:endParaRPr>
          </a:p>
        </p:txBody>
      </p:sp>
      <p:cxnSp>
        <p:nvCxnSpPr>
          <p:cNvPr id="13" name="Straight Connector 12">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8453437"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5"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4954" y="2875093"/>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17"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3734" y="31043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19"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414" y="361953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5" name="スライド番号プレースホルダー 4">
            <a:extLst>
              <a:ext uri="{FF2B5EF4-FFF2-40B4-BE49-F238E27FC236}">
                <a16:creationId xmlns:a16="http://schemas.microsoft.com/office/drawing/2014/main" id="{034DA8EA-82B2-3730-9AA6-6984A4F2D2FB}"/>
              </a:ext>
            </a:extLst>
          </p:cNvPr>
          <p:cNvSpPr>
            <a:spLocks noGrp="1"/>
          </p:cNvSpPr>
          <p:nvPr>
            <p:ph type="sldNum" sz="quarter" idx="12"/>
          </p:nvPr>
        </p:nvSpPr>
        <p:spPr/>
        <p:txBody>
          <a:bodyPr/>
          <a:lstStyle/>
          <a:p>
            <a:fld id="{27CE633F-9882-4A5C-83A2-1109D0C73261}" type="slidenum">
              <a:rPr lang="en-US" smtClean="0"/>
              <a:t>1</a:t>
            </a:fld>
            <a:endParaRPr lang="en-US"/>
          </a:p>
        </p:txBody>
      </p:sp>
    </p:spTree>
    <p:extLst>
      <p:ext uri="{BB962C8B-B14F-4D97-AF65-F5344CB8AC3E}">
        <p14:creationId xmlns:p14="http://schemas.microsoft.com/office/powerpoint/2010/main" val="3730098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470570-2B56-A665-6800-0C2112CFDC82}"/>
              </a:ext>
            </a:extLst>
          </p:cNvPr>
          <p:cNvSpPr>
            <a:spLocks noGrp="1"/>
          </p:cNvSpPr>
          <p:nvPr>
            <p:ph type="title"/>
          </p:nvPr>
        </p:nvSpPr>
        <p:spPr/>
        <p:txBody>
          <a:bodyPr/>
          <a:lstStyle/>
          <a:p>
            <a:r>
              <a:rPr kumimoji="1" lang="ja-JP" altLang="en-US" dirty="0"/>
              <a:t>進捗</a:t>
            </a:r>
          </a:p>
        </p:txBody>
      </p:sp>
      <p:sp>
        <p:nvSpPr>
          <p:cNvPr id="3" name="コンテンツ プレースホルダー 2">
            <a:extLst>
              <a:ext uri="{FF2B5EF4-FFF2-40B4-BE49-F238E27FC236}">
                <a16:creationId xmlns:a16="http://schemas.microsoft.com/office/drawing/2014/main" id="{3268878B-D220-AB33-6C95-700020BA684B}"/>
              </a:ext>
            </a:extLst>
          </p:cNvPr>
          <p:cNvSpPr>
            <a:spLocks noGrp="1"/>
          </p:cNvSpPr>
          <p:nvPr>
            <p:ph idx="1"/>
          </p:nvPr>
        </p:nvSpPr>
        <p:spPr>
          <a:xfrm>
            <a:off x="922421" y="1690688"/>
            <a:ext cx="10515600" cy="4351338"/>
          </a:xfrm>
        </p:spPr>
        <p:txBody>
          <a:bodyPr/>
          <a:lstStyle/>
          <a:p>
            <a:endParaRPr kumimoji="1" lang="en-US" altLang="ja-JP" dirty="0"/>
          </a:p>
          <a:p>
            <a:r>
              <a:rPr kumimoji="1" lang="en-US" altLang="ja-JP" dirty="0" err="1"/>
              <a:t>BERTopic</a:t>
            </a:r>
            <a:r>
              <a:rPr kumimoji="1" lang="ja-JP" altLang="en-US" dirty="0"/>
              <a:t>で小規模な発話データを分析してみる</a:t>
            </a:r>
            <a:endParaRPr kumimoji="1" lang="en-US" altLang="ja-JP" dirty="0"/>
          </a:p>
          <a:p>
            <a:endParaRPr kumimoji="1" lang="en-US" altLang="ja-JP" dirty="0"/>
          </a:p>
          <a:p>
            <a:endParaRPr kumimoji="1" lang="en-US" altLang="ja-JP" dirty="0"/>
          </a:p>
          <a:p>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34EF8CE9-1915-7591-1725-76B1628B786A}"/>
              </a:ext>
            </a:extLst>
          </p:cNvPr>
          <p:cNvSpPr>
            <a:spLocks noGrp="1"/>
          </p:cNvSpPr>
          <p:nvPr>
            <p:ph type="sldNum" sz="quarter" idx="12"/>
          </p:nvPr>
        </p:nvSpPr>
        <p:spPr/>
        <p:txBody>
          <a:bodyPr/>
          <a:lstStyle/>
          <a:p>
            <a:fld id="{27CE633F-9882-4A5C-83A2-1109D0C73261}" type="slidenum">
              <a:rPr lang="en-US" smtClean="0"/>
              <a:t>2</a:t>
            </a:fld>
            <a:endParaRPr lang="en-US"/>
          </a:p>
        </p:txBody>
      </p:sp>
    </p:spTree>
    <p:extLst>
      <p:ext uri="{BB962C8B-B14F-4D97-AF65-F5344CB8AC3E}">
        <p14:creationId xmlns:p14="http://schemas.microsoft.com/office/powerpoint/2010/main" val="2308684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E70350-F364-A276-62E2-7668C1332A35}"/>
              </a:ext>
            </a:extLst>
          </p:cNvPr>
          <p:cNvSpPr>
            <a:spLocks noGrp="1"/>
          </p:cNvSpPr>
          <p:nvPr>
            <p:ph type="title"/>
          </p:nvPr>
        </p:nvSpPr>
        <p:spPr/>
        <p:txBody>
          <a:bodyPr/>
          <a:lstStyle/>
          <a:p>
            <a:r>
              <a:rPr kumimoji="1" lang="en-US" altLang="ja-JP" dirty="0" err="1"/>
              <a:t>BERTopic</a:t>
            </a:r>
            <a:r>
              <a:rPr kumimoji="1" lang="ja-JP" altLang="en-US" dirty="0"/>
              <a:t>の試験目的</a:t>
            </a:r>
          </a:p>
        </p:txBody>
      </p:sp>
      <p:sp>
        <p:nvSpPr>
          <p:cNvPr id="3" name="コンテンツ プレースホルダー 2">
            <a:extLst>
              <a:ext uri="{FF2B5EF4-FFF2-40B4-BE49-F238E27FC236}">
                <a16:creationId xmlns:a16="http://schemas.microsoft.com/office/drawing/2014/main" id="{EFEA0D46-AF26-2C8E-8A88-446F563086BE}"/>
              </a:ext>
            </a:extLst>
          </p:cNvPr>
          <p:cNvSpPr>
            <a:spLocks noGrp="1"/>
          </p:cNvSpPr>
          <p:nvPr>
            <p:ph idx="1"/>
          </p:nvPr>
        </p:nvSpPr>
        <p:spPr>
          <a:xfrm>
            <a:off x="838200" y="1825625"/>
            <a:ext cx="10515600" cy="4895850"/>
          </a:xfrm>
        </p:spPr>
        <p:txBody>
          <a:bodyPr/>
          <a:lstStyle/>
          <a:p>
            <a:r>
              <a:rPr kumimoji="1" lang="en-US" altLang="ja-JP" dirty="0" err="1"/>
              <a:t>BERTopic</a:t>
            </a:r>
            <a:r>
              <a:rPr kumimoji="1" lang="ja-JP" altLang="en-US" dirty="0"/>
              <a:t>の実装方法確認</a:t>
            </a:r>
            <a:endParaRPr kumimoji="1" lang="en-US" altLang="ja-JP" dirty="0"/>
          </a:p>
          <a:p>
            <a:r>
              <a:rPr kumimoji="1" lang="en-US" altLang="ja-JP" dirty="0" err="1"/>
              <a:t>BERTopic</a:t>
            </a:r>
            <a:r>
              <a:rPr kumimoji="1" lang="ja-JP" altLang="en-US" dirty="0"/>
              <a:t>ではトピック分析がどの程度できるか確認</a:t>
            </a:r>
            <a:endParaRPr kumimoji="1" lang="en-US" altLang="ja-JP" dirty="0"/>
          </a:p>
          <a:p>
            <a:pPr marL="0" indent="0">
              <a:buNone/>
            </a:pPr>
            <a:r>
              <a:rPr kumimoji="1" lang="en-US" altLang="ja-JP" dirty="0" err="1"/>
              <a:t>Youtube</a:t>
            </a:r>
            <a:r>
              <a:rPr kumimoji="1" lang="ja-JP" altLang="en-US" dirty="0"/>
              <a:t>字幕では</a:t>
            </a:r>
            <a:r>
              <a:rPr lang="ja-JP" altLang="en-US" dirty="0"/>
              <a:t>話者のポーズや句読点を推定して自動で区切られ，個別の文として格納される</a:t>
            </a:r>
            <a:endParaRPr lang="en-US" altLang="ja-JP" dirty="0"/>
          </a:p>
          <a:p>
            <a:pPr marL="0" indent="0">
              <a:buNone/>
            </a:pPr>
            <a:r>
              <a:rPr lang="ja-JP" altLang="en-US" dirty="0"/>
              <a:t>→文章をチャンクに加工する前処理に有効性があるのか確かめるために１文ずつの入力と文のチャンクで入力することで結果に差が生まれるか試す</a:t>
            </a:r>
            <a:endParaRPr lang="en-US" altLang="ja-JP" dirty="0"/>
          </a:p>
          <a:p>
            <a:pPr marL="0" indent="0">
              <a:buNone/>
            </a:pPr>
            <a:endParaRPr kumimoji="1" lang="en-US" altLang="ja-JP" dirty="0"/>
          </a:p>
        </p:txBody>
      </p:sp>
      <p:sp>
        <p:nvSpPr>
          <p:cNvPr id="4" name="スライド番号プレースホルダー 3">
            <a:extLst>
              <a:ext uri="{FF2B5EF4-FFF2-40B4-BE49-F238E27FC236}">
                <a16:creationId xmlns:a16="http://schemas.microsoft.com/office/drawing/2014/main" id="{FC7D51A3-C4D5-FB0F-918C-B19F7A7DD221}"/>
              </a:ext>
            </a:extLst>
          </p:cNvPr>
          <p:cNvSpPr>
            <a:spLocks noGrp="1"/>
          </p:cNvSpPr>
          <p:nvPr>
            <p:ph type="sldNum" sz="quarter" idx="12"/>
          </p:nvPr>
        </p:nvSpPr>
        <p:spPr/>
        <p:txBody>
          <a:bodyPr/>
          <a:lstStyle/>
          <a:p>
            <a:fld id="{27CE633F-9882-4A5C-83A2-1109D0C73261}" type="slidenum">
              <a:rPr lang="en-US" smtClean="0"/>
              <a:t>3</a:t>
            </a:fld>
            <a:endParaRPr lang="en-US"/>
          </a:p>
        </p:txBody>
      </p:sp>
    </p:spTree>
    <p:extLst>
      <p:ext uri="{BB962C8B-B14F-4D97-AF65-F5344CB8AC3E}">
        <p14:creationId xmlns:p14="http://schemas.microsoft.com/office/powerpoint/2010/main" val="3344223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000460-3326-ACC5-319A-A2AC00F97077}"/>
              </a:ext>
            </a:extLst>
          </p:cNvPr>
          <p:cNvSpPr>
            <a:spLocks noGrp="1"/>
          </p:cNvSpPr>
          <p:nvPr>
            <p:ph type="title"/>
          </p:nvPr>
        </p:nvSpPr>
        <p:spPr/>
        <p:txBody>
          <a:bodyPr/>
          <a:lstStyle/>
          <a:p>
            <a:r>
              <a:rPr kumimoji="1" lang="ja-JP" altLang="en-US" dirty="0"/>
              <a:t>試験内容</a:t>
            </a:r>
          </a:p>
        </p:txBody>
      </p:sp>
      <p:sp>
        <p:nvSpPr>
          <p:cNvPr id="3" name="コンテンツ プレースホルダー 2">
            <a:extLst>
              <a:ext uri="{FF2B5EF4-FFF2-40B4-BE49-F238E27FC236}">
                <a16:creationId xmlns:a16="http://schemas.microsoft.com/office/drawing/2014/main" id="{E39B99BE-5A6A-030B-4038-4529A09F2CB8}"/>
              </a:ext>
            </a:extLst>
          </p:cNvPr>
          <p:cNvSpPr>
            <a:spLocks noGrp="1"/>
          </p:cNvSpPr>
          <p:nvPr>
            <p:ph idx="1"/>
          </p:nvPr>
        </p:nvSpPr>
        <p:spPr/>
        <p:txBody>
          <a:bodyPr/>
          <a:lstStyle/>
          <a:p>
            <a:r>
              <a:rPr kumimoji="1" lang="ja-JP" altLang="en-US" dirty="0"/>
              <a:t>対象データ：</a:t>
            </a:r>
            <a:r>
              <a:rPr kumimoji="1" lang="en-US" altLang="ja-JP" dirty="0"/>
              <a:t>ChatGPT</a:t>
            </a:r>
            <a:r>
              <a:rPr kumimoji="1" lang="ja-JP" altLang="en-US" dirty="0"/>
              <a:t>により生成した３０発話程度の文</a:t>
            </a:r>
            <a:endParaRPr kumimoji="1" lang="en-US" altLang="ja-JP" dirty="0"/>
          </a:p>
          <a:p>
            <a:pPr marL="0" indent="0">
              <a:buNone/>
            </a:pPr>
            <a:r>
              <a:rPr kumimoji="1" lang="ja-JP" altLang="en-US" dirty="0"/>
              <a:t>　　　　　　  今回は話題テーマが分かりやすいよう</a:t>
            </a:r>
            <a:endParaRPr kumimoji="1" lang="en-US" altLang="ja-JP" dirty="0"/>
          </a:p>
          <a:p>
            <a:pPr marL="0" indent="0">
              <a:buNone/>
            </a:pPr>
            <a:r>
              <a:rPr kumimoji="1" lang="ja-JP" altLang="en-US" dirty="0"/>
              <a:t>　　　　　     ニュース風な文を生成した。</a:t>
            </a:r>
            <a:endParaRPr kumimoji="1" lang="en-US" altLang="ja-JP" dirty="0"/>
          </a:p>
          <a:p>
            <a:r>
              <a:rPr kumimoji="1" lang="en-US" altLang="ja-JP" dirty="0"/>
              <a:t>ChatGPT</a:t>
            </a:r>
            <a:r>
              <a:rPr kumimoji="1" lang="ja-JP" altLang="en-US" dirty="0"/>
              <a:t>により生成した文を「。」区切りで１文ずつ</a:t>
            </a:r>
            <a:r>
              <a:rPr kumimoji="1" lang="en-US" altLang="ja-JP" dirty="0" err="1"/>
              <a:t>BERTopic</a:t>
            </a:r>
            <a:r>
              <a:rPr kumimoji="1" lang="ja-JP" altLang="en-US" dirty="0"/>
              <a:t>へ入力</a:t>
            </a:r>
            <a:endParaRPr kumimoji="1" lang="en-US" altLang="ja-JP" dirty="0"/>
          </a:p>
          <a:p>
            <a:endParaRPr kumimoji="1" lang="en-US" altLang="ja-JP" dirty="0"/>
          </a:p>
          <a:p>
            <a:r>
              <a:rPr kumimoji="1" lang="en-US" altLang="ja-JP" dirty="0"/>
              <a:t>ChatGPT</a:t>
            </a:r>
            <a:r>
              <a:rPr kumimoji="1" lang="ja-JP" altLang="en-US" dirty="0"/>
              <a:t>により生成した文を３文チャンクで入力</a:t>
            </a:r>
          </a:p>
        </p:txBody>
      </p:sp>
      <p:sp>
        <p:nvSpPr>
          <p:cNvPr id="4" name="スライド番号プレースホルダー 3">
            <a:extLst>
              <a:ext uri="{FF2B5EF4-FFF2-40B4-BE49-F238E27FC236}">
                <a16:creationId xmlns:a16="http://schemas.microsoft.com/office/drawing/2014/main" id="{79F98CBF-91E7-C0A6-686F-365D312806EB}"/>
              </a:ext>
            </a:extLst>
          </p:cNvPr>
          <p:cNvSpPr>
            <a:spLocks noGrp="1"/>
          </p:cNvSpPr>
          <p:nvPr>
            <p:ph type="sldNum" sz="quarter" idx="12"/>
          </p:nvPr>
        </p:nvSpPr>
        <p:spPr/>
        <p:txBody>
          <a:bodyPr/>
          <a:lstStyle/>
          <a:p>
            <a:fld id="{27CE633F-9882-4A5C-83A2-1109D0C73261}" type="slidenum">
              <a:rPr lang="en-US" smtClean="0"/>
              <a:t>4</a:t>
            </a:fld>
            <a:endParaRPr lang="en-US"/>
          </a:p>
        </p:txBody>
      </p:sp>
    </p:spTree>
    <p:extLst>
      <p:ext uri="{BB962C8B-B14F-4D97-AF65-F5344CB8AC3E}">
        <p14:creationId xmlns:p14="http://schemas.microsoft.com/office/powerpoint/2010/main" val="3015017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9067F3-C98F-1CE4-0905-BF9D67DF1185}"/>
              </a:ext>
            </a:extLst>
          </p:cNvPr>
          <p:cNvSpPr>
            <a:spLocks noGrp="1"/>
          </p:cNvSpPr>
          <p:nvPr>
            <p:ph type="title"/>
          </p:nvPr>
        </p:nvSpPr>
        <p:spPr/>
        <p:txBody>
          <a:bodyPr/>
          <a:lstStyle/>
          <a:p>
            <a:r>
              <a:rPr kumimoji="1" lang="en-US" altLang="ja-JP" dirty="0" err="1"/>
              <a:t>BERTopic</a:t>
            </a:r>
            <a:r>
              <a:rPr kumimoji="1" lang="ja-JP" altLang="en-US" dirty="0"/>
              <a:t>の使用したモデル</a:t>
            </a:r>
          </a:p>
        </p:txBody>
      </p:sp>
      <p:sp>
        <p:nvSpPr>
          <p:cNvPr id="3" name="コンテンツ プレースホルダー 2">
            <a:extLst>
              <a:ext uri="{FF2B5EF4-FFF2-40B4-BE49-F238E27FC236}">
                <a16:creationId xmlns:a16="http://schemas.microsoft.com/office/drawing/2014/main" id="{2070D304-F6E1-D680-462D-5BB77F7DD23F}"/>
              </a:ext>
            </a:extLst>
          </p:cNvPr>
          <p:cNvSpPr>
            <a:spLocks noGrp="1"/>
          </p:cNvSpPr>
          <p:nvPr>
            <p:ph idx="1"/>
          </p:nvPr>
        </p:nvSpPr>
        <p:spPr/>
        <p:txBody>
          <a:bodyPr/>
          <a:lstStyle/>
          <a:p>
            <a:r>
              <a:rPr kumimoji="1" lang="ja-JP" altLang="en-US" dirty="0"/>
              <a:t>文埋め込み→事前学習済み</a:t>
            </a:r>
            <a:r>
              <a:rPr kumimoji="1" lang="en-US" altLang="ja-JP" dirty="0"/>
              <a:t>Sentence-BERT(</a:t>
            </a:r>
            <a:r>
              <a:rPr kumimoji="1" lang="ja-JP" altLang="en-US" dirty="0"/>
              <a:t>東北大学</a:t>
            </a:r>
            <a:r>
              <a:rPr kumimoji="1" lang="en-US" altLang="ja-JP" dirty="0"/>
              <a:t>)</a:t>
            </a:r>
          </a:p>
          <a:p>
            <a:r>
              <a:rPr kumimoji="1" lang="en-US" altLang="ja-JP" dirty="0"/>
              <a:t>UMAP</a:t>
            </a:r>
            <a:r>
              <a:rPr kumimoji="1" lang="ja-JP" altLang="en-US" dirty="0"/>
              <a:t>（次元削減）</a:t>
            </a:r>
            <a:r>
              <a:rPr kumimoji="1" lang="en-US" altLang="ja-JP" dirty="0"/>
              <a:t> </a:t>
            </a:r>
            <a:r>
              <a:rPr kumimoji="1" lang="ja-JP" altLang="en-US" dirty="0"/>
              <a:t>→ 　デフォルト</a:t>
            </a:r>
            <a:endParaRPr kumimoji="1" lang="en-US" altLang="ja-JP" dirty="0"/>
          </a:p>
          <a:p>
            <a:r>
              <a:rPr kumimoji="1" lang="en-US" altLang="ja-JP" dirty="0"/>
              <a:t>HDBSCAN</a:t>
            </a:r>
            <a:r>
              <a:rPr kumimoji="1" lang="ja-JP" altLang="en-US" dirty="0"/>
              <a:t>（クラスタリング）</a:t>
            </a:r>
            <a:r>
              <a:rPr kumimoji="1" lang="en-US" altLang="ja-JP" dirty="0"/>
              <a:t> </a:t>
            </a:r>
            <a:r>
              <a:rPr kumimoji="1" lang="ja-JP" altLang="en-US" dirty="0"/>
              <a:t>→　最小トピックサイズ </a:t>
            </a:r>
            <a:r>
              <a:rPr kumimoji="1" lang="en-US" altLang="ja-JP" dirty="0"/>
              <a:t>2</a:t>
            </a:r>
            <a:r>
              <a:rPr kumimoji="1" lang="ja-JP" altLang="en-US" dirty="0"/>
              <a:t>　</a:t>
            </a:r>
            <a:endParaRPr kumimoji="1" lang="en-US" altLang="ja-JP" dirty="0"/>
          </a:p>
          <a:p>
            <a:r>
              <a:rPr kumimoji="1" lang="en-US" altLang="ja-JP" dirty="0"/>
              <a:t>c-TF-IDF </a:t>
            </a:r>
            <a:r>
              <a:rPr kumimoji="1" lang="ja-JP" altLang="en-US" dirty="0"/>
              <a:t>（トピック表現）→ </a:t>
            </a:r>
            <a:r>
              <a:rPr kumimoji="1" lang="en-US" altLang="ja-JP" dirty="0" err="1"/>
              <a:t>n_gram_range</a:t>
            </a:r>
            <a:r>
              <a:rPr kumimoji="1" lang="en-US" altLang="ja-JP" dirty="0"/>
              <a:t>(1,2)</a:t>
            </a:r>
          </a:p>
          <a:p>
            <a:pPr marL="0" indent="0">
              <a:buNone/>
            </a:pPr>
            <a:r>
              <a:rPr kumimoji="1" lang="en-US" altLang="ja-JP" dirty="0"/>
              <a:t>                                                  2-gram</a:t>
            </a:r>
            <a:r>
              <a:rPr kumimoji="1" lang="ja-JP" altLang="en-US" dirty="0"/>
              <a:t>まで考慮</a:t>
            </a:r>
          </a:p>
        </p:txBody>
      </p:sp>
      <p:sp>
        <p:nvSpPr>
          <p:cNvPr id="4" name="スライド番号プレースホルダー 3">
            <a:extLst>
              <a:ext uri="{FF2B5EF4-FFF2-40B4-BE49-F238E27FC236}">
                <a16:creationId xmlns:a16="http://schemas.microsoft.com/office/drawing/2014/main" id="{DF499153-8D78-25DC-A49A-0002BA027C15}"/>
              </a:ext>
            </a:extLst>
          </p:cNvPr>
          <p:cNvSpPr>
            <a:spLocks noGrp="1"/>
          </p:cNvSpPr>
          <p:nvPr>
            <p:ph type="sldNum" sz="quarter" idx="12"/>
          </p:nvPr>
        </p:nvSpPr>
        <p:spPr/>
        <p:txBody>
          <a:bodyPr/>
          <a:lstStyle/>
          <a:p>
            <a:fld id="{27CE633F-9882-4A5C-83A2-1109D0C73261}" type="slidenum">
              <a:rPr lang="en-US" smtClean="0"/>
              <a:t>5</a:t>
            </a:fld>
            <a:endParaRPr lang="en-US"/>
          </a:p>
        </p:txBody>
      </p:sp>
    </p:spTree>
    <p:extLst>
      <p:ext uri="{BB962C8B-B14F-4D97-AF65-F5344CB8AC3E}">
        <p14:creationId xmlns:p14="http://schemas.microsoft.com/office/powerpoint/2010/main" val="663080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FAD817-45CC-F368-87DB-CC74BB6720B1}"/>
              </a:ext>
            </a:extLst>
          </p:cNvPr>
          <p:cNvSpPr>
            <a:spLocks noGrp="1"/>
          </p:cNvSpPr>
          <p:nvPr>
            <p:ph type="title"/>
          </p:nvPr>
        </p:nvSpPr>
        <p:spPr>
          <a:xfrm>
            <a:off x="1042130" y="149996"/>
            <a:ext cx="10515600" cy="1325563"/>
          </a:xfrm>
        </p:spPr>
        <p:txBody>
          <a:bodyPr/>
          <a:lstStyle/>
          <a:p>
            <a:r>
              <a:rPr kumimoji="1" lang="ja-JP" altLang="en-US" dirty="0"/>
              <a:t>用意した対象データ</a:t>
            </a:r>
          </a:p>
        </p:txBody>
      </p:sp>
      <p:sp>
        <p:nvSpPr>
          <p:cNvPr id="3" name="コンテンツ プレースホルダー 2">
            <a:extLst>
              <a:ext uri="{FF2B5EF4-FFF2-40B4-BE49-F238E27FC236}">
                <a16:creationId xmlns:a16="http://schemas.microsoft.com/office/drawing/2014/main" id="{ACAA43EC-CDA4-BEEB-B44B-D8558E87B00D}"/>
              </a:ext>
            </a:extLst>
          </p:cNvPr>
          <p:cNvSpPr>
            <a:spLocks noGrp="1"/>
          </p:cNvSpPr>
          <p:nvPr>
            <p:ph idx="1"/>
          </p:nvPr>
        </p:nvSpPr>
        <p:spPr>
          <a:xfrm>
            <a:off x="1042130" y="1462075"/>
            <a:ext cx="10515600" cy="4351338"/>
          </a:xfrm>
        </p:spPr>
        <p:txBody>
          <a:bodyPr/>
          <a:lstStyle/>
          <a:p>
            <a:r>
              <a:rPr kumimoji="1" lang="en-US" altLang="ja-JP" dirty="0"/>
              <a:t>ChatGPT</a:t>
            </a:r>
            <a:r>
              <a:rPr kumimoji="1" lang="ja-JP" altLang="en-US" dirty="0"/>
              <a:t>により生成した３５文の文章群（２つのトピックをもつようにニュース番組風の生成）</a:t>
            </a:r>
          </a:p>
        </p:txBody>
      </p:sp>
      <p:sp>
        <p:nvSpPr>
          <p:cNvPr id="4" name="スライド番号プレースホルダー 3">
            <a:extLst>
              <a:ext uri="{FF2B5EF4-FFF2-40B4-BE49-F238E27FC236}">
                <a16:creationId xmlns:a16="http://schemas.microsoft.com/office/drawing/2014/main" id="{F9BA66D4-0D2A-03A3-1015-021B1B33C5F2}"/>
              </a:ext>
            </a:extLst>
          </p:cNvPr>
          <p:cNvSpPr>
            <a:spLocks noGrp="1"/>
          </p:cNvSpPr>
          <p:nvPr>
            <p:ph type="sldNum" sz="quarter" idx="12"/>
          </p:nvPr>
        </p:nvSpPr>
        <p:spPr/>
        <p:txBody>
          <a:bodyPr/>
          <a:lstStyle/>
          <a:p>
            <a:fld id="{27CE633F-9882-4A5C-83A2-1109D0C73261}" type="slidenum">
              <a:rPr lang="en-US" smtClean="0"/>
              <a:t>6</a:t>
            </a:fld>
            <a:endParaRPr lang="en-US"/>
          </a:p>
        </p:txBody>
      </p:sp>
      <p:pic>
        <p:nvPicPr>
          <p:cNvPr id="6" name="図 5">
            <a:extLst>
              <a:ext uri="{FF2B5EF4-FFF2-40B4-BE49-F238E27FC236}">
                <a16:creationId xmlns:a16="http://schemas.microsoft.com/office/drawing/2014/main" id="{7FF61065-B672-1D7F-599F-A137ADDE9898}"/>
              </a:ext>
            </a:extLst>
          </p:cNvPr>
          <p:cNvPicPr>
            <a:picLocks noChangeAspect="1"/>
          </p:cNvPicPr>
          <p:nvPr/>
        </p:nvPicPr>
        <p:blipFill>
          <a:blip r:embed="rId2"/>
          <a:srcRect r="1685" b="19591"/>
          <a:stretch>
            <a:fillRect/>
          </a:stretch>
        </p:blipFill>
        <p:spPr>
          <a:xfrm>
            <a:off x="5771754" y="2512996"/>
            <a:ext cx="5582046" cy="3975538"/>
          </a:xfrm>
          <a:prstGeom prst="rect">
            <a:avLst/>
          </a:prstGeom>
        </p:spPr>
      </p:pic>
      <p:sp>
        <p:nvSpPr>
          <p:cNvPr id="7" name="正方形/長方形 6">
            <a:extLst>
              <a:ext uri="{FF2B5EF4-FFF2-40B4-BE49-F238E27FC236}">
                <a16:creationId xmlns:a16="http://schemas.microsoft.com/office/drawing/2014/main" id="{0128FFBA-AB4E-BC17-4718-275463051521}"/>
              </a:ext>
            </a:extLst>
          </p:cNvPr>
          <p:cNvSpPr/>
          <p:nvPr/>
        </p:nvSpPr>
        <p:spPr>
          <a:xfrm>
            <a:off x="5458326" y="2512995"/>
            <a:ext cx="6099404" cy="1944458"/>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15BC1E0D-5364-494C-214D-EFEC7CEB7F64}"/>
              </a:ext>
            </a:extLst>
          </p:cNvPr>
          <p:cNvSpPr/>
          <p:nvPr/>
        </p:nvSpPr>
        <p:spPr>
          <a:xfrm>
            <a:off x="5458326" y="4544075"/>
            <a:ext cx="6099404" cy="1944458"/>
          </a:xfrm>
          <a:prstGeom prst="rect">
            <a:avLst/>
          </a:prstGeom>
          <a:no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9FC82701-21B2-3280-020D-98B936A1495C}"/>
              </a:ext>
            </a:extLst>
          </p:cNvPr>
          <p:cNvSpPr txBox="1"/>
          <p:nvPr/>
        </p:nvSpPr>
        <p:spPr>
          <a:xfrm>
            <a:off x="1311236" y="3429000"/>
            <a:ext cx="3877985" cy="646331"/>
          </a:xfrm>
          <a:prstGeom prst="rect">
            <a:avLst/>
          </a:prstGeom>
          <a:noFill/>
        </p:spPr>
        <p:txBody>
          <a:bodyPr wrap="none" rtlCol="0">
            <a:spAutoFit/>
          </a:bodyPr>
          <a:lstStyle/>
          <a:p>
            <a:r>
              <a:rPr kumimoji="1" lang="ja-JP" altLang="en-US" sz="3600" dirty="0">
                <a:solidFill>
                  <a:srgbClr val="FF0000"/>
                </a:solidFill>
              </a:rPr>
              <a:t>台風情報について</a:t>
            </a:r>
          </a:p>
        </p:txBody>
      </p:sp>
      <p:sp>
        <p:nvSpPr>
          <p:cNvPr id="11" name="テキスト ボックス 10">
            <a:extLst>
              <a:ext uri="{FF2B5EF4-FFF2-40B4-BE49-F238E27FC236}">
                <a16:creationId xmlns:a16="http://schemas.microsoft.com/office/drawing/2014/main" id="{E61DAC9D-7FB1-9C03-F62B-0143BFCD2F52}"/>
              </a:ext>
            </a:extLst>
          </p:cNvPr>
          <p:cNvSpPr txBox="1"/>
          <p:nvPr/>
        </p:nvSpPr>
        <p:spPr>
          <a:xfrm>
            <a:off x="1228174" y="5193139"/>
            <a:ext cx="4339650" cy="646331"/>
          </a:xfrm>
          <a:prstGeom prst="rect">
            <a:avLst/>
          </a:prstGeom>
          <a:noFill/>
        </p:spPr>
        <p:txBody>
          <a:bodyPr wrap="none" rtlCol="0">
            <a:spAutoFit/>
          </a:bodyPr>
          <a:lstStyle/>
          <a:p>
            <a:r>
              <a:rPr lang="ja-JP" altLang="en-US" sz="3600" dirty="0">
                <a:solidFill>
                  <a:schemeClr val="accent2"/>
                </a:solidFill>
              </a:rPr>
              <a:t>新型スマホ</a:t>
            </a:r>
            <a:r>
              <a:rPr kumimoji="1" lang="ja-JP" altLang="en-US" sz="3600" dirty="0">
                <a:solidFill>
                  <a:schemeClr val="accent2"/>
                </a:solidFill>
              </a:rPr>
              <a:t>について</a:t>
            </a:r>
          </a:p>
        </p:txBody>
      </p:sp>
    </p:spTree>
    <p:extLst>
      <p:ext uri="{BB962C8B-B14F-4D97-AF65-F5344CB8AC3E}">
        <p14:creationId xmlns:p14="http://schemas.microsoft.com/office/powerpoint/2010/main" val="1182914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5F0EAE-2226-E93F-1538-09B7C997DAD6}"/>
              </a:ext>
            </a:extLst>
          </p:cNvPr>
          <p:cNvSpPr>
            <a:spLocks noGrp="1"/>
          </p:cNvSpPr>
          <p:nvPr>
            <p:ph type="title"/>
          </p:nvPr>
        </p:nvSpPr>
        <p:spPr/>
        <p:txBody>
          <a:bodyPr/>
          <a:lstStyle/>
          <a:p>
            <a:r>
              <a:rPr kumimoji="1" lang="ja-JP" altLang="en-US" dirty="0"/>
              <a:t>用意した対象データ</a:t>
            </a:r>
          </a:p>
        </p:txBody>
      </p:sp>
      <p:sp>
        <p:nvSpPr>
          <p:cNvPr id="3" name="コンテンツ プレースホルダー 2">
            <a:extLst>
              <a:ext uri="{FF2B5EF4-FFF2-40B4-BE49-F238E27FC236}">
                <a16:creationId xmlns:a16="http://schemas.microsoft.com/office/drawing/2014/main" id="{D1ED91CE-5961-18B1-93C3-1E957F0E4233}"/>
              </a:ext>
            </a:extLst>
          </p:cNvPr>
          <p:cNvSpPr>
            <a:spLocks noGrp="1"/>
          </p:cNvSpPr>
          <p:nvPr>
            <p:ph idx="1"/>
          </p:nvPr>
        </p:nvSpPr>
        <p:spPr/>
        <p:txBody>
          <a:bodyPr/>
          <a:lstStyle/>
          <a:p>
            <a:r>
              <a:rPr kumimoji="1" lang="ja-JP" altLang="en-US" dirty="0"/>
              <a:t>「。」区切り：１文ずつに発話順番に沿って数字ラベルを付与（１～３５）</a:t>
            </a:r>
            <a:endParaRPr kumimoji="1" lang="en-US" altLang="ja-JP" dirty="0"/>
          </a:p>
          <a:p>
            <a:r>
              <a:rPr kumimoji="1" lang="ja-JP" altLang="en-US" dirty="0"/>
              <a:t>３文チャンク区切り：発話順番に沿ってチャンクごとに数字ラベルを付与（</a:t>
            </a:r>
            <a:r>
              <a:rPr kumimoji="1" lang="en-US" altLang="ja-JP" dirty="0"/>
              <a:t>1</a:t>
            </a:r>
            <a:r>
              <a:rPr kumimoji="1" lang="ja-JP" altLang="en-US" dirty="0"/>
              <a:t>～１２）</a:t>
            </a:r>
          </a:p>
        </p:txBody>
      </p:sp>
      <p:sp>
        <p:nvSpPr>
          <p:cNvPr id="4" name="スライド番号プレースホルダー 3">
            <a:extLst>
              <a:ext uri="{FF2B5EF4-FFF2-40B4-BE49-F238E27FC236}">
                <a16:creationId xmlns:a16="http://schemas.microsoft.com/office/drawing/2014/main" id="{4377B483-FAD0-6339-1EEA-EFBC941D9B6E}"/>
              </a:ext>
            </a:extLst>
          </p:cNvPr>
          <p:cNvSpPr>
            <a:spLocks noGrp="1"/>
          </p:cNvSpPr>
          <p:nvPr>
            <p:ph type="sldNum" sz="quarter" idx="12"/>
          </p:nvPr>
        </p:nvSpPr>
        <p:spPr/>
        <p:txBody>
          <a:bodyPr/>
          <a:lstStyle/>
          <a:p>
            <a:fld id="{27CE633F-9882-4A5C-83A2-1109D0C73261}" type="slidenum">
              <a:rPr lang="en-US" smtClean="0"/>
              <a:t>7</a:t>
            </a:fld>
            <a:endParaRPr lang="en-US"/>
          </a:p>
        </p:txBody>
      </p:sp>
    </p:spTree>
    <p:extLst>
      <p:ext uri="{BB962C8B-B14F-4D97-AF65-F5344CB8AC3E}">
        <p14:creationId xmlns:p14="http://schemas.microsoft.com/office/powerpoint/2010/main" val="3528182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9DCBF6-F1A5-59BD-F4AA-F2A58294C036}"/>
              </a:ext>
            </a:extLst>
          </p:cNvPr>
          <p:cNvSpPr>
            <a:spLocks noGrp="1"/>
          </p:cNvSpPr>
          <p:nvPr>
            <p:ph type="title"/>
          </p:nvPr>
        </p:nvSpPr>
        <p:spPr/>
        <p:txBody>
          <a:bodyPr/>
          <a:lstStyle/>
          <a:p>
            <a:r>
              <a:rPr kumimoji="1" lang="ja-JP" altLang="en-US" dirty="0"/>
              <a:t>実行方法</a:t>
            </a:r>
          </a:p>
        </p:txBody>
      </p:sp>
      <p:sp>
        <p:nvSpPr>
          <p:cNvPr id="3" name="コンテンツ プレースホルダー 2">
            <a:extLst>
              <a:ext uri="{FF2B5EF4-FFF2-40B4-BE49-F238E27FC236}">
                <a16:creationId xmlns:a16="http://schemas.microsoft.com/office/drawing/2014/main" id="{412CFF3F-5C51-6605-7D9B-99B62F5CE9F8}"/>
              </a:ext>
            </a:extLst>
          </p:cNvPr>
          <p:cNvSpPr>
            <a:spLocks noGrp="1"/>
          </p:cNvSpPr>
          <p:nvPr>
            <p:ph idx="1"/>
          </p:nvPr>
        </p:nvSpPr>
        <p:spPr/>
        <p:txBody>
          <a:bodyPr/>
          <a:lstStyle/>
          <a:p>
            <a:r>
              <a:rPr kumimoji="1" lang="ja-JP" altLang="en-US" dirty="0"/>
              <a:t>実験１：文を「。」区切りで１文ごとの入力</a:t>
            </a:r>
            <a:endParaRPr kumimoji="1" lang="en-US" altLang="ja-JP" dirty="0"/>
          </a:p>
          <a:p>
            <a:r>
              <a:rPr kumimoji="1" lang="ja-JP" altLang="en-US" dirty="0"/>
              <a:t>実験２：３文チャンクで入力</a:t>
            </a:r>
            <a:endParaRPr kumimoji="1" lang="en-US" altLang="ja-JP" dirty="0"/>
          </a:p>
          <a:p>
            <a:pPr marL="0" indent="0">
              <a:buNone/>
            </a:pPr>
            <a:r>
              <a:rPr kumimoji="1" lang="ja-JP" altLang="en-US" dirty="0"/>
              <a:t>　　　　</a:t>
            </a:r>
          </a:p>
        </p:txBody>
      </p:sp>
      <p:sp>
        <p:nvSpPr>
          <p:cNvPr id="4" name="スライド番号プレースホルダー 3">
            <a:extLst>
              <a:ext uri="{FF2B5EF4-FFF2-40B4-BE49-F238E27FC236}">
                <a16:creationId xmlns:a16="http://schemas.microsoft.com/office/drawing/2014/main" id="{74A0F21D-8BCA-8E09-A6BE-42CBD03DFF13}"/>
              </a:ext>
            </a:extLst>
          </p:cNvPr>
          <p:cNvSpPr>
            <a:spLocks noGrp="1"/>
          </p:cNvSpPr>
          <p:nvPr>
            <p:ph type="sldNum" sz="quarter" idx="12"/>
          </p:nvPr>
        </p:nvSpPr>
        <p:spPr/>
        <p:txBody>
          <a:bodyPr/>
          <a:lstStyle/>
          <a:p>
            <a:fld id="{27CE633F-9882-4A5C-83A2-1109D0C73261}" type="slidenum">
              <a:rPr lang="en-US" smtClean="0"/>
              <a:t>8</a:t>
            </a:fld>
            <a:endParaRPr lang="en-US"/>
          </a:p>
        </p:txBody>
      </p:sp>
    </p:spTree>
    <p:extLst>
      <p:ext uri="{BB962C8B-B14F-4D97-AF65-F5344CB8AC3E}">
        <p14:creationId xmlns:p14="http://schemas.microsoft.com/office/powerpoint/2010/main" val="1115555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672258-7318-A876-D909-91B7D04AB1F9}"/>
              </a:ext>
            </a:extLst>
          </p:cNvPr>
          <p:cNvSpPr>
            <a:spLocks noGrp="1"/>
          </p:cNvSpPr>
          <p:nvPr>
            <p:ph type="title"/>
          </p:nvPr>
        </p:nvSpPr>
        <p:spPr/>
        <p:txBody>
          <a:bodyPr/>
          <a:lstStyle/>
          <a:p>
            <a:r>
              <a:rPr kumimoji="1" lang="ja-JP" altLang="en-US" dirty="0"/>
              <a:t>試験結果</a:t>
            </a:r>
            <a:r>
              <a:rPr kumimoji="1" lang="en-US" altLang="ja-JP" dirty="0"/>
              <a:t>-</a:t>
            </a:r>
            <a:r>
              <a:rPr kumimoji="1" lang="ja-JP" altLang="en-US" dirty="0"/>
              <a:t>検出トピック数比較</a:t>
            </a:r>
          </a:p>
        </p:txBody>
      </p:sp>
      <p:graphicFrame>
        <p:nvGraphicFramePr>
          <p:cNvPr id="5" name="コンテンツ プレースホルダー 4">
            <a:extLst>
              <a:ext uri="{FF2B5EF4-FFF2-40B4-BE49-F238E27FC236}">
                <a16:creationId xmlns:a16="http://schemas.microsoft.com/office/drawing/2014/main" id="{4285DE91-9BA1-4F8F-D821-3BBCBB6BD615}"/>
              </a:ext>
            </a:extLst>
          </p:cNvPr>
          <p:cNvGraphicFramePr>
            <a:graphicFrameLocks noGrp="1"/>
          </p:cNvGraphicFramePr>
          <p:nvPr>
            <p:ph idx="1"/>
            <p:extLst>
              <p:ext uri="{D42A27DB-BD31-4B8C-83A1-F6EECF244321}">
                <p14:modId xmlns:p14="http://schemas.microsoft.com/office/powerpoint/2010/main" val="1944606717"/>
              </p:ext>
            </p:extLst>
          </p:nvPr>
        </p:nvGraphicFramePr>
        <p:xfrm>
          <a:off x="1219200" y="2290663"/>
          <a:ext cx="7010398" cy="111252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4292692837"/>
                    </a:ext>
                  </a:extLst>
                </a:gridCol>
                <a:gridCol w="3505199">
                  <a:extLst>
                    <a:ext uri="{9D8B030D-6E8A-4147-A177-3AD203B41FA5}">
                      <a16:colId xmlns:a16="http://schemas.microsoft.com/office/drawing/2014/main" val="1593348908"/>
                    </a:ext>
                  </a:extLst>
                </a:gridCol>
              </a:tblGrid>
              <a:tr h="370840">
                <a:tc>
                  <a:txBody>
                    <a:bodyPr/>
                    <a:lstStyle/>
                    <a:p>
                      <a:pPr algn="ctr"/>
                      <a:endParaRPr kumimoji="1" lang="ja-JP" altLang="en-US" dirty="0"/>
                    </a:p>
                  </a:txBody>
                  <a:tcPr/>
                </a:tc>
                <a:tc>
                  <a:txBody>
                    <a:bodyPr/>
                    <a:lstStyle/>
                    <a:p>
                      <a:pPr algn="ctr"/>
                      <a:r>
                        <a:rPr kumimoji="1" lang="ja-JP" altLang="en-US" dirty="0"/>
                        <a:t>検出トピック数</a:t>
                      </a:r>
                    </a:p>
                  </a:txBody>
                  <a:tcPr/>
                </a:tc>
                <a:extLst>
                  <a:ext uri="{0D108BD9-81ED-4DB2-BD59-A6C34878D82A}">
                    <a16:rowId xmlns:a16="http://schemas.microsoft.com/office/drawing/2014/main" val="3458733057"/>
                  </a:ext>
                </a:extLst>
              </a:tr>
              <a:tr h="370840">
                <a:tc>
                  <a:txBody>
                    <a:bodyPr/>
                    <a:lstStyle/>
                    <a:p>
                      <a:pPr algn="ctr"/>
                      <a:r>
                        <a:rPr kumimoji="1" lang="ja-JP" altLang="en-US" dirty="0"/>
                        <a:t>実験１（１文）</a:t>
                      </a:r>
                      <a:endParaRPr kumimoji="1" lang="en-US" altLang="ja-JP" dirty="0"/>
                    </a:p>
                  </a:txBody>
                  <a:tcPr/>
                </a:tc>
                <a:tc>
                  <a:txBody>
                    <a:bodyPr/>
                    <a:lstStyle/>
                    <a:p>
                      <a:pPr algn="ctr"/>
                      <a:r>
                        <a:rPr kumimoji="1" lang="ja-JP" altLang="en-US" dirty="0"/>
                        <a:t>６</a:t>
                      </a:r>
                    </a:p>
                  </a:txBody>
                  <a:tcPr/>
                </a:tc>
                <a:extLst>
                  <a:ext uri="{0D108BD9-81ED-4DB2-BD59-A6C34878D82A}">
                    <a16:rowId xmlns:a16="http://schemas.microsoft.com/office/drawing/2014/main" val="4099435066"/>
                  </a:ext>
                </a:extLst>
              </a:tr>
              <a:tr h="370840">
                <a:tc>
                  <a:txBody>
                    <a:bodyPr/>
                    <a:lstStyle/>
                    <a:p>
                      <a:pPr algn="ctr"/>
                      <a:r>
                        <a:rPr kumimoji="1" lang="ja-JP" altLang="en-US" dirty="0"/>
                        <a:t>実験２（３文チャンク）</a:t>
                      </a:r>
                    </a:p>
                  </a:txBody>
                  <a:tcPr/>
                </a:tc>
                <a:tc>
                  <a:txBody>
                    <a:bodyPr/>
                    <a:lstStyle/>
                    <a:p>
                      <a:pPr algn="ctr"/>
                      <a:r>
                        <a:rPr kumimoji="1" lang="ja-JP" altLang="en-US" dirty="0"/>
                        <a:t>２</a:t>
                      </a:r>
                    </a:p>
                  </a:txBody>
                  <a:tcPr/>
                </a:tc>
                <a:extLst>
                  <a:ext uri="{0D108BD9-81ED-4DB2-BD59-A6C34878D82A}">
                    <a16:rowId xmlns:a16="http://schemas.microsoft.com/office/drawing/2014/main" val="331373593"/>
                  </a:ext>
                </a:extLst>
              </a:tr>
            </a:tbl>
          </a:graphicData>
        </a:graphic>
      </p:graphicFrame>
      <p:sp>
        <p:nvSpPr>
          <p:cNvPr id="4" name="スライド番号プレースホルダー 3">
            <a:extLst>
              <a:ext uri="{FF2B5EF4-FFF2-40B4-BE49-F238E27FC236}">
                <a16:creationId xmlns:a16="http://schemas.microsoft.com/office/drawing/2014/main" id="{85216CAC-B23E-AE00-A6A1-05887E972B89}"/>
              </a:ext>
            </a:extLst>
          </p:cNvPr>
          <p:cNvSpPr>
            <a:spLocks noGrp="1"/>
          </p:cNvSpPr>
          <p:nvPr>
            <p:ph type="sldNum" sz="quarter" idx="12"/>
          </p:nvPr>
        </p:nvSpPr>
        <p:spPr/>
        <p:txBody>
          <a:bodyPr/>
          <a:lstStyle/>
          <a:p>
            <a:fld id="{27CE633F-9882-4A5C-83A2-1109D0C73261}" type="slidenum">
              <a:rPr lang="en-US" smtClean="0"/>
              <a:t>9</a:t>
            </a:fld>
            <a:endParaRPr lang="en-US"/>
          </a:p>
        </p:txBody>
      </p:sp>
    </p:spTree>
    <p:extLst>
      <p:ext uri="{BB962C8B-B14F-4D97-AF65-F5344CB8AC3E}">
        <p14:creationId xmlns:p14="http://schemas.microsoft.com/office/powerpoint/2010/main" val="64392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374AD6-CD2B-740A-4E7E-92195AE5DA30}"/>
              </a:ext>
            </a:extLst>
          </p:cNvPr>
          <p:cNvSpPr>
            <a:spLocks noGrp="1"/>
          </p:cNvSpPr>
          <p:nvPr>
            <p:ph type="title"/>
          </p:nvPr>
        </p:nvSpPr>
        <p:spPr/>
        <p:txBody>
          <a:bodyPr/>
          <a:lstStyle/>
          <a:p>
            <a:r>
              <a:rPr kumimoji="1" lang="ja-JP" altLang="en-US" dirty="0"/>
              <a:t>実験１</a:t>
            </a:r>
            <a:r>
              <a:rPr kumimoji="1" lang="en-US" altLang="ja-JP" dirty="0"/>
              <a:t>-</a:t>
            </a:r>
            <a:r>
              <a:rPr kumimoji="1" lang="ja-JP" altLang="en-US" dirty="0"/>
              <a:t> 検出トピック</a:t>
            </a:r>
          </a:p>
        </p:txBody>
      </p:sp>
      <p:sp>
        <p:nvSpPr>
          <p:cNvPr id="3" name="コンテンツ プレースホルダー 2">
            <a:extLst>
              <a:ext uri="{FF2B5EF4-FFF2-40B4-BE49-F238E27FC236}">
                <a16:creationId xmlns:a16="http://schemas.microsoft.com/office/drawing/2014/main" id="{FC44EED3-A2AD-9AA4-53F5-B9A27B14DFB9}"/>
              </a:ext>
            </a:extLst>
          </p:cNvPr>
          <p:cNvSpPr>
            <a:spLocks noGrp="1"/>
          </p:cNvSpPr>
          <p:nvPr>
            <p:ph idx="1"/>
          </p:nvPr>
        </p:nvSpPr>
        <p:spPr>
          <a:xfrm>
            <a:off x="838200" y="1690687"/>
            <a:ext cx="10515600" cy="5030787"/>
          </a:xfrm>
        </p:spPr>
        <p:txBody>
          <a:bodyPr/>
          <a:lstStyle/>
          <a:p>
            <a:pPr marL="0" indent="0">
              <a:buNone/>
            </a:pPr>
            <a:r>
              <a:rPr kumimoji="1" lang="ja-JP" altLang="en-US" dirty="0"/>
              <a:t>　　　</a:t>
            </a:r>
            <a:r>
              <a:rPr kumimoji="1" lang="ja-JP" altLang="en-US" b="1" dirty="0"/>
              <a:t>トピックラベル（</a:t>
            </a:r>
            <a:r>
              <a:rPr kumimoji="1" lang="en-US" altLang="ja-JP" b="1" dirty="0"/>
              <a:t>c-TF-IDF</a:t>
            </a:r>
            <a:r>
              <a:rPr kumimoji="1" lang="ja-JP" altLang="en-US" b="1" dirty="0"/>
              <a:t>による）</a:t>
            </a:r>
            <a:endParaRPr kumimoji="1" lang="en-US" altLang="ja-JP" b="1" dirty="0"/>
          </a:p>
          <a:p>
            <a:r>
              <a:rPr kumimoji="1" lang="ja-JP" altLang="en-US" dirty="0"/>
              <a:t>０：</a:t>
            </a:r>
            <a:r>
              <a:rPr kumimoji="1" lang="en-US" altLang="ja-JP" dirty="0" err="1"/>
              <a:t>jr</a:t>
            </a:r>
            <a:r>
              <a:rPr kumimoji="1" lang="ja-JP" altLang="en-US" dirty="0"/>
              <a:t>九州では一部運休を決定しました </a:t>
            </a:r>
            <a:endParaRPr kumimoji="1" lang="en-US" altLang="ja-JP" dirty="0"/>
          </a:p>
          <a:p>
            <a:r>
              <a:rPr kumimoji="1" lang="ja-JP" altLang="en-US" dirty="0"/>
              <a:t>１：</a:t>
            </a:r>
            <a:r>
              <a:rPr lang="ja-JP" altLang="en-US" dirty="0"/>
              <a:t>最新の情報が入り次第 引き続きお伝えします</a:t>
            </a:r>
            <a:endParaRPr kumimoji="1" lang="en-US" altLang="ja-JP" dirty="0"/>
          </a:p>
          <a:p>
            <a:r>
              <a:rPr kumimoji="1" lang="ja-JP" altLang="en-US" dirty="0"/>
              <a:t>２：</a:t>
            </a:r>
            <a:r>
              <a:rPr lang="ja-JP" altLang="en-US" dirty="0"/>
              <a:t>デザインがスタイリッシュで欲しくなりました カメラ性能に惹かれて予約しました</a:t>
            </a:r>
            <a:endParaRPr kumimoji="1" lang="en-US" altLang="ja-JP" dirty="0"/>
          </a:p>
          <a:p>
            <a:r>
              <a:rPr kumimoji="1" lang="ja-JP" altLang="en-US" dirty="0"/>
              <a:t>３：</a:t>
            </a:r>
            <a:r>
              <a:rPr lang="ja-JP" altLang="en-US" dirty="0"/>
              <a:t>最後に あすの全国の天気予報です</a:t>
            </a:r>
            <a:endParaRPr kumimoji="1" lang="en-US" altLang="ja-JP" dirty="0"/>
          </a:p>
          <a:p>
            <a:r>
              <a:rPr kumimoji="1" lang="ja-JP" altLang="en-US" dirty="0"/>
              <a:t>４：</a:t>
            </a:r>
            <a:r>
              <a:rPr lang="ja-JP" altLang="en-US" dirty="0"/>
              <a:t>今回のモデルはカメラ機能が大幅に進化したことが特徴です </a:t>
            </a:r>
            <a:endParaRPr kumimoji="1" lang="en-US" altLang="ja-JP" dirty="0"/>
          </a:p>
          <a:p>
            <a:r>
              <a:rPr kumimoji="1" lang="ja-JP" altLang="en-US" dirty="0"/>
              <a:t>５：</a:t>
            </a:r>
            <a:r>
              <a:rPr lang="ja-JP" altLang="en-US" dirty="0"/>
              <a:t>安全が第一です</a:t>
            </a:r>
            <a:endParaRPr kumimoji="1" lang="ja-JP" altLang="en-US" dirty="0"/>
          </a:p>
        </p:txBody>
      </p:sp>
      <p:sp>
        <p:nvSpPr>
          <p:cNvPr id="4" name="スライド番号プレースホルダー 3">
            <a:extLst>
              <a:ext uri="{FF2B5EF4-FFF2-40B4-BE49-F238E27FC236}">
                <a16:creationId xmlns:a16="http://schemas.microsoft.com/office/drawing/2014/main" id="{E51B0BEB-9487-CABF-502D-424BD56BC5D6}"/>
              </a:ext>
            </a:extLst>
          </p:cNvPr>
          <p:cNvSpPr>
            <a:spLocks noGrp="1"/>
          </p:cNvSpPr>
          <p:nvPr>
            <p:ph type="sldNum" sz="quarter" idx="12"/>
          </p:nvPr>
        </p:nvSpPr>
        <p:spPr/>
        <p:txBody>
          <a:bodyPr/>
          <a:lstStyle/>
          <a:p>
            <a:fld id="{27CE633F-9882-4A5C-83A2-1109D0C73261}" type="slidenum">
              <a:rPr lang="en-US" smtClean="0"/>
              <a:t>10</a:t>
            </a:fld>
            <a:endParaRPr lang="en-US"/>
          </a:p>
        </p:txBody>
      </p:sp>
    </p:spTree>
    <p:extLst>
      <p:ext uri="{BB962C8B-B14F-4D97-AF65-F5344CB8AC3E}">
        <p14:creationId xmlns:p14="http://schemas.microsoft.com/office/powerpoint/2010/main" val="366156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7414C9-461A-9E6D-3973-02EA515ACDE2}"/>
              </a:ext>
            </a:extLst>
          </p:cNvPr>
          <p:cNvSpPr>
            <a:spLocks noGrp="1"/>
          </p:cNvSpPr>
          <p:nvPr>
            <p:ph type="title"/>
          </p:nvPr>
        </p:nvSpPr>
        <p:spPr/>
        <p:txBody>
          <a:bodyPr/>
          <a:lstStyle/>
          <a:p>
            <a:r>
              <a:rPr kumimoji="1" lang="ja-JP" altLang="en-US" dirty="0"/>
              <a:t>実験１</a:t>
            </a:r>
            <a:r>
              <a:rPr kumimoji="1" lang="en-US" altLang="ja-JP" dirty="0"/>
              <a:t>- </a:t>
            </a:r>
            <a:r>
              <a:rPr kumimoji="1" lang="ja-JP" altLang="en-US" dirty="0"/>
              <a:t>検出トピック</a:t>
            </a:r>
            <a:r>
              <a:rPr kumimoji="1"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68C32A16-B2F9-27B5-EB7C-0CE431079061}"/>
              </a:ext>
            </a:extLst>
          </p:cNvPr>
          <p:cNvSpPr>
            <a:spLocks noGrp="1"/>
          </p:cNvSpPr>
          <p:nvPr>
            <p:ph idx="1"/>
          </p:nvPr>
        </p:nvSpPr>
        <p:spPr>
          <a:xfrm>
            <a:off x="998621" y="1618693"/>
            <a:ext cx="9456821" cy="1590606"/>
          </a:xfrm>
        </p:spPr>
        <p:txBody>
          <a:bodyPr/>
          <a:lstStyle/>
          <a:p>
            <a:pPr marL="0" indent="0">
              <a:buNone/>
            </a:pPr>
            <a:r>
              <a:rPr kumimoji="1" lang="ja-JP" altLang="en-US" dirty="0"/>
              <a:t>文ラベル：発話順に１文ずつに割り振られた番号</a:t>
            </a:r>
            <a:endParaRPr kumimoji="1" lang="en-US" altLang="ja-JP" dirty="0"/>
          </a:p>
          <a:p>
            <a:pPr marL="0" indent="0">
              <a:buNone/>
            </a:pPr>
            <a:r>
              <a:rPr kumimoji="1" lang="ja-JP" altLang="en-US" dirty="0"/>
              <a:t>トピック番号：</a:t>
            </a:r>
            <a:r>
              <a:rPr kumimoji="1" lang="en-US" altLang="ja-JP" dirty="0" err="1"/>
              <a:t>BERTopic</a:t>
            </a:r>
            <a:r>
              <a:rPr kumimoji="1" lang="ja-JP" altLang="en-US" dirty="0"/>
              <a:t>によってクラスタリングされたトピックの番号</a:t>
            </a:r>
          </a:p>
        </p:txBody>
      </p:sp>
      <p:sp>
        <p:nvSpPr>
          <p:cNvPr id="4" name="スライド番号プレースホルダー 3">
            <a:extLst>
              <a:ext uri="{FF2B5EF4-FFF2-40B4-BE49-F238E27FC236}">
                <a16:creationId xmlns:a16="http://schemas.microsoft.com/office/drawing/2014/main" id="{CF86BA6C-650F-15BE-93F8-A5ACF3EA6EFF}"/>
              </a:ext>
            </a:extLst>
          </p:cNvPr>
          <p:cNvSpPr>
            <a:spLocks noGrp="1"/>
          </p:cNvSpPr>
          <p:nvPr>
            <p:ph type="sldNum" sz="quarter" idx="12"/>
          </p:nvPr>
        </p:nvSpPr>
        <p:spPr/>
        <p:txBody>
          <a:bodyPr/>
          <a:lstStyle/>
          <a:p>
            <a:fld id="{27CE633F-9882-4A5C-83A2-1109D0C73261}" type="slidenum">
              <a:rPr lang="en-US" smtClean="0"/>
              <a:t>11</a:t>
            </a:fld>
            <a:endParaRPr lang="en-US"/>
          </a:p>
        </p:txBody>
      </p:sp>
      <p:graphicFrame>
        <p:nvGraphicFramePr>
          <p:cNvPr id="6" name="表 5">
            <a:extLst>
              <a:ext uri="{FF2B5EF4-FFF2-40B4-BE49-F238E27FC236}">
                <a16:creationId xmlns:a16="http://schemas.microsoft.com/office/drawing/2014/main" id="{2502F822-6CAA-62EA-4C08-907412F8C65B}"/>
              </a:ext>
            </a:extLst>
          </p:cNvPr>
          <p:cNvGraphicFramePr>
            <a:graphicFrameLocks noGrp="1"/>
          </p:cNvGraphicFramePr>
          <p:nvPr>
            <p:extLst>
              <p:ext uri="{D42A27DB-BD31-4B8C-83A1-F6EECF244321}">
                <p14:modId xmlns:p14="http://schemas.microsoft.com/office/powerpoint/2010/main" val="815184456"/>
              </p:ext>
            </p:extLst>
          </p:nvPr>
        </p:nvGraphicFramePr>
        <p:xfrm>
          <a:off x="838200" y="3980541"/>
          <a:ext cx="3304674" cy="2741614"/>
        </p:xfrm>
        <a:graphic>
          <a:graphicData uri="http://schemas.openxmlformats.org/drawingml/2006/table">
            <a:tbl>
              <a:tblPr firstRow="1" bandRow="1">
                <a:tableStyleId>{5C22544A-7EE6-4342-B048-85BDC9FD1C3A}</a:tableStyleId>
              </a:tblPr>
              <a:tblGrid>
                <a:gridCol w="1748590">
                  <a:extLst>
                    <a:ext uri="{9D8B030D-6E8A-4147-A177-3AD203B41FA5}">
                      <a16:colId xmlns:a16="http://schemas.microsoft.com/office/drawing/2014/main" val="1976874720"/>
                    </a:ext>
                  </a:extLst>
                </a:gridCol>
                <a:gridCol w="1556084">
                  <a:extLst>
                    <a:ext uri="{9D8B030D-6E8A-4147-A177-3AD203B41FA5}">
                      <a16:colId xmlns:a16="http://schemas.microsoft.com/office/drawing/2014/main" val="2156381044"/>
                    </a:ext>
                  </a:extLst>
                </a:gridCol>
              </a:tblGrid>
              <a:tr h="462712">
                <a:tc>
                  <a:txBody>
                    <a:bodyPr/>
                    <a:lstStyle/>
                    <a:p>
                      <a:pPr algn="ctr"/>
                      <a:r>
                        <a:rPr kumimoji="1" lang="ja-JP" altLang="en-US" dirty="0"/>
                        <a:t>文ラベル</a:t>
                      </a:r>
                    </a:p>
                  </a:txBody>
                  <a:tcPr/>
                </a:tc>
                <a:tc>
                  <a:txBody>
                    <a:bodyPr/>
                    <a:lstStyle/>
                    <a:p>
                      <a:pPr algn="ctr"/>
                      <a:r>
                        <a:rPr kumimoji="1" lang="ja-JP" altLang="en-US" dirty="0"/>
                        <a:t>トピック番号</a:t>
                      </a:r>
                    </a:p>
                  </a:txBody>
                  <a:tcPr/>
                </a:tc>
                <a:extLst>
                  <a:ext uri="{0D108BD9-81ED-4DB2-BD59-A6C34878D82A}">
                    <a16:rowId xmlns:a16="http://schemas.microsoft.com/office/drawing/2014/main" val="3995109233"/>
                  </a:ext>
                </a:extLst>
              </a:tr>
              <a:tr h="759634">
                <a:tc>
                  <a:txBody>
                    <a:bodyPr/>
                    <a:lstStyle/>
                    <a:p>
                      <a:pPr algn="ctr"/>
                      <a:r>
                        <a:rPr kumimoji="1" lang="ja-JP" altLang="en-US" dirty="0"/>
                        <a:t>２３</a:t>
                      </a:r>
                    </a:p>
                  </a:txBody>
                  <a:tcPr/>
                </a:tc>
                <a:tc>
                  <a:txBody>
                    <a:bodyPr/>
                    <a:lstStyle/>
                    <a:p>
                      <a:pPr algn="ctr"/>
                      <a:r>
                        <a:rPr kumimoji="1" lang="ja-JP" altLang="en-US" dirty="0"/>
                        <a:t>０</a:t>
                      </a:r>
                    </a:p>
                  </a:txBody>
                  <a:tcPr/>
                </a:tc>
                <a:extLst>
                  <a:ext uri="{0D108BD9-81ED-4DB2-BD59-A6C34878D82A}">
                    <a16:rowId xmlns:a16="http://schemas.microsoft.com/office/drawing/2014/main" val="3230008968"/>
                  </a:ext>
                </a:extLst>
              </a:tr>
              <a:tr h="759634">
                <a:tc>
                  <a:txBody>
                    <a:bodyPr/>
                    <a:lstStyle/>
                    <a:p>
                      <a:pPr algn="ctr"/>
                      <a:r>
                        <a:rPr kumimoji="1" lang="ja-JP" altLang="en-US" dirty="0"/>
                        <a:t>２４</a:t>
                      </a:r>
                      <a:endParaRPr kumimoji="1" lang="en-US" altLang="ja-JP" dirty="0"/>
                    </a:p>
                  </a:txBody>
                  <a:tcPr/>
                </a:tc>
                <a:tc>
                  <a:txBody>
                    <a:bodyPr/>
                    <a:lstStyle/>
                    <a:p>
                      <a:pPr algn="ctr"/>
                      <a:r>
                        <a:rPr kumimoji="1" lang="ja-JP" altLang="en-US" dirty="0"/>
                        <a:t>２</a:t>
                      </a:r>
                    </a:p>
                  </a:txBody>
                  <a:tcPr/>
                </a:tc>
                <a:extLst>
                  <a:ext uri="{0D108BD9-81ED-4DB2-BD59-A6C34878D82A}">
                    <a16:rowId xmlns:a16="http://schemas.microsoft.com/office/drawing/2014/main" val="3265773405"/>
                  </a:ext>
                </a:extLst>
              </a:tr>
              <a:tr h="759634">
                <a:tc>
                  <a:txBody>
                    <a:bodyPr/>
                    <a:lstStyle/>
                    <a:p>
                      <a:pPr algn="ctr"/>
                      <a:r>
                        <a:rPr kumimoji="1" lang="ja-JP" altLang="en-US" dirty="0"/>
                        <a:t>２５</a:t>
                      </a:r>
                    </a:p>
                  </a:txBody>
                  <a:tcPr/>
                </a:tc>
                <a:tc>
                  <a:txBody>
                    <a:bodyPr/>
                    <a:lstStyle/>
                    <a:p>
                      <a:pPr algn="ctr"/>
                      <a:r>
                        <a:rPr kumimoji="1" lang="ja-JP" altLang="en-US" dirty="0"/>
                        <a:t>５</a:t>
                      </a:r>
                    </a:p>
                  </a:txBody>
                  <a:tcPr/>
                </a:tc>
                <a:extLst>
                  <a:ext uri="{0D108BD9-81ED-4DB2-BD59-A6C34878D82A}">
                    <a16:rowId xmlns:a16="http://schemas.microsoft.com/office/drawing/2014/main" val="3871051985"/>
                  </a:ext>
                </a:extLst>
              </a:tr>
            </a:tbl>
          </a:graphicData>
        </a:graphic>
      </p:graphicFrame>
      <p:sp>
        <p:nvSpPr>
          <p:cNvPr id="7" name="テキスト ボックス 6">
            <a:extLst>
              <a:ext uri="{FF2B5EF4-FFF2-40B4-BE49-F238E27FC236}">
                <a16:creationId xmlns:a16="http://schemas.microsoft.com/office/drawing/2014/main" id="{B47BE557-470B-F765-5561-481D5D677AAD}"/>
              </a:ext>
            </a:extLst>
          </p:cNvPr>
          <p:cNvSpPr txBox="1"/>
          <p:nvPr/>
        </p:nvSpPr>
        <p:spPr>
          <a:xfrm>
            <a:off x="4255169" y="4462867"/>
            <a:ext cx="7251032" cy="1200329"/>
          </a:xfrm>
          <a:prstGeom prst="rect">
            <a:avLst/>
          </a:prstGeom>
          <a:noFill/>
        </p:spPr>
        <p:txBody>
          <a:bodyPr wrap="square" rtlCol="0">
            <a:spAutoFit/>
          </a:bodyPr>
          <a:lstStyle/>
          <a:p>
            <a:r>
              <a:rPr kumimoji="1" lang="ja-JP" altLang="en-US" dirty="0"/>
              <a:t>２３：</a:t>
            </a:r>
            <a:r>
              <a:rPr lang="ja-JP" altLang="en-US" dirty="0"/>
              <a:t>予約受付はすでに今日から始まっており、アクセスが殺到しているということです。→トピック０</a:t>
            </a:r>
            <a:endParaRPr kumimoji="1" lang="en-US" altLang="ja-JP" dirty="0"/>
          </a:p>
          <a:p>
            <a:r>
              <a:rPr lang="ja-JP" altLang="en-US" dirty="0"/>
              <a:t>２４：カメラ性能に惹かれて予約しました。→トピック２</a:t>
            </a:r>
            <a:endParaRPr lang="en-US" altLang="ja-JP" dirty="0"/>
          </a:p>
          <a:p>
            <a:r>
              <a:rPr kumimoji="1" lang="ja-JP" altLang="en-US" dirty="0"/>
              <a:t>２５：</a:t>
            </a:r>
            <a:r>
              <a:rPr lang="ja-JP" altLang="en-US" dirty="0"/>
              <a:t>届くのが楽しみです。→トピック３</a:t>
            </a:r>
            <a:endParaRPr kumimoji="1" lang="ja-JP" altLang="en-US" dirty="0"/>
          </a:p>
        </p:txBody>
      </p:sp>
    </p:spTree>
    <p:extLst>
      <p:ext uri="{BB962C8B-B14F-4D97-AF65-F5344CB8AC3E}">
        <p14:creationId xmlns:p14="http://schemas.microsoft.com/office/powerpoint/2010/main" val="4214967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1764AF-C56C-E7A7-F62E-BAFFA138BD95}"/>
              </a:ext>
            </a:extLst>
          </p:cNvPr>
          <p:cNvSpPr>
            <a:spLocks noGrp="1"/>
          </p:cNvSpPr>
          <p:nvPr>
            <p:ph type="title"/>
          </p:nvPr>
        </p:nvSpPr>
        <p:spPr/>
        <p:txBody>
          <a:bodyPr/>
          <a:lstStyle/>
          <a:p>
            <a:r>
              <a:rPr kumimoji="1" lang="ja-JP" altLang="en-US" dirty="0"/>
              <a:t>実験２</a:t>
            </a:r>
            <a:r>
              <a:rPr kumimoji="1" lang="en-US" altLang="ja-JP" dirty="0"/>
              <a:t>- </a:t>
            </a:r>
            <a:r>
              <a:rPr kumimoji="1" lang="ja-JP" altLang="en-US" dirty="0"/>
              <a:t>検出トピック</a:t>
            </a:r>
          </a:p>
        </p:txBody>
      </p:sp>
      <p:sp>
        <p:nvSpPr>
          <p:cNvPr id="3" name="コンテンツ プレースホルダー 2">
            <a:extLst>
              <a:ext uri="{FF2B5EF4-FFF2-40B4-BE49-F238E27FC236}">
                <a16:creationId xmlns:a16="http://schemas.microsoft.com/office/drawing/2014/main" id="{3A0D97A9-3966-3FB0-F6B9-916FDB8B0B46}"/>
              </a:ext>
            </a:extLst>
          </p:cNvPr>
          <p:cNvSpPr>
            <a:spLocks noGrp="1"/>
          </p:cNvSpPr>
          <p:nvPr>
            <p:ph idx="1"/>
          </p:nvPr>
        </p:nvSpPr>
        <p:spPr/>
        <p:txBody>
          <a:bodyPr/>
          <a:lstStyle/>
          <a:p>
            <a:pPr marL="0" indent="0">
              <a:buNone/>
            </a:pPr>
            <a:r>
              <a:rPr kumimoji="1" lang="ja-JP" altLang="en-US" dirty="0"/>
              <a:t>　　　</a:t>
            </a:r>
            <a:r>
              <a:rPr kumimoji="1" lang="ja-JP" altLang="en-US" b="1" dirty="0"/>
              <a:t>トピックラベル（</a:t>
            </a:r>
            <a:r>
              <a:rPr kumimoji="1" lang="en-US" altLang="ja-JP" b="1" dirty="0"/>
              <a:t>c-TF-IDF</a:t>
            </a:r>
            <a:r>
              <a:rPr kumimoji="1" lang="ja-JP" altLang="en-US" b="1" dirty="0"/>
              <a:t>による）</a:t>
            </a:r>
            <a:endParaRPr kumimoji="1" lang="en-US" altLang="ja-JP" dirty="0"/>
          </a:p>
          <a:p>
            <a:r>
              <a:rPr kumimoji="1" lang="ja-JP" altLang="en-US" dirty="0"/>
              <a:t>０：</a:t>
            </a:r>
            <a:r>
              <a:rPr lang="en-US" altLang="ja-JP" dirty="0" err="1"/>
              <a:t>jr</a:t>
            </a:r>
            <a:r>
              <a:rPr lang="ja-JP" altLang="en-US" dirty="0"/>
              <a:t>九州では一部運休を決定しました</a:t>
            </a:r>
            <a:endParaRPr lang="en-US" altLang="ja-JP" dirty="0"/>
          </a:p>
          <a:p>
            <a:r>
              <a:rPr kumimoji="1" lang="ja-JP" altLang="en-US" dirty="0"/>
              <a:t>１：</a:t>
            </a:r>
            <a:r>
              <a:rPr lang="en-US" altLang="ja-JP" dirty="0"/>
              <a:t>5g</a:t>
            </a:r>
            <a:r>
              <a:rPr lang="ja-JP" altLang="en-US" dirty="0"/>
              <a:t>通信の安定性も今回の大きな改善点です </a:t>
            </a:r>
            <a:endParaRPr kumimoji="1" lang="ja-JP" altLang="en-US" dirty="0"/>
          </a:p>
        </p:txBody>
      </p:sp>
      <p:sp>
        <p:nvSpPr>
          <p:cNvPr id="4" name="スライド番号プレースホルダー 3">
            <a:extLst>
              <a:ext uri="{FF2B5EF4-FFF2-40B4-BE49-F238E27FC236}">
                <a16:creationId xmlns:a16="http://schemas.microsoft.com/office/drawing/2014/main" id="{B9656B9C-6D11-E993-B7A2-58CE37E046B6}"/>
              </a:ext>
            </a:extLst>
          </p:cNvPr>
          <p:cNvSpPr>
            <a:spLocks noGrp="1"/>
          </p:cNvSpPr>
          <p:nvPr>
            <p:ph type="sldNum" sz="quarter" idx="12"/>
          </p:nvPr>
        </p:nvSpPr>
        <p:spPr/>
        <p:txBody>
          <a:bodyPr/>
          <a:lstStyle/>
          <a:p>
            <a:fld id="{27CE633F-9882-4A5C-83A2-1109D0C73261}" type="slidenum">
              <a:rPr lang="en-US" smtClean="0"/>
              <a:t>12</a:t>
            </a:fld>
            <a:endParaRPr lang="en-US"/>
          </a:p>
        </p:txBody>
      </p:sp>
    </p:spTree>
    <p:extLst>
      <p:ext uri="{BB962C8B-B14F-4D97-AF65-F5344CB8AC3E}">
        <p14:creationId xmlns:p14="http://schemas.microsoft.com/office/powerpoint/2010/main" val="957967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2312DC-B289-89B3-5C39-DC7028DB3CE5}"/>
              </a:ext>
            </a:extLst>
          </p:cNvPr>
          <p:cNvSpPr>
            <a:spLocks noGrp="1"/>
          </p:cNvSpPr>
          <p:nvPr>
            <p:ph type="title"/>
          </p:nvPr>
        </p:nvSpPr>
        <p:spPr/>
        <p:txBody>
          <a:bodyPr/>
          <a:lstStyle/>
          <a:p>
            <a:r>
              <a:rPr kumimoji="1" lang="ja-JP" altLang="en-US" dirty="0"/>
              <a:t>実験２</a:t>
            </a:r>
            <a:r>
              <a:rPr kumimoji="1" lang="en-US" altLang="ja-JP" dirty="0"/>
              <a:t>- </a:t>
            </a:r>
            <a:r>
              <a:rPr kumimoji="1" lang="ja-JP" altLang="en-US" dirty="0"/>
              <a:t>検出トピック</a:t>
            </a:r>
          </a:p>
        </p:txBody>
      </p:sp>
      <p:graphicFrame>
        <p:nvGraphicFramePr>
          <p:cNvPr id="5" name="コンテンツ プレースホルダー 4">
            <a:extLst>
              <a:ext uri="{FF2B5EF4-FFF2-40B4-BE49-F238E27FC236}">
                <a16:creationId xmlns:a16="http://schemas.microsoft.com/office/drawing/2014/main" id="{3ED7D6AF-C5B2-6475-A26B-C616D769D107}"/>
              </a:ext>
            </a:extLst>
          </p:cNvPr>
          <p:cNvGraphicFramePr>
            <a:graphicFrameLocks noGrp="1"/>
          </p:cNvGraphicFramePr>
          <p:nvPr>
            <p:ph idx="1"/>
            <p:extLst>
              <p:ext uri="{D42A27DB-BD31-4B8C-83A1-F6EECF244321}">
                <p14:modId xmlns:p14="http://schemas.microsoft.com/office/powerpoint/2010/main" val="3069345692"/>
              </p:ext>
            </p:extLst>
          </p:nvPr>
        </p:nvGraphicFramePr>
        <p:xfrm>
          <a:off x="838200" y="1825625"/>
          <a:ext cx="10515600" cy="44500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856584743"/>
                    </a:ext>
                  </a:extLst>
                </a:gridCol>
                <a:gridCol w="5257800">
                  <a:extLst>
                    <a:ext uri="{9D8B030D-6E8A-4147-A177-3AD203B41FA5}">
                      <a16:colId xmlns:a16="http://schemas.microsoft.com/office/drawing/2014/main" val="278530621"/>
                    </a:ext>
                  </a:extLst>
                </a:gridCol>
              </a:tblGrid>
              <a:tr h="370840">
                <a:tc>
                  <a:txBody>
                    <a:bodyPr/>
                    <a:lstStyle/>
                    <a:p>
                      <a:pPr algn="ctr"/>
                      <a:r>
                        <a:rPr kumimoji="1" lang="ja-JP" altLang="en-US" dirty="0"/>
                        <a:t>文チャンクラベル</a:t>
                      </a:r>
                    </a:p>
                  </a:txBody>
                  <a:tcPr/>
                </a:tc>
                <a:tc>
                  <a:txBody>
                    <a:bodyPr/>
                    <a:lstStyle/>
                    <a:p>
                      <a:pPr algn="ctr"/>
                      <a:r>
                        <a:rPr kumimoji="1" lang="ja-JP" altLang="en-US" dirty="0"/>
                        <a:t>トピック番号</a:t>
                      </a:r>
                    </a:p>
                  </a:txBody>
                  <a:tcPr/>
                </a:tc>
                <a:extLst>
                  <a:ext uri="{0D108BD9-81ED-4DB2-BD59-A6C34878D82A}">
                    <a16:rowId xmlns:a16="http://schemas.microsoft.com/office/drawing/2014/main" val="3506722410"/>
                  </a:ext>
                </a:extLst>
              </a:tr>
              <a:tr h="370840">
                <a:tc>
                  <a:txBody>
                    <a:bodyPr/>
                    <a:lstStyle/>
                    <a:p>
                      <a:pPr algn="ctr"/>
                      <a:r>
                        <a:rPr kumimoji="1" lang="ja-JP" altLang="en-US" dirty="0"/>
                        <a:t>１</a:t>
                      </a:r>
                      <a:endParaRPr kumimoji="1" lang="en-US" altLang="ja-JP" dirty="0"/>
                    </a:p>
                  </a:txBody>
                  <a:tcPr/>
                </a:tc>
                <a:tc>
                  <a:txBody>
                    <a:bodyPr/>
                    <a:lstStyle/>
                    <a:p>
                      <a:pPr algn="ctr"/>
                      <a:r>
                        <a:rPr kumimoji="1" lang="ja-JP" altLang="en-US" dirty="0"/>
                        <a:t>０</a:t>
                      </a:r>
                      <a:endParaRPr kumimoji="1" lang="en-US" altLang="ja-JP" dirty="0"/>
                    </a:p>
                  </a:txBody>
                  <a:tcPr/>
                </a:tc>
                <a:extLst>
                  <a:ext uri="{0D108BD9-81ED-4DB2-BD59-A6C34878D82A}">
                    <a16:rowId xmlns:a16="http://schemas.microsoft.com/office/drawing/2014/main" val="3699949956"/>
                  </a:ext>
                </a:extLst>
              </a:tr>
              <a:tr h="370840">
                <a:tc>
                  <a:txBody>
                    <a:bodyPr/>
                    <a:lstStyle/>
                    <a:p>
                      <a:pPr algn="ctr"/>
                      <a:r>
                        <a:rPr kumimoji="1" lang="ja-JP" altLang="en-US" dirty="0"/>
                        <a:t>２</a:t>
                      </a:r>
                    </a:p>
                  </a:txBody>
                  <a:tcPr/>
                </a:tc>
                <a:tc>
                  <a:txBody>
                    <a:bodyPr/>
                    <a:lstStyle/>
                    <a:p>
                      <a:pPr algn="ctr"/>
                      <a:r>
                        <a:rPr kumimoji="1" lang="ja-JP" altLang="en-US" dirty="0"/>
                        <a:t>０</a:t>
                      </a:r>
                    </a:p>
                  </a:txBody>
                  <a:tcPr/>
                </a:tc>
                <a:extLst>
                  <a:ext uri="{0D108BD9-81ED-4DB2-BD59-A6C34878D82A}">
                    <a16:rowId xmlns:a16="http://schemas.microsoft.com/office/drawing/2014/main" val="3637924814"/>
                  </a:ext>
                </a:extLst>
              </a:tr>
              <a:tr h="370840">
                <a:tc>
                  <a:txBody>
                    <a:bodyPr/>
                    <a:lstStyle/>
                    <a:p>
                      <a:pPr algn="ctr"/>
                      <a:r>
                        <a:rPr kumimoji="1" lang="ja-JP" altLang="en-US" dirty="0"/>
                        <a:t>３</a:t>
                      </a:r>
                    </a:p>
                  </a:txBody>
                  <a:tcPr/>
                </a:tc>
                <a:tc>
                  <a:txBody>
                    <a:bodyPr/>
                    <a:lstStyle/>
                    <a:p>
                      <a:pPr algn="ctr"/>
                      <a:r>
                        <a:rPr kumimoji="1" lang="ja-JP" altLang="en-US" dirty="0"/>
                        <a:t>０</a:t>
                      </a:r>
                    </a:p>
                  </a:txBody>
                  <a:tcPr/>
                </a:tc>
                <a:extLst>
                  <a:ext uri="{0D108BD9-81ED-4DB2-BD59-A6C34878D82A}">
                    <a16:rowId xmlns:a16="http://schemas.microsoft.com/office/drawing/2014/main" val="304956862"/>
                  </a:ext>
                </a:extLst>
              </a:tr>
              <a:tr h="370840">
                <a:tc>
                  <a:txBody>
                    <a:bodyPr/>
                    <a:lstStyle/>
                    <a:p>
                      <a:pPr algn="ctr"/>
                      <a:r>
                        <a:rPr kumimoji="1" lang="ja-JP" altLang="en-US" dirty="0"/>
                        <a:t>４</a:t>
                      </a:r>
                    </a:p>
                  </a:txBody>
                  <a:tcPr/>
                </a:tc>
                <a:tc>
                  <a:txBody>
                    <a:bodyPr/>
                    <a:lstStyle/>
                    <a:p>
                      <a:pPr algn="ctr"/>
                      <a:r>
                        <a:rPr kumimoji="1" lang="ja-JP" altLang="en-US" dirty="0"/>
                        <a:t>０</a:t>
                      </a:r>
                    </a:p>
                  </a:txBody>
                  <a:tcPr/>
                </a:tc>
                <a:extLst>
                  <a:ext uri="{0D108BD9-81ED-4DB2-BD59-A6C34878D82A}">
                    <a16:rowId xmlns:a16="http://schemas.microsoft.com/office/drawing/2014/main" val="3737266028"/>
                  </a:ext>
                </a:extLst>
              </a:tr>
              <a:tr h="370840">
                <a:tc>
                  <a:txBody>
                    <a:bodyPr/>
                    <a:lstStyle/>
                    <a:p>
                      <a:pPr algn="ctr"/>
                      <a:r>
                        <a:rPr kumimoji="1" lang="ja-JP" altLang="en-US" dirty="0"/>
                        <a:t>５</a:t>
                      </a:r>
                    </a:p>
                  </a:txBody>
                  <a:tcPr/>
                </a:tc>
                <a:tc>
                  <a:txBody>
                    <a:bodyPr/>
                    <a:lstStyle/>
                    <a:p>
                      <a:pPr algn="ctr"/>
                      <a:r>
                        <a:rPr kumimoji="1" lang="ja-JP" altLang="en-US" dirty="0"/>
                        <a:t>１</a:t>
                      </a:r>
                    </a:p>
                  </a:txBody>
                  <a:tcPr/>
                </a:tc>
                <a:extLst>
                  <a:ext uri="{0D108BD9-81ED-4DB2-BD59-A6C34878D82A}">
                    <a16:rowId xmlns:a16="http://schemas.microsoft.com/office/drawing/2014/main" val="134246784"/>
                  </a:ext>
                </a:extLst>
              </a:tr>
              <a:tr h="370840">
                <a:tc>
                  <a:txBody>
                    <a:bodyPr/>
                    <a:lstStyle/>
                    <a:p>
                      <a:pPr algn="ctr"/>
                      <a:r>
                        <a:rPr kumimoji="1" lang="ja-JP" altLang="en-US" dirty="0"/>
                        <a:t>６</a:t>
                      </a:r>
                    </a:p>
                  </a:txBody>
                  <a:tcPr/>
                </a:tc>
                <a:tc>
                  <a:txBody>
                    <a:bodyPr/>
                    <a:lstStyle/>
                    <a:p>
                      <a:pPr algn="ctr"/>
                      <a:r>
                        <a:rPr kumimoji="1" lang="ja-JP" altLang="en-US" dirty="0"/>
                        <a:t>１</a:t>
                      </a:r>
                    </a:p>
                  </a:txBody>
                  <a:tcPr/>
                </a:tc>
                <a:extLst>
                  <a:ext uri="{0D108BD9-81ED-4DB2-BD59-A6C34878D82A}">
                    <a16:rowId xmlns:a16="http://schemas.microsoft.com/office/drawing/2014/main" val="2705892645"/>
                  </a:ext>
                </a:extLst>
              </a:tr>
              <a:tr h="370840">
                <a:tc>
                  <a:txBody>
                    <a:bodyPr/>
                    <a:lstStyle/>
                    <a:p>
                      <a:pPr algn="ctr"/>
                      <a:r>
                        <a:rPr kumimoji="1" lang="ja-JP" altLang="en-US" dirty="0"/>
                        <a:t>７</a:t>
                      </a:r>
                    </a:p>
                  </a:txBody>
                  <a:tcPr/>
                </a:tc>
                <a:tc>
                  <a:txBody>
                    <a:bodyPr/>
                    <a:lstStyle/>
                    <a:p>
                      <a:pPr algn="ctr"/>
                      <a:r>
                        <a:rPr kumimoji="1" lang="ja-JP" altLang="en-US" dirty="0"/>
                        <a:t>１</a:t>
                      </a:r>
                    </a:p>
                  </a:txBody>
                  <a:tcPr/>
                </a:tc>
                <a:extLst>
                  <a:ext uri="{0D108BD9-81ED-4DB2-BD59-A6C34878D82A}">
                    <a16:rowId xmlns:a16="http://schemas.microsoft.com/office/drawing/2014/main" val="3840667284"/>
                  </a:ext>
                </a:extLst>
              </a:tr>
              <a:tr h="370840">
                <a:tc>
                  <a:txBody>
                    <a:bodyPr/>
                    <a:lstStyle/>
                    <a:p>
                      <a:pPr algn="ctr"/>
                      <a:r>
                        <a:rPr kumimoji="1" lang="ja-JP" altLang="en-US" dirty="0"/>
                        <a:t>８</a:t>
                      </a:r>
                    </a:p>
                  </a:txBody>
                  <a:tcPr/>
                </a:tc>
                <a:tc>
                  <a:txBody>
                    <a:bodyPr/>
                    <a:lstStyle/>
                    <a:p>
                      <a:pPr algn="ctr"/>
                      <a:r>
                        <a:rPr kumimoji="1" lang="ja-JP" altLang="en-US" dirty="0"/>
                        <a:t>１</a:t>
                      </a:r>
                    </a:p>
                  </a:txBody>
                  <a:tcPr/>
                </a:tc>
                <a:extLst>
                  <a:ext uri="{0D108BD9-81ED-4DB2-BD59-A6C34878D82A}">
                    <a16:rowId xmlns:a16="http://schemas.microsoft.com/office/drawing/2014/main" val="1832541595"/>
                  </a:ext>
                </a:extLst>
              </a:tr>
              <a:tr h="370840">
                <a:tc>
                  <a:txBody>
                    <a:bodyPr/>
                    <a:lstStyle/>
                    <a:p>
                      <a:pPr algn="ctr"/>
                      <a:r>
                        <a:rPr kumimoji="1" lang="ja-JP" altLang="en-US" dirty="0"/>
                        <a:t>９</a:t>
                      </a:r>
                    </a:p>
                  </a:txBody>
                  <a:tcPr/>
                </a:tc>
                <a:tc>
                  <a:txBody>
                    <a:bodyPr/>
                    <a:lstStyle/>
                    <a:p>
                      <a:pPr algn="ctr"/>
                      <a:r>
                        <a:rPr kumimoji="1" lang="ja-JP" altLang="en-US" dirty="0"/>
                        <a:t>１</a:t>
                      </a:r>
                    </a:p>
                  </a:txBody>
                  <a:tcPr/>
                </a:tc>
                <a:extLst>
                  <a:ext uri="{0D108BD9-81ED-4DB2-BD59-A6C34878D82A}">
                    <a16:rowId xmlns:a16="http://schemas.microsoft.com/office/drawing/2014/main" val="2560907215"/>
                  </a:ext>
                </a:extLst>
              </a:tr>
              <a:tr h="370840">
                <a:tc>
                  <a:txBody>
                    <a:bodyPr/>
                    <a:lstStyle/>
                    <a:p>
                      <a:pPr algn="ctr"/>
                      <a:r>
                        <a:rPr kumimoji="1" lang="ja-JP" altLang="en-US" dirty="0"/>
                        <a:t>１１</a:t>
                      </a:r>
                    </a:p>
                  </a:txBody>
                  <a:tcPr/>
                </a:tc>
                <a:tc>
                  <a:txBody>
                    <a:bodyPr/>
                    <a:lstStyle/>
                    <a:p>
                      <a:pPr algn="ctr"/>
                      <a:r>
                        <a:rPr kumimoji="1" lang="en-US" altLang="ja-JP" dirty="0"/>
                        <a:t>0</a:t>
                      </a:r>
                      <a:endParaRPr kumimoji="1" lang="ja-JP" altLang="en-US" dirty="0"/>
                    </a:p>
                  </a:txBody>
                  <a:tcPr/>
                </a:tc>
                <a:extLst>
                  <a:ext uri="{0D108BD9-81ED-4DB2-BD59-A6C34878D82A}">
                    <a16:rowId xmlns:a16="http://schemas.microsoft.com/office/drawing/2014/main" val="2968008063"/>
                  </a:ext>
                </a:extLst>
              </a:tr>
              <a:tr h="370840">
                <a:tc>
                  <a:txBody>
                    <a:bodyPr/>
                    <a:lstStyle/>
                    <a:p>
                      <a:pPr algn="ctr"/>
                      <a:r>
                        <a:rPr kumimoji="1" lang="ja-JP" altLang="en-US" dirty="0"/>
                        <a:t>１２</a:t>
                      </a:r>
                    </a:p>
                  </a:txBody>
                  <a:tcPr/>
                </a:tc>
                <a:tc>
                  <a:txBody>
                    <a:bodyPr/>
                    <a:lstStyle/>
                    <a:p>
                      <a:pPr algn="ctr"/>
                      <a:r>
                        <a:rPr kumimoji="1" lang="en-US" altLang="ja-JP" dirty="0"/>
                        <a:t>-1</a:t>
                      </a:r>
                      <a:endParaRPr kumimoji="1" lang="ja-JP" altLang="en-US" dirty="0"/>
                    </a:p>
                  </a:txBody>
                  <a:tcPr/>
                </a:tc>
                <a:extLst>
                  <a:ext uri="{0D108BD9-81ED-4DB2-BD59-A6C34878D82A}">
                    <a16:rowId xmlns:a16="http://schemas.microsoft.com/office/drawing/2014/main" val="2309799443"/>
                  </a:ext>
                </a:extLst>
              </a:tr>
            </a:tbl>
          </a:graphicData>
        </a:graphic>
      </p:graphicFrame>
      <p:sp>
        <p:nvSpPr>
          <p:cNvPr id="4" name="スライド番号プレースホルダー 3">
            <a:extLst>
              <a:ext uri="{FF2B5EF4-FFF2-40B4-BE49-F238E27FC236}">
                <a16:creationId xmlns:a16="http://schemas.microsoft.com/office/drawing/2014/main" id="{853B5024-A88E-213E-9605-3D4987A3C4BD}"/>
              </a:ext>
            </a:extLst>
          </p:cNvPr>
          <p:cNvSpPr>
            <a:spLocks noGrp="1"/>
          </p:cNvSpPr>
          <p:nvPr>
            <p:ph type="sldNum" sz="quarter" idx="12"/>
          </p:nvPr>
        </p:nvSpPr>
        <p:spPr/>
        <p:txBody>
          <a:bodyPr/>
          <a:lstStyle/>
          <a:p>
            <a:fld id="{27CE633F-9882-4A5C-83A2-1109D0C73261}" type="slidenum">
              <a:rPr lang="en-US" smtClean="0"/>
              <a:t>13</a:t>
            </a:fld>
            <a:endParaRPr lang="en-US"/>
          </a:p>
        </p:txBody>
      </p:sp>
    </p:spTree>
    <p:extLst>
      <p:ext uri="{BB962C8B-B14F-4D97-AF65-F5344CB8AC3E}">
        <p14:creationId xmlns:p14="http://schemas.microsoft.com/office/powerpoint/2010/main" val="2263359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B247AF-807A-D310-3114-DFCE360D4245}"/>
              </a:ext>
            </a:extLst>
          </p:cNvPr>
          <p:cNvSpPr>
            <a:spLocks noGrp="1"/>
          </p:cNvSpPr>
          <p:nvPr>
            <p:ph type="title"/>
          </p:nvPr>
        </p:nvSpPr>
        <p:spPr/>
        <p:txBody>
          <a:bodyPr/>
          <a:lstStyle/>
          <a:p>
            <a:r>
              <a:rPr kumimoji="1" lang="ja-JP" altLang="en-US" dirty="0"/>
              <a:t>考察</a:t>
            </a:r>
          </a:p>
        </p:txBody>
      </p:sp>
      <p:sp>
        <p:nvSpPr>
          <p:cNvPr id="3" name="コンテンツ プレースホルダー 2">
            <a:extLst>
              <a:ext uri="{FF2B5EF4-FFF2-40B4-BE49-F238E27FC236}">
                <a16:creationId xmlns:a16="http://schemas.microsoft.com/office/drawing/2014/main" id="{DF0C3BC7-2575-90DC-6356-A745A31CFFF9}"/>
              </a:ext>
            </a:extLst>
          </p:cNvPr>
          <p:cNvSpPr>
            <a:spLocks noGrp="1"/>
          </p:cNvSpPr>
          <p:nvPr>
            <p:ph idx="1"/>
          </p:nvPr>
        </p:nvSpPr>
        <p:spPr>
          <a:xfrm>
            <a:off x="838200" y="1392487"/>
            <a:ext cx="10515600" cy="5328987"/>
          </a:xfrm>
        </p:spPr>
        <p:txBody>
          <a:bodyPr/>
          <a:lstStyle/>
          <a:p>
            <a:r>
              <a:rPr kumimoji="1" lang="ja-JP" altLang="en-US" b="1" dirty="0"/>
              <a:t>１文ずつの入力ではトピックが過剰に分析されるなどノイズやクラスタリングミスがあった</a:t>
            </a:r>
            <a:endParaRPr kumimoji="1" lang="en-US" altLang="ja-JP" b="1" dirty="0"/>
          </a:p>
          <a:p>
            <a:pPr marL="0" indent="0">
              <a:buNone/>
            </a:pPr>
            <a:r>
              <a:rPr kumimoji="1" lang="ja-JP" altLang="en-US" dirty="0"/>
              <a:t>→１文それぞれ独立し処理されるため発話の流れは考慮できない</a:t>
            </a:r>
            <a:endParaRPr kumimoji="1" lang="en-US" altLang="ja-JP" dirty="0"/>
          </a:p>
          <a:p>
            <a:pPr marL="0" indent="0">
              <a:buNone/>
            </a:pPr>
            <a:r>
              <a:rPr kumimoji="1" lang="ja-JP" altLang="en-US" dirty="0"/>
              <a:t>→発話順番とトピック振り分けに矛盾が生じた</a:t>
            </a:r>
            <a:endParaRPr kumimoji="1" lang="en-US" altLang="ja-JP" dirty="0"/>
          </a:p>
          <a:p>
            <a:r>
              <a:rPr kumimoji="1" lang="ja-JP" altLang="en-US" b="1" dirty="0"/>
              <a:t>３文チャンクでの入力では高い精度でクラスタリングできたが細かいクラスタリングはできなかった。</a:t>
            </a:r>
            <a:r>
              <a:rPr kumimoji="1" lang="ja-JP" altLang="en-US" dirty="0"/>
              <a:t>大きなくくりでのクラスタリングになった→文章の規模の問題の可能性もある。最小トピックサイズのパラメータを変えることで細かいクラスタリングも可能であるかもしれない</a:t>
            </a:r>
            <a:endParaRPr kumimoji="1" lang="en-US" altLang="ja-JP" dirty="0"/>
          </a:p>
          <a:p>
            <a:pPr marL="0" indent="0">
              <a:buNone/>
            </a:pPr>
            <a:endParaRPr kumimoji="1" lang="ja-JP" altLang="en-US" dirty="0"/>
          </a:p>
        </p:txBody>
      </p:sp>
      <p:sp>
        <p:nvSpPr>
          <p:cNvPr id="4" name="スライド番号プレースホルダー 3">
            <a:extLst>
              <a:ext uri="{FF2B5EF4-FFF2-40B4-BE49-F238E27FC236}">
                <a16:creationId xmlns:a16="http://schemas.microsoft.com/office/drawing/2014/main" id="{0DB9F9AC-DC1A-B9C0-82EE-70FD6AC63FF0}"/>
              </a:ext>
            </a:extLst>
          </p:cNvPr>
          <p:cNvSpPr>
            <a:spLocks noGrp="1"/>
          </p:cNvSpPr>
          <p:nvPr>
            <p:ph type="sldNum" sz="quarter" idx="12"/>
          </p:nvPr>
        </p:nvSpPr>
        <p:spPr/>
        <p:txBody>
          <a:bodyPr/>
          <a:lstStyle/>
          <a:p>
            <a:fld id="{27CE633F-9882-4A5C-83A2-1109D0C73261}" type="slidenum">
              <a:rPr lang="en-US" smtClean="0"/>
              <a:t>14</a:t>
            </a:fld>
            <a:endParaRPr lang="en-US"/>
          </a:p>
        </p:txBody>
      </p:sp>
    </p:spTree>
    <p:extLst>
      <p:ext uri="{BB962C8B-B14F-4D97-AF65-F5344CB8AC3E}">
        <p14:creationId xmlns:p14="http://schemas.microsoft.com/office/powerpoint/2010/main" val="1092064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D7AA83-F474-C49E-344B-D6AD1571BA9E}"/>
              </a:ext>
            </a:extLst>
          </p:cNvPr>
          <p:cNvSpPr>
            <a:spLocks noGrp="1"/>
          </p:cNvSpPr>
          <p:nvPr>
            <p:ph type="title"/>
          </p:nvPr>
        </p:nvSpPr>
        <p:spPr/>
        <p:txBody>
          <a:bodyPr/>
          <a:lstStyle/>
          <a:p>
            <a:r>
              <a:rPr kumimoji="1" lang="ja-JP" altLang="en-US" dirty="0"/>
              <a:t>今週の予定</a:t>
            </a:r>
          </a:p>
        </p:txBody>
      </p:sp>
      <p:sp>
        <p:nvSpPr>
          <p:cNvPr id="3" name="コンテンツ プレースホルダー 2">
            <a:extLst>
              <a:ext uri="{FF2B5EF4-FFF2-40B4-BE49-F238E27FC236}">
                <a16:creationId xmlns:a16="http://schemas.microsoft.com/office/drawing/2014/main" id="{DDC00FB8-D154-720F-49DC-3823BB6AC099}"/>
              </a:ext>
            </a:extLst>
          </p:cNvPr>
          <p:cNvSpPr>
            <a:spLocks noGrp="1"/>
          </p:cNvSpPr>
          <p:nvPr>
            <p:ph idx="1"/>
          </p:nvPr>
        </p:nvSpPr>
        <p:spPr/>
        <p:txBody>
          <a:bodyPr/>
          <a:lstStyle/>
          <a:p>
            <a:r>
              <a:rPr kumimoji="1" lang="ja-JP" altLang="en-US" dirty="0"/>
              <a:t>実験結果を考察しどのような手法をとれば精度があがるか考える。</a:t>
            </a:r>
            <a:endParaRPr kumimoji="1" lang="en-US" altLang="ja-JP" dirty="0"/>
          </a:p>
          <a:p>
            <a:r>
              <a:rPr kumimoji="1" lang="ja-JP" altLang="en-US" dirty="0"/>
              <a:t>他の文章でも試してみる</a:t>
            </a:r>
            <a:endParaRPr kumimoji="1" lang="en-US" altLang="ja-JP" dirty="0"/>
          </a:p>
          <a:p>
            <a:r>
              <a:rPr kumimoji="1" lang="en-US" altLang="ja-JP" dirty="0" err="1"/>
              <a:t>Youtube</a:t>
            </a:r>
            <a:r>
              <a:rPr kumimoji="1" lang="ja-JP" altLang="en-US" dirty="0"/>
              <a:t>音声字幕の誤字修正や「あー」、「うん」などストップワードにすべきものなどの前処理をし，</a:t>
            </a:r>
            <a:r>
              <a:rPr kumimoji="1" lang="en-US" altLang="ja-JP" dirty="0" err="1"/>
              <a:t>Youtube</a:t>
            </a:r>
            <a:r>
              <a:rPr kumimoji="1" lang="ja-JP" altLang="en-US" dirty="0"/>
              <a:t>字幕でのトピック分析も行えるように準備する</a:t>
            </a:r>
            <a:endParaRPr kumimoji="1" lang="en-US" altLang="ja-JP" dirty="0"/>
          </a:p>
          <a:p>
            <a:r>
              <a:rPr kumimoji="1" lang="ja-JP" altLang="en-US" dirty="0"/>
              <a:t>発話テキストからの動画要約、もしくはそれ以外の音声や映像からの動画要約に関する論文の調査</a:t>
            </a:r>
          </a:p>
        </p:txBody>
      </p:sp>
      <p:sp>
        <p:nvSpPr>
          <p:cNvPr id="4" name="スライド番号プレースホルダー 3">
            <a:extLst>
              <a:ext uri="{FF2B5EF4-FFF2-40B4-BE49-F238E27FC236}">
                <a16:creationId xmlns:a16="http://schemas.microsoft.com/office/drawing/2014/main" id="{2BFEB4A8-0CE7-417A-361C-DA4D03A8F255}"/>
              </a:ext>
            </a:extLst>
          </p:cNvPr>
          <p:cNvSpPr>
            <a:spLocks noGrp="1"/>
          </p:cNvSpPr>
          <p:nvPr>
            <p:ph type="sldNum" sz="quarter" idx="12"/>
          </p:nvPr>
        </p:nvSpPr>
        <p:spPr/>
        <p:txBody>
          <a:bodyPr/>
          <a:lstStyle/>
          <a:p>
            <a:fld id="{27CE633F-9882-4A5C-83A2-1109D0C73261}" type="slidenum">
              <a:rPr lang="en-US" smtClean="0"/>
              <a:t>15</a:t>
            </a:fld>
            <a:endParaRPr lang="en-US"/>
          </a:p>
        </p:txBody>
      </p:sp>
    </p:spTree>
    <p:extLst>
      <p:ext uri="{BB962C8B-B14F-4D97-AF65-F5344CB8AC3E}">
        <p14:creationId xmlns:p14="http://schemas.microsoft.com/office/powerpoint/2010/main" val="1788577664"/>
      </p:ext>
    </p:extLst>
  </p:cSld>
  <p:clrMapOvr>
    <a:masterClrMapping/>
  </p:clrMapOvr>
</p:sld>
</file>

<file path=ppt/theme/theme1.xml><?xml version="1.0" encoding="utf-8"?>
<a:theme xmlns:a="http://schemas.openxmlformats.org/drawingml/2006/main" name="GradientVTI">
  <a:themeElements>
    <a:clrScheme name="Office">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Univers">
      <a:majorFont>
        <a:latin typeface="Yu Mincho Demibold"/>
        <a:ea typeface=""/>
        <a:cs typeface=""/>
      </a:majorFont>
      <a:minorFont>
        <a:latin typeface="Yu Minch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VTI" id="{605F9078-86F9-4258-A3E1-F8EFF02AE8CC}" vid="{4848699B-BB01-41E3-9EC4-3D97DFE5292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23252</TotalTime>
  <Words>754</Words>
  <Application>Microsoft Office PowerPoint</Application>
  <PresentationFormat>ワイド画面</PresentationFormat>
  <Paragraphs>118</Paragraphs>
  <Slides>15</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15</vt:i4>
      </vt:variant>
    </vt:vector>
  </HeadingPairs>
  <TitlesOfParts>
    <vt:vector size="21" baseType="lpstr">
      <vt:lpstr>游ゴシック</vt:lpstr>
      <vt:lpstr>Yu Mincho</vt:lpstr>
      <vt:lpstr>Yu Mincho Demibold</vt:lpstr>
      <vt:lpstr>Arial</vt:lpstr>
      <vt:lpstr>Univers</vt:lpstr>
      <vt:lpstr>GradientVTI</vt:lpstr>
      <vt:lpstr>進捗報告</vt:lpstr>
      <vt:lpstr>進捗</vt:lpstr>
      <vt:lpstr>BERTopicの試験目的</vt:lpstr>
      <vt:lpstr>試験内容</vt:lpstr>
      <vt:lpstr>BERTopicの使用したモデル</vt:lpstr>
      <vt:lpstr>用意した対象データ</vt:lpstr>
      <vt:lpstr>用意した対象データ</vt:lpstr>
      <vt:lpstr>実行方法</vt:lpstr>
      <vt:lpstr>試験結果-検出トピック数比較</vt:lpstr>
      <vt:lpstr>実験１- 検出トピック</vt:lpstr>
      <vt:lpstr>実験１- 検出トピック </vt:lpstr>
      <vt:lpstr>実験２- 検出トピック</vt:lpstr>
      <vt:lpstr>実験２- 検出トピック</vt:lpstr>
      <vt:lpstr>考察</vt:lpstr>
      <vt:lpstr>今週の予定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昇汰 三輪</dc:creator>
  <cp:lastModifiedBy>昇汰 三輪</cp:lastModifiedBy>
  <cp:revision>7</cp:revision>
  <dcterms:created xsi:type="dcterms:W3CDTF">2025-05-18T22:20:18Z</dcterms:created>
  <dcterms:modified xsi:type="dcterms:W3CDTF">2025-06-23T03:23:41Z</dcterms:modified>
</cp:coreProperties>
</file>