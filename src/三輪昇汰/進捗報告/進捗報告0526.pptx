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notesMasterIdLst>
    <p:notesMasterId r:id="rId18"/>
  </p:notesMasterIdLst>
  <p:sldIdLst>
    <p:sldId id="256" r:id="rId2"/>
    <p:sldId id="257" r:id="rId3"/>
    <p:sldId id="258" r:id="rId4"/>
    <p:sldId id="259" r:id="rId5"/>
    <p:sldId id="271" r:id="rId6"/>
    <p:sldId id="260" r:id="rId7"/>
    <p:sldId id="263" r:id="rId8"/>
    <p:sldId id="264" r:id="rId9"/>
    <p:sldId id="270" r:id="rId10"/>
    <p:sldId id="265" r:id="rId11"/>
    <p:sldId id="266" r:id="rId12"/>
    <p:sldId id="267" r:id="rId13"/>
    <p:sldId id="261" r:id="rId14"/>
    <p:sldId id="262" r:id="rId15"/>
    <p:sldId id="272" r:id="rId16"/>
    <p:sldId id="273"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snapToGrid="0">
      <p:cViewPr varScale="1">
        <p:scale>
          <a:sx n="85" d="100"/>
          <a:sy n="85" d="100"/>
        </p:scale>
        <p:origin x="36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189518-7BDC-4EF2-BA07-E597FC3F5EA0}" type="datetimeFigureOut">
              <a:rPr kumimoji="1" lang="ja-JP" altLang="en-US" smtClean="0"/>
              <a:t>2025/7/1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8DC819-7384-4D0C-892B-5B4234F1FB04}" type="slidenum">
              <a:rPr kumimoji="1" lang="ja-JP" altLang="en-US" smtClean="0"/>
              <a:t>‹#›</a:t>
            </a:fld>
            <a:endParaRPr kumimoji="1" lang="ja-JP" altLang="en-US"/>
          </a:p>
        </p:txBody>
      </p:sp>
    </p:spTree>
    <p:extLst>
      <p:ext uri="{BB962C8B-B14F-4D97-AF65-F5344CB8AC3E}">
        <p14:creationId xmlns:p14="http://schemas.microsoft.com/office/powerpoint/2010/main" val="271252401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1" dirty="0"/>
              <a:t>Frozen-BLIP</a:t>
            </a:r>
            <a:r>
              <a:rPr lang="ja-JP" altLang="en-US" b="1" dirty="0"/>
              <a:t>：</a:t>
            </a:r>
            <a:r>
              <a:rPr lang="ja-JP" altLang="en-US" dirty="0"/>
              <a:t>画像</a:t>
            </a:r>
            <a:r>
              <a:rPr lang="en-US" altLang="ja-JP" dirty="0"/>
              <a:t>-</a:t>
            </a:r>
            <a:r>
              <a:rPr lang="ja-JP" altLang="en-US" dirty="0"/>
              <a:t>テキスト事前学習モデル </a:t>
            </a:r>
            <a:r>
              <a:rPr lang="en-US" altLang="ja-JP" dirty="0"/>
              <a:t>(BLIP-2)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1" dirty="0"/>
              <a:t>Vid2Seq</a:t>
            </a:r>
            <a:r>
              <a:rPr lang="ja-JP" altLang="en-US" b="1" dirty="0"/>
              <a:t>：</a:t>
            </a:r>
            <a:r>
              <a:rPr lang="ja-JP" altLang="en-US" dirty="0"/>
              <a:t>動画</a:t>
            </a:r>
            <a:r>
              <a:rPr lang="en-US" altLang="ja-JP" dirty="0"/>
              <a:t>-</a:t>
            </a:r>
            <a:r>
              <a:rPr lang="ja-JP" altLang="en-US" dirty="0"/>
              <a:t>テキスト統合モデル</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1" dirty="0"/>
              <a:t>VTSUM-BLIP</a:t>
            </a:r>
            <a:r>
              <a:rPr lang="ja-JP" altLang="en-US" b="1" dirty="0"/>
              <a:t>：</a:t>
            </a:r>
            <a:r>
              <a:rPr lang="en-US" altLang="ja-JP" dirty="0"/>
              <a:t>BLIP-2</a:t>
            </a:r>
            <a:r>
              <a:rPr lang="ja-JP" altLang="en-US" dirty="0"/>
              <a:t>ベースの動画要約モデル</a:t>
            </a:r>
            <a:endParaRPr lang="en-US" altLang="ja-JP"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b="1" dirty="0"/>
          </a:p>
          <a:p>
            <a:endParaRPr kumimoji="1" lang="ja-JP" altLang="en-US" dirty="0"/>
          </a:p>
        </p:txBody>
      </p:sp>
      <p:sp>
        <p:nvSpPr>
          <p:cNvPr id="4" name="スライド番号プレースホルダー 3"/>
          <p:cNvSpPr>
            <a:spLocks noGrp="1"/>
          </p:cNvSpPr>
          <p:nvPr>
            <p:ph type="sldNum" sz="quarter" idx="5"/>
          </p:nvPr>
        </p:nvSpPr>
        <p:spPr/>
        <p:txBody>
          <a:bodyPr/>
          <a:lstStyle/>
          <a:p>
            <a:fld id="{AB8DC819-7384-4D0C-892B-5B4234F1FB04}" type="slidenum">
              <a:rPr kumimoji="1" lang="ja-JP" altLang="en-US" smtClean="0"/>
              <a:t>13</a:t>
            </a:fld>
            <a:endParaRPr kumimoji="1" lang="ja-JP" altLang="en-US"/>
          </a:p>
        </p:txBody>
      </p:sp>
    </p:spTree>
    <p:extLst>
      <p:ext uri="{BB962C8B-B14F-4D97-AF65-F5344CB8AC3E}">
        <p14:creationId xmlns:p14="http://schemas.microsoft.com/office/powerpoint/2010/main" val="2423465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B8DC819-7384-4D0C-892B-5B4234F1FB04}" type="slidenum">
              <a:rPr kumimoji="1" lang="ja-JP" altLang="en-US" smtClean="0"/>
              <a:t>14</a:t>
            </a:fld>
            <a:endParaRPr kumimoji="1" lang="ja-JP" altLang="en-US"/>
          </a:p>
        </p:txBody>
      </p:sp>
    </p:spTree>
    <p:extLst>
      <p:ext uri="{BB962C8B-B14F-4D97-AF65-F5344CB8AC3E}">
        <p14:creationId xmlns:p14="http://schemas.microsoft.com/office/powerpoint/2010/main" val="3966546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0" i="0" cap="none"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EC017EED-94F8-48BD-AD46-42CC091DFCD5}" type="datetime1">
              <a:rPr lang="en-US" altLang="ja-JP" smtClean="0"/>
              <a:t>7/1/2025</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5270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9DAB9055-7364-4701-BD19-5946FD70A601}" type="datetime1">
              <a:rPr lang="en-US" altLang="ja-JP" smtClean="0"/>
              <a:t>7/1/2025</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269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3CA98758-20B1-499B-8141-454EB5136267}" type="datetime1">
              <a:rPr lang="en-US" altLang="ja-JP" smtClean="0"/>
              <a:t>7/1/2025</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443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505F8DC0-3FF3-456F-B845-1F95A740D5BA}" type="datetime1">
              <a:rPr lang="en-US" altLang="ja-JP" smtClean="0"/>
              <a:t>7/1/2025</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302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DBD26BD3-0DB2-4F5D-B55E-23D09E3B9D2C}" type="datetime1">
              <a:rPr lang="en-US" altLang="ja-JP" smtClean="0"/>
              <a:t>7/1/2025</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940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5A6843B8-C56B-4A4D-B246-717FE45E2163}" type="datetime1">
              <a:rPr lang="en-US" altLang="ja-JP" smtClean="0"/>
              <a:t>7/1/2025</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061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41C2B5C4-827B-4A60-8899-EBC8D1207273}" type="datetime1">
              <a:rPr lang="en-US" altLang="ja-JP" smtClean="0"/>
              <a:t>7/1/2025</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332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7368CA27-71E2-4445-B2A7-5B3A6F88CF78}" type="datetime1">
              <a:rPr lang="en-US" altLang="ja-JP" smtClean="0"/>
              <a:t>7/1/2025</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22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28E84A6-53AF-442C-AA27-75F8B8EA139D}" type="datetime1">
              <a:rPr lang="en-US" altLang="ja-JP" smtClean="0"/>
              <a:t>7/1/2025</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93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D1C6A50A-875F-4B78-B835-9A325647FF3E}" type="datetime1">
              <a:rPr lang="en-US" altLang="ja-JP" smtClean="0"/>
              <a:t>7/1/2025</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0535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B3B8D614-06F2-4E43-9C71-B89E30245769}" type="datetime1">
              <a:rPr lang="en-US" altLang="ja-JP" smtClean="0"/>
              <a:t>7/1/2025</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6505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lIns="109728" tIns="109728" rIns="109728" bIns="91440" anchor="ct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lIns="109728" tIns="109728" rIns="109728"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lIns="109728" tIns="109728" rIns="109728" bIns="91440" anchor="ctr"/>
          <a:lstStyle>
            <a:lvl1pPr algn="l">
              <a:defRPr sz="1200" b="0" i="0" cap="all" spc="100" baseline="0">
                <a:solidFill>
                  <a:schemeClr val="tx1">
                    <a:tint val="75000"/>
                  </a:schemeClr>
                </a:solidFill>
              </a:defRPr>
            </a:lvl1pPr>
          </a:lstStyle>
          <a:p>
            <a:fld id="{250198D0-9CF8-4813-A053-00B2EAF8E379}" type="datetime1">
              <a:rPr lang="en-US" altLang="ja-JP" smtClean="0"/>
              <a:t>7/1/2025</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lIns="109728" tIns="109728" rIns="109728" bIns="91440" anchor="ctr"/>
          <a:lstStyle>
            <a:lvl1pPr algn="ctr">
              <a:defRPr sz="1200" b="0" i="0" cap="none"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lIns="109728" tIns="109728" rIns="109728" bIns="9144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3253197263"/>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28" r:id="rId6"/>
    <p:sldLayoutId id="2147483724" r:id="rId7"/>
    <p:sldLayoutId id="2147483725" r:id="rId8"/>
    <p:sldLayoutId id="2147483726" r:id="rId9"/>
    <p:sldLayoutId id="2147483727" r:id="rId10"/>
    <p:sldLayoutId id="2147483729" r:id="rId11"/>
  </p:sldLayoutIdLst>
  <p:hf hdr="0" ftr="0" dt="0"/>
  <p:txStyles>
    <p:titleStyle>
      <a:lvl1pPr algn="l" defTabSz="914400" rtl="0" eaLnBrk="1" latinLnBrk="0" hangingPunct="1">
        <a:lnSpc>
          <a:spcPct val="110000"/>
        </a:lnSpc>
        <a:spcBef>
          <a:spcPct val="0"/>
        </a:spcBef>
        <a:buNone/>
        <a:defRPr sz="4400" kern="1200" spc="16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spc="15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spc="15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spc="15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7278C5-34E8-4293-BE47-73B18483A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4" name="Picture 3">
            <a:extLst>
              <a:ext uri="{FF2B5EF4-FFF2-40B4-BE49-F238E27FC236}">
                <a16:creationId xmlns:a16="http://schemas.microsoft.com/office/drawing/2014/main" id="{D1991C1B-AA14-C6A8-77BE-AF69940D8906}"/>
              </a:ext>
            </a:extLst>
          </p:cNvPr>
          <p:cNvPicPr>
            <a:picLocks noChangeAspect="1"/>
          </p:cNvPicPr>
          <p:nvPr/>
        </p:nvPicPr>
        <p:blipFill>
          <a:blip r:embed="rId2">
            <a:duotone>
              <a:schemeClr val="accent1">
                <a:shade val="45000"/>
                <a:satMod val="135000"/>
              </a:schemeClr>
              <a:prstClr val="white"/>
            </a:duotone>
            <a:alphaModFix amt="35000"/>
          </a:blip>
          <a:srcRect b="15730"/>
          <a:stretch>
            <a:fillRect/>
          </a:stretch>
        </p:blipFill>
        <p:spPr>
          <a:xfrm>
            <a:off x="20" y="-8877"/>
            <a:ext cx="12191980" cy="6858000"/>
          </a:xfrm>
          <a:prstGeom prst="rect">
            <a:avLst/>
          </a:prstGeom>
        </p:spPr>
      </p:pic>
      <p:sp>
        <p:nvSpPr>
          <p:cNvPr id="2" name="タイトル 1">
            <a:extLst>
              <a:ext uri="{FF2B5EF4-FFF2-40B4-BE49-F238E27FC236}">
                <a16:creationId xmlns:a16="http://schemas.microsoft.com/office/drawing/2014/main" id="{0B561EC4-925D-3098-4683-C702208DDA23}"/>
              </a:ext>
            </a:extLst>
          </p:cNvPr>
          <p:cNvSpPr>
            <a:spLocks noGrp="1"/>
          </p:cNvSpPr>
          <p:nvPr>
            <p:ph type="ctrTitle"/>
          </p:nvPr>
        </p:nvSpPr>
        <p:spPr>
          <a:xfrm>
            <a:off x="1256275" y="2271449"/>
            <a:ext cx="9679449" cy="2847058"/>
          </a:xfrm>
        </p:spPr>
        <p:txBody>
          <a:bodyPr anchor="b">
            <a:normAutofit/>
          </a:bodyPr>
          <a:lstStyle/>
          <a:p>
            <a:r>
              <a:rPr kumimoji="1" lang="ja-JP" altLang="en-US" sz="7200">
                <a:solidFill>
                  <a:srgbClr val="FFFFFF"/>
                </a:solidFill>
              </a:rPr>
              <a:t>進捗報告</a:t>
            </a:r>
          </a:p>
        </p:txBody>
      </p:sp>
      <p:sp>
        <p:nvSpPr>
          <p:cNvPr id="3" name="字幕 2">
            <a:extLst>
              <a:ext uri="{FF2B5EF4-FFF2-40B4-BE49-F238E27FC236}">
                <a16:creationId xmlns:a16="http://schemas.microsoft.com/office/drawing/2014/main" id="{192DF71A-4D5A-C01D-C3AD-C999293F80D5}"/>
              </a:ext>
            </a:extLst>
          </p:cNvPr>
          <p:cNvSpPr>
            <a:spLocks noGrp="1"/>
          </p:cNvSpPr>
          <p:nvPr>
            <p:ph type="subTitle" idx="1"/>
          </p:nvPr>
        </p:nvSpPr>
        <p:spPr>
          <a:xfrm>
            <a:off x="1256275" y="5098254"/>
            <a:ext cx="9679449" cy="750259"/>
          </a:xfrm>
        </p:spPr>
        <p:txBody>
          <a:bodyPr anchor="ctr">
            <a:normAutofit/>
          </a:bodyPr>
          <a:lstStyle/>
          <a:p>
            <a:r>
              <a:rPr kumimoji="1" lang="en-US" altLang="ja-JP" dirty="0">
                <a:solidFill>
                  <a:srgbClr val="FFFFFF"/>
                </a:solidFill>
              </a:rPr>
              <a:t>Al21120</a:t>
            </a:r>
            <a:r>
              <a:rPr kumimoji="1" lang="ja-JP" altLang="en-US" dirty="0">
                <a:solidFill>
                  <a:srgbClr val="FFFFFF"/>
                </a:solidFill>
              </a:rPr>
              <a:t>　三輪昇汰　</a:t>
            </a:r>
            <a:r>
              <a:rPr kumimoji="1" lang="en-US" altLang="ja-JP">
                <a:solidFill>
                  <a:srgbClr val="FFFFFF"/>
                </a:solidFill>
              </a:rPr>
              <a:t>2025/05/26</a:t>
            </a:r>
            <a:endParaRPr kumimoji="1" lang="ja-JP" altLang="en-US">
              <a:solidFill>
                <a:srgbClr val="FFFFFF"/>
              </a:solidFill>
            </a:endParaRPr>
          </a:p>
        </p:txBody>
      </p:sp>
      <p:cxnSp>
        <p:nvCxnSpPr>
          <p:cNvPr id="13" name="Straight Connector 12">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5"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54" y="2875093"/>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7"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734" y="31043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9"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414" y="361953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5" name="スライド番号プレースホルダー 4">
            <a:extLst>
              <a:ext uri="{FF2B5EF4-FFF2-40B4-BE49-F238E27FC236}">
                <a16:creationId xmlns:a16="http://schemas.microsoft.com/office/drawing/2014/main" id="{034DA8EA-82B2-3730-9AA6-6984A4F2D2FB}"/>
              </a:ext>
            </a:extLst>
          </p:cNvPr>
          <p:cNvSpPr>
            <a:spLocks noGrp="1"/>
          </p:cNvSpPr>
          <p:nvPr>
            <p:ph type="sldNum" sz="quarter" idx="12"/>
          </p:nvPr>
        </p:nvSpPr>
        <p:spPr/>
        <p:txBody>
          <a:bodyPr/>
          <a:lstStyle/>
          <a:p>
            <a:fld id="{27CE633F-9882-4A5C-83A2-1109D0C73261}" type="slidenum">
              <a:rPr lang="en-US" smtClean="0"/>
              <a:t>1</a:t>
            </a:fld>
            <a:endParaRPr lang="en-US"/>
          </a:p>
        </p:txBody>
      </p:sp>
    </p:spTree>
    <p:extLst>
      <p:ext uri="{BB962C8B-B14F-4D97-AF65-F5344CB8AC3E}">
        <p14:creationId xmlns:p14="http://schemas.microsoft.com/office/powerpoint/2010/main" val="3730098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4B41AD-244C-7DA0-173A-D89F5F6E0CA9}"/>
              </a:ext>
            </a:extLst>
          </p:cNvPr>
          <p:cNvSpPr>
            <a:spLocks noGrp="1"/>
          </p:cNvSpPr>
          <p:nvPr>
            <p:ph type="title"/>
          </p:nvPr>
        </p:nvSpPr>
        <p:spPr/>
        <p:txBody>
          <a:bodyPr/>
          <a:lstStyle/>
          <a:p>
            <a:r>
              <a:rPr kumimoji="1" lang="ja-JP" altLang="en-US" dirty="0"/>
              <a:t>進捗</a:t>
            </a:r>
            <a:r>
              <a:rPr kumimoji="1" lang="en-US" altLang="ja-JP" dirty="0"/>
              <a:t>	</a:t>
            </a:r>
            <a:endParaRPr kumimoji="1" lang="ja-JP" altLang="en-US" dirty="0"/>
          </a:p>
        </p:txBody>
      </p:sp>
      <p:sp>
        <p:nvSpPr>
          <p:cNvPr id="3" name="コンテンツ プレースホルダー 2">
            <a:extLst>
              <a:ext uri="{FF2B5EF4-FFF2-40B4-BE49-F238E27FC236}">
                <a16:creationId xmlns:a16="http://schemas.microsoft.com/office/drawing/2014/main" id="{41374C04-51EA-989A-8387-7AE2EC5DF64E}"/>
              </a:ext>
            </a:extLst>
          </p:cNvPr>
          <p:cNvSpPr>
            <a:spLocks noGrp="1"/>
          </p:cNvSpPr>
          <p:nvPr>
            <p:ph idx="1"/>
          </p:nvPr>
        </p:nvSpPr>
        <p:spPr>
          <a:xfrm>
            <a:off x="838200" y="1837817"/>
            <a:ext cx="10515600" cy="4351338"/>
          </a:xfrm>
        </p:spPr>
        <p:txBody>
          <a:bodyPr/>
          <a:lstStyle/>
          <a:p>
            <a:r>
              <a:rPr kumimoji="1" lang="ja-JP" altLang="en-US" dirty="0"/>
              <a:t>論文調査</a:t>
            </a:r>
            <a:endParaRPr kumimoji="1" lang="en-US" altLang="ja-JP" dirty="0"/>
          </a:p>
          <a:p>
            <a:pPr marL="0" indent="0">
              <a:buNone/>
            </a:pPr>
            <a:r>
              <a:rPr lang="en-US" altLang="ja-JP" dirty="0"/>
              <a:t>Hang Hua</a:t>
            </a:r>
            <a:r>
              <a:rPr lang="ja-JP" altLang="en-US" dirty="0"/>
              <a:t>，“</a:t>
            </a:r>
            <a:r>
              <a:rPr lang="en-US" altLang="ja-JP" dirty="0"/>
              <a:t>V2Xum-LLM: Cross-Modal Video Summarization with Temporal Prompt Instruction Tuning</a:t>
            </a:r>
            <a:r>
              <a:rPr lang="ja-JP" altLang="en-US" dirty="0"/>
              <a:t>”，</a:t>
            </a:r>
            <a:r>
              <a:rPr lang="en-US" altLang="ja-JP" dirty="0"/>
              <a:t>2024</a:t>
            </a:r>
          </a:p>
          <a:p>
            <a:pPr marL="0" indent="0">
              <a:buNone/>
            </a:pPr>
            <a:endParaRPr kumimoji="1" lang="en-US" altLang="ja-JP" dirty="0"/>
          </a:p>
          <a:p>
            <a:pPr marL="0" indent="0">
              <a:buNone/>
            </a:pPr>
            <a:r>
              <a:rPr kumimoji="1" lang="ja-JP" altLang="en-US" dirty="0"/>
              <a:t>・</a:t>
            </a:r>
            <a:r>
              <a:rPr kumimoji="1" lang="en-US" altLang="ja-JP" dirty="0" err="1"/>
              <a:t>Youtube</a:t>
            </a:r>
            <a:r>
              <a:rPr kumimoji="1" lang="ja-JP" altLang="en-US" dirty="0"/>
              <a:t>自動字幕データを目視で話題を分けてみた</a:t>
            </a:r>
          </a:p>
        </p:txBody>
      </p:sp>
      <p:sp>
        <p:nvSpPr>
          <p:cNvPr id="4" name="スライド番号プレースホルダー 3">
            <a:extLst>
              <a:ext uri="{FF2B5EF4-FFF2-40B4-BE49-F238E27FC236}">
                <a16:creationId xmlns:a16="http://schemas.microsoft.com/office/drawing/2014/main" id="{B5139E08-43C9-B69D-79A7-7FA6C64F9774}"/>
              </a:ext>
            </a:extLst>
          </p:cNvPr>
          <p:cNvSpPr>
            <a:spLocks noGrp="1"/>
          </p:cNvSpPr>
          <p:nvPr>
            <p:ph type="sldNum" sz="quarter" idx="12"/>
          </p:nvPr>
        </p:nvSpPr>
        <p:spPr/>
        <p:txBody>
          <a:bodyPr/>
          <a:lstStyle/>
          <a:p>
            <a:fld id="{27CE633F-9882-4A5C-83A2-1109D0C73261}" type="slidenum">
              <a:rPr lang="en-US" smtClean="0"/>
              <a:t>2</a:t>
            </a:fld>
            <a:endParaRPr lang="en-US" dirty="0"/>
          </a:p>
        </p:txBody>
      </p:sp>
    </p:spTree>
    <p:extLst>
      <p:ext uri="{BB962C8B-B14F-4D97-AF65-F5344CB8AC3E}">
        <p14:creationId xmlns:p14="http://schemas.microsoft.com/office/powerpoint/2010/main" val="4193036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CD76B9-1ED7-025D-5AEB-BC4D795E3EBD}"/>
              </a:ext>
            </a:extLst>
          </p:cNvPr>
          <p:cNvSpPr>
            <a:spLocks noGrp="1"/>
          </p:cNvSpPr>
          <p:nvPr>
            <p:ph type="title"/>
          </p:nvPr>
        </p:nvSpPr>
        <p:spPr/>
        <p:txBody>
          <a:bodyPr/>
          <a:lstStyle/>
          <a:p>
            <a:r>
              <a:rPr kumimoji="1" lang="ja-JP" altLang="en-US" dirty="0"/>
              <a:t>研究背景</a:t>
            </a:r>
          </a:p>
        </p:txBody>
      </p:sp>
      <p:sp>
        <p:nvSpPr>
          <p:cNvPr id="3" name="コンテンツ プレースホルダー 2">
            <a:extLst>
              <a:ext uri="{FF2B5EF4-FFF2-40B4-BE49-F238E27FC236}">
                <a16:creationId xmlns:a16="http://schemas.microsoft.com/office/drawing/2014/main" id="{8631F506-8CC9-87F8-75D3-CD4137B98176}"/>
              </a:ext>
            </a:extLst>
          </p:cNvPr>
          <p:cNvSpPr>
            <a:spLocks noGrp="1"/>
          </p:cNvSpPr>
          <p:nvPr>
            <p:ph idx="1"/>
          </p:nvPr>
        </p:nvSpPr>
        <p:spPr/>
        <p:txBody>
          <a:bodyPr/>
          <a:lstStyle/>
          <a:p>
            <a:pPr marL="0" indent="0">
              <a:buNone/>
            </a:pPr>
            <a:r>
              <a:rPr lang="ja-JP" altLang="en-US" dirty="0"/>
              <a:t>　　　ソーシャルメディア上での動画共有が増加</a:t>
            </a:r>
            <a:endParaRPr lang="en-US" altLang="ja-JP" dirty="0"/>
          </a:p>
          <a:p>
            <a:pPr marL="0" indent="0">
              <a:buNone/>
            </a:pPr>
            <a:endParaRPr kumimoji="1" lang="en-US" altLang="ja-JP" dirty="0"/>
          </a:p>
          <a:p>
            <a:pPr marL="0" indent="0">
              <a:buNone/>
            </a:pPr>
            <a:r>
              <a:rPr lang="ja-JP" altLang="en-US" dirty="0"/>
              <a:t>　　従来の動画要約は主に動画から動画への要約が多い</a:t>
            </a:r>
            <a:endParaRPr lang="en-US" altLang="ja-JP" dirty="0"/>
          </a:p>
          <a:p>
            <a:pPr marL="0" indent="0">
              <a:buNone/>
            </a:pPr>
            <a:endParaRPr kumimoji="1" lang="en-US" altLang="ja-JP" dirty="0"/>
          </a:p>
          <a:p>
            <a:pPr marL="0" indent="0">
              <a:buNone/>
            </a:pPr>
            <a:r>
              <a:rPr lang="ja-JP" altLang="en-US" dirty="0"/>
              <a:t>マルチモーダルな要約（</a:t>
            </a:r>
            <a:r>
              <a:rPr lang="en-US" altLang="ja-JP" dirty="0"/>
              <a:t>V2T: </a:t>
            </a:r>
            <a:r>
              <a:rPr lang="ja-JP" altLang="en-US" dirty="0"/>
              <a:t>動画からテキスト、</a:t>
            </a:r>
            <a:r>
              <a:rPr lang="en-US" altLang="ja-JP" dirty="0"/>
              <a:t>V2VT: </a:t>
            </a:r>
            <a:r>
              <a:rPr lang="ja-JP" altLang="en-US" dirty="0"/>
              <a:t>動画とテキストの組み合わせ）の重要性</a:t>
            </a:r>
            <a:r>
              <a:rPr kumimoji="1" lang="ja-JP" altLang="en-US" dirty="0"/>
              <a:t>を指摘</a:t>
            </a:r>
            <a:endParaRPr kumimoji="1" lang="en-US" altLang="ja-JP" dirty="0"/>
          </a:p>
          <a:p>
            <a:pPr marL="0" indent="0">
              <a:buNone/>
            </a:pPr>
            <a:endParaRPr kumimoji="1" lang="ja-JP" altLang="en-US" dirty="0"/>
          </a:p>
        </p:txBody>
      </p:sp>
      <p:sp>
        <p:nvSpPr>
          <p:cNvPr id="4" name="矢印: 下 3">
            <a:extLst>
              <a:ext uri="{FF2B5EF4-FFF2-40B4-BE49-F238E27FC236}">
                <a16:creationId xmlns:a16="http://schemas.microsoft.com/office/drawing/2014/main" id="{05A381F4-5741-4664-CDF6-BABF4494B44C}"/>
              </a:ext>
            </a:extLst>
          </p:cNvPr>
          <p:cNvSpPr/>
          <p:nvPr/>
        </p:nvSpPr>
        <p:spPr>
          <a:xfrm>
            <a:off x="5019675" y="2514600"/>
            <a:ext cx="1257300" cy="3429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矢印: 下 4">
            <a:extLst>
              <a:ext uri="{FF2B5EF4-FFF2-40B4-BE49-F238E27FC236}">
                <a16:creationId xmlns:a16="http://schemas.microsoft.com/office/drawing/2014/main" id="{33FB8A88-8ACF-9583-A656-9478945CA608}"/>
              </a:ext>
            </a:extLst>
          </p:cNvPr>
          <p:cNvSpPr/>
          <p:nvPr/>
        </p:nvSpPr>
        <p:spPr>
          <a:xfrm>
            <a:off x="5019675" y="3743325"/>
            <a:ext cx="1257300" cy="3429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5">
            <a:extLst>
              <a:ext uri="{FF2B5EF4-FFF2-40B4-BE49-F238E27FC236}">
                <a16:creationId xmlns:a16="http://schemas.microsoft.com/office/drawing/2014/main" id="{B8433DE0-62D0-E89F-23B8-39325E264858}"/>
              </a:ext>
            </a:extLst>
          </p:cNvPr>
          <p:cNvSpPr>
            <a:spLocks noGrp="1"/>
          </p:cNvSpPr>
          <p:nvPr>
            <p:ph type="sldNum" sz="quarter" idx="12"/>
          </p:nvPr>
        </p:nvSpPr>
        <p:spPr/>
        <p:txBody>
          <a:bodyPr/>
          <a:lstStyle/>
          <a:p>
            <a:fld id="{27CE633F-9882-4A5C-83A2-1109D0C73261}" type="slidenum">
              <a:rPr lang="en-US" smtClean="0"/>
              <a:t>3</a:t>
            </a:fld>
            <a:endParaRPr lang="en-US"/>
          </a:p>
        </p:txBody>
      </p:sp>
    </p:spTree>
    <p:extLst>
      <p:ext uri="{BB962C8B-B14F-4D97-AF65-F5344CB8AC3E}">
        <p14:creationId xmlns:p14="http://schemas.microsoft.com/office/powerpoint/2010/main" val="2169742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1FB54F-37C9-2154-9683-D8FFC7AB739E}"/>
              </a:ext>
            </a:extLst>
          </p:cNvPr>
          <p:cNvSpPr>
            <a:spLocks noGrp="1"/>
          </p:cNvSpPr>
          <p:nvPr>
            <p:ph type="title"/>
          </p:nvPr>
        </p:nvSpPr>
        <p:spPr/>
        <p:txBody>
          <a:bodyPr/>
          <a:lstStyle/>
          <a:p>
            <a:r>
              <a:rPr kumimoji="1" lang="ja-JP" altLang="en-US" dirty="0"/>
              <a:t>研究目的</a:t>
            </a:r>
          </a:p>
        </p:txBody>
      </p:sp>
      <p:sp>
        <p:nvSpPr>
          <p:cNvPr id="3" name="コンテンツ プレースホルダー 2">
            <a:extLst>
              <a:ext uri="{FF2B5EF4-FFF2-40B4-BE49-F238E27FC236}">
                <a16:creationId xmlns:a16="http://schemas.microsoft.com/office/drawing/2014/main" id="{D7E4F8C2-BDDA-0B0C-8180-D311DD476E7C}"/>
              </a:ext>
            </a:extLst>
          </p:cNvPr>
          <p:cNvSpPr>
            <a:spLocks noGrp="1"/>
          </p:cNvSpPr>
          <p:nvPr>
            <p:ph idx="1"/>
          </p:nvPr>
        </p:nvSpPr>
        <p:spPr/>
        <p:txBody>
          <a:bodyPr/>
          <a:lstStyle/>
          <a:p>
            <a:pPr>
              <a:buFont typeface="+mj-lt"/>
              <a:buAutoNum type="arabicPeriod"/>
            </a:pPr>
            <a:r>
              <a:rPr lang="ja-JP" altLang="en-US" b="1" dirty="0"/>
              <a:t>大規模マルチモーダル動画要約データセット（</a:t>
            </a:r>
            <a:r>
              <a:rPr lang="en-US" altLang="ja-JP" b="1" dirty="0"/>
              <a:t>Instruct-V2Xum</a:t>
            </a:r>
            <a:r>
              <a:rPr lang="ja-JP" altLang="en-US" b="1" dirty="0"/>
              <a:t>）の構築</a:t>
            </a:r>
            <a:r>
              <a:rPr lang="ja-JP" altLang="en-US" dirty="0"/>
              <a:t>：</a:t>
            </a:r>
            <a:r>
              <a:rPr lang="en-US" altLang="ja-JP" dirty="0"/>
              <a:t>30,000</a:t>
            </a:r>
            <a:r>
              <a:rPr lang="ja-JP" altLang="en-US" dirty="0"/>
              <a:t>の多様な動画と対応するテキスト要約を提供し、</a:t>
            </a:r>
            <a:r>
              <a:rPr lang="en-US" altLang="ja-JP" dirty="0"/>
              <a:t>VLM</a:t>
            </a:r>
            <a:r>
              <a:rPr lang="ja-JP" altLang="en-US" dirty="0"/>
              <a:t>の訓練を目的とする。</a:t>
            </a:r>
          </a:p>
          <a:p>
            <a:pPr>
              <a:buFont typeface="+mj-lt"/>
              <a:buAutoNum type="arabicPeriod"/>
            </a:pPr>
            <a:r>
              <a:rPr lang="en-US" altLang="ja-JP" b="1" dirty="0"/>
              <a:t>V2Xum-LLM</a:t>
            </a:r>
            <a:r>
              <a:rPr lang="ja-JP" altLang="en-US" b="1" dirty="0"/>
              <a:t>の提案</a:t>
            </a:r>
            <a:r>
              <a:rPr lang="ja-JP" altLang="en-US" dirty="0"/>
              <a:t>：異なる要約タスク（</a:t>
            </a:r>
            <a:r>
              <a:rPr lang="en-US" altLang="ja-JP" dirty="0"/>
              <a:t>V2V</a:t>
            </a:r>
            <a:r>
              <a:rPr lang="ja-JP" altLang="en-US" dirty="0"/>
              <a:t>（動画→動画）、</a:t>
            </a:r>
            <a:r>
              <a:rPr lang="en-US" altLang="ja-JP" dirty="0"/>
              <a:t>V2T</a:t>
            </a:r>
            <a:r>
              <a:rPr lang="ja-JP" altLang="en-US" dirty="0"/>
              <a:t>（動画→テキスト）、</a:t>
            </a:r>
            <a:r>
              <a:rPr lang="en-US" altLang="ja-JP" dirty="0"/>
              <a:t>V2VT</a:t>
            </a:r>
            <a:r>
              <a:rPr lang="ja-JP" altLang="en-US" dirty="0"/>
              <a:t>（両方）</a:t>
            </a:r>
            <a:r>
              <a:rPr lang="ja-JP" altLang="en-US"/>
              <a:t>）を統合</a:t>
            </a:r>
            <a:endParaRPr lang="en-US" altLang="ja-JP" dirty="0"/>
          </a:p>
          <a:p>
            <a:pPr marL="0" indent="0">
              <a:buNone/>
            </a:pPr>
            <a:endParaRPr kumimoji="1" lang="ja-JP" altLang="en-US" dirty="0"/>
          </a:p>
        </p:txBody>
      </p:sp>
      <p:sp>
        <p:nvSpPr>
          <p:cNvPr id="4" name="スライド番号プレースホルダー 3">
            <a:extLst>
              <a:ext uri="{FF2B5EF4-FFF2-40B4-BE49-F238E27FC236}">
                <a16:creationId xmlns:a16="http://schemas.microsoft.com/office/drawing/2014/main" id="{7DB6B401-CC2B-151D-D940-18538CE734AF}"/>
              </a:ext>
            </a:extLst>
          </p:cNvPr>
          <p:cNvSpPr>
            <a:spLocks noGrp="1"/>
          </p:cNvSpPr>
          <p:nvPr>
            <p:ph type="sldNum" sz="quarter" idx="12"/>
          </p:nvPr>
        </p:nvSpPr>
        <p:spPr/>
        <p:txBody>
          <a:bodyPr/>
          <a:lstStyle/>
          <a:p>
            <a:fld id="{27CE633F-9882-4A5C-83A2-1109D0C73261}" type="slidenum">
              <a:rPr lang="en-US" smtClean="0"/>
              <a:t>4</a:t>
            </a:fld>
            <a:endParaRPr lang="en-US"/>
          </a:p>
        </p:txBody>
      </p:sp>
    </p:spTree>
    <p:extLst>
      <p:ext uri="{BB962C8B-B14F-4D97-AF65-F5344CB8AC3E}">
        <p14:creationId xmlns:p14="http://schemas.microsoft.com/office/powerpoint/2010/main" val="3369383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6EADA1-3E25-8EDF-6E6A-0D588CECAE9A}"/>
              </a:ext>
            </a:extLst>
          </p:cNvPr>
          <p:cNvSpPr>
            <a:spLocks noGrp="1"/>
          </p:cNvSpPr>
          <p:nvPr>
            <p:ph type="title"/>
          </p:nvPr>
        </p:nvSpPr>
        <p:spPr/>
        <p:txBody>
          <a:bodyPr/>
          <a:lstStyle/>
          <a:p>
            <a:r>
              <a:rPr lang="en-US" altLang="ja-JP" b="1" dirty="0"/>
              <a:t>Instruct-V2Xum</a:t>
            </a:r>
            <a:r>
              <a:rPr lang="ja-JP" altLang="en-US" b="1" dirty="0"/>
              <a:t>の構築</a:t>
            </a:r>
            <a:endParaRPr kumimoji="1" lang="ja-JP" altLang="en-US" dirty="0"/>
          </a:p>
        </p:txBody>
      </p:sp>
      <p:sp>
        <p:nvSpPr>
          <p:cNvPr id="3" name="コンテンツ プレースホルダー 2">
            <a:extLst>
              <a:ext uri="{FF2B5EF4-FFF2-40B4-BE49-F238E27FC236}">
                <a16:creationId xmlns:a16="http://schemas.microsoft.com/office/drawing/2014/main" id="{809B9018-A6E5-6DB6-E9A6-F7427D0AED6A}"/>
              </a:ext>
            </a:extLst>
          </p:cNvPr>
          <p:cNvSpPr>
            <a:spLocks noGrp="1"/>
          </p:cNvSpPr>
          <p:nvPr>
            <p:ph idx="1"/>
          </p:nvPr>
        </p:nvSpPr>
        <p:spPr/>
        <p:txBody>
          <a:bodyPr/>
          <a:lstStyle/>
          <a:p>
            <a:r>
              <a:rPr lang="ja-JP" altLang="en-US" b="1" dirty="0"/>
              <a:t>データソース</a:t>
            </a:r>
            <a:r>
              <a:rPr lang="en-US" altLang="ja-JP" dirty="0"/>
              <a:t>: YouTube</a:t>
            </a:r>
            <a:r>
              <a:rPr lang="ja-JP" altLang="en-US" dirty="0"/>
              <a:t>動画（旅行、教育、スポーツなど）</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6FC352AD-5C5D-0ED3-EE70-8DE8F12445CF}"/>
              </a:ext>
            </a:extLst>
          </p:cNvPr>
          <p:cNvSpPr>
            <a:spLocks noGrp="1"/>
          </p:cNvSpPr>
          <p:nvPr>
            <p:ph type="sldNum" sz="quarter" idx="12"/>
          </p:nvPr>
        </p:nvSpPr>
        <p:spPr/>
        <p:txBody>
          <a:bodyPr/>
          <a:lstStyle/>
          <a:p>
            <a:fld id="{27CE633F-9882-4A5C-83A2-1109D0C73261}" type="slidenum">
              <a:rPr lang="en-US" smtClean="0"/>
              <a:t>5</a:t>
            </a:fld>
            <a:endParaRPr lang="en-US"/>
          </a:p>
        </p:txBody>
      </p:sp>
      <p:sp>
        <p:nvSpPr>
          <p:cNvPr id="5" name="正方形/長方形 4">
            <a:extLst>
              <a:ext uri="{FF2B5EF4-FFF2-40B4-BE49-F238E27FC236}">
                <a16:creationId xmlns:a16="http://schemas.microsoft.com/office/drawing/2014/main" id="{85BFE573-7B2A-7208-58BF-7F67876EF839}"/>
              </a:ext>
            </a:extLst>
          </p:cNvPr>
          <p:cNvSpPr/>
          <p:nvPr/>
        </p:nvSpPr>
        <p:spPr>
          <a:xfrm>
            <a:off x="923925" y="3800475"/>
            <a:ext cx="1228725" cy="866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動画</a:t>
            </a:r>
            <a:endParaRPr kumimoji="1" lang="en-US" altLang="ja-JP" dirty="0"/>
          </a:p>
          <a:p>
            <a:pPr algn="ctr"/>
            <a:r>
              <a:rPr kumimoji="1" lang="ja-JP" altLang="en-US" dirty="0"/>
              <a:t>フレーム</a:t>
            </a:r>
          </a:p>
        </p:txBody>
      </p:sp>
      <p:sp>
        <p:nvSpPr>
          <p:cNvPr id="6" name="正方形/長方形 5">
            <a:extLst>
              <a:ext uri="{FF2B5EF4-FFF2-40B4-BE49-F238E27FC236}">
                <a16:creationId xmlns:a16="http://schemas.microsoft.com/office/drawing/2014/main" id="{FD0A59BB-AAB9-97AA-A5EC-6FFD4B049CFE}"/>
              </a:ext>
            </a:extLst>
          </p:cNvPr>
          <p:cNvSpPr/>
          <p:nvPr/>
        </p:nvSpPr>
        <p:spPr>
          <a:xfrm>
            <a:off x="2925365" y="3787775"/>
            <a:ext cx="1657350" cy="962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フレーム</a:t>
            </a:r>
            <a:endParaRPr kumimoji="1" lang="en-US" altLang="ja-JP" dirty="0"/>
          </a:p>
          <a:p>
            <a:pPr algn="ctr"/>
            <a:r>
              <a:rPr lang="ja-JP" altLang="en-US" dirty="0"/>
              <a:t>キャプション生成</a:t>
            </a:r>
            <a:endParaRPr kumimoji="1" lang="ja-JP" altLang="en-US" dirty="0"/>
          </a:p>
        </p:txBody>
      </p:sp>
      <p:sp>
        <p:nvSpPr>
          <p:cNvPr id="8" name="正方形/長方形 7">
            <a:extLst>
              <a:ext uri="{FF2B5EF4-FFF2-40B4-BE49-F238E27FC236}">
                <a16:creationId xmlns:a16="http://schemas.microsoft.com/office/drawing/2014/main" id="{58EB450A-B7AE-023B-F9F1-02BCBEB02FD0}"/>
              </a:ext>
            </a:extLst>
          </p:cNvPr>
          <p:cNvSpPr/>
          <p:nvPr/>
        </p:nvSpPr>
        <p:spPr>
          <a:xfrm>
            <a:off x="5267325" y="3800475"/>
            <a:ext cx="1657350" cy="962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テキスト要約生成</a:t>
            </a:r>
            <a:endParaRPr kumimoji="1" lang="ja-JP" altLang="en-US" dirty="0"/>
          </a:p>
        </p:txBody>
      </p:sp>
      <p:sp>
        <p:nvSpPr>
          <p:cNvPr id="9" name="正方形/長方形 8">
            <a:extLst>
              <a:ext uri="{FF2B5EF4-FFF2-40B4-BE49-F238E27FC236}">
                <a16:creationId xmlns:a16="http://schemas.microsoft.com/office/drawing/2014/main" id="{381D5DD3-F8F2-B341-705A-2CB5701771A7}"/>
              </a:ext>
            </a:extLst>
          </p:cNvPr>
          <p:cNvSpPr/>
          <p:nvPr/>
        </p:nvSpPr>
        <p:spPr>
          <a:xfrm>
            <a:off x="7422356" y="3800475"/>
            <a:ext cx="1657350" cy="962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キーフレーム選択</a:t>
            </a:r>
          </a:p>
        </p:txBody>
      </p:sp>
      <p:sp>
        <p:nvSpPr>
          <p:cNvPr id="10" name="正方形/長方形 9">
            <a:extLst>
              <a:ext uri="{FF2B5EF4-FFF2-40B4-BE49-F238E27FC236}">
                <a16:creationId xmlns:a16="http://schemas.microsoft.com/office/drawing/2014/main" id="{3E4D6AB8-A181-D032-B028-1285FBE3BD7C}"/>
              </a:ext>
            </a:extLst>
          </p:cNvPr>
          <p:cNvSpPr/>
          <p:nvPr/>
        </p:nvSpPr>
        <p:spPr>
          <a:xfrm>
            <a:off x="9696450" y="3787775"/>
            <a:ext cx="1657350" cy="962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品質検証</a:t>
            </a:r>
          </a:p>
        </p:txBody>
      </p:sp>
      <p:sp>
        <p:nvSpPr>
          <p:cNvPr id="11" name="Rectangle 1">
            <a:extLst>
              <a:ext uri="{FF2B5EF4-FFF2-40B4-BE49-F238E27FC236}">
                <a16:creationId xmlns:a16="http://schemas.microsoft.com/office/drawing/2014/main" id="{59B3B257-A469-07BC-65AC-5EE73BC1773E}"/>
              </a:ext>
            </a:extLst>
          </p:cNvPr>
          <p:cNvSpPr>
            <a:spLocks noChangeArrowheads="1"/>
          </p:cNvSpPr>
          <p:nvPr/>
        </p:nvSpPr>
        <p:spPr bwMode="auto">
          <a:xfrm>
            <a:off x="1285874" y="3456007"/>
            <a:ext cx="64770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400" b="0" i="0" u="none" strike="noStrike" cap="none" normalizeH="0" baseline="0" dirty="0">
                <a:ln>
                  <a:noFill/>
                </a:ln>
                <a:solidFill>
                  <a:schemeClr val="tx1"/>
                </a:solidFill>
                <a:effectLst/>
                <a:latin typeface="Arial Unicode MS"/>
              </a:rPr>
              <a:t>1FPS</a:t>
            </a:r>
            <a:r>
              <a:rPr kumimoji="0" lang="ja-JP" altLang="ja-JP" sz="1400" b="0" i="0" u="none" strike="noStrike" cap="none" normalizeH="0" baseline="0" dirty="0">
                <a:ln>
                  <a:noFill/>
                </a:ln>
                <a:solidFill>
                  <a:schemeClr val="tx1"/>
                </a:solidFill>
                <a:effectLst/>
              </a:rPr>
              <a:t> </a:t>
            </a:r>
            <a:endParaRPr kumimoji="0" lang="ja-JP" altLang="ja-JP" sz="14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A0CE578C-6BD9-8B81-1CAC-9548CA446DF3}"/>
              </a:ext>
            </a:extLst>
          </p:cNvPr>
          <p:cNvSpPr>
            <a:spLocks noChangeArrowheads="1"/>
          </p:cNvSpPr>
          <p:nvPr/>
        </p:nvSpPr>
        <p:spPr bwMode="auto">
          <a:xfrm>
            <a:off x="2881312" y="3482588"/>
            <a:ext cx="16573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dirty="0">
                <a:ln>
                  <a:noFill/>
                </a:ln>
                <a:solidFill>
                  <a:schemeClr val="tx1"/>
                </a:solidFill>
                <a:effectLst/>
                <a:latin typeface="Arial Unicode MS"/>
              </a:rPr>
              <a:t>LLaVA-1.5で詳細記述</a:t>
            </a:r>
            <a:r>
              <a:rPr kumimoji="0" lang="ja-JP" altLang="ja-JP" sz="1200" b="0" i="0" u="none" strike="noStrike" cap="none" normalizeH="0" baseline="0" dirty="0">
                <a:ln>
                  <a:noFill/>
                </a:ln>
                <a:solidFill>
                  <a:schemeClr val="tx1"/>
                </a:solidFill>
                <a:effectLst/>
              </a:rPr>
              <a:t> </a:t>
            </a:r>
            <a:endParaRPr kumimoji="0" lang="ja-JP" altLang="ja-JP" sz="1200" b="0" i="0" u="none" strike="noStrike" cap="none" normalizeH="0" baseline="0" dirty="0">
              <a:ln>
                <a:noFill/>
              </a:ln>
              <a:solidFill>
                <a:schemeClr val="tx1"/>
              </a:solidFill>
              <a:effectLst/>
              <a:latin typeface="Arial" panose="020B0604020202020204" pitchFamily="34" charset="0"/>
            </a:endParaRPr>
          </a:p>
        </p:txBody>
      </p:sp>
      <p:sp>
        <p:nvSpPr>
          <p:cNvPr id="13" name="Rectangle 3">
            <a:extLst>
              <a:ext uri="{FF2B5EF4-FFF2-40B4-BE49-F238E27FC236}">
                <a16:creationId xmlns:a16="http://schemas.microsoft.com/office/drawing/2014/main" id="{1EC7F464-F6CD-6F57-9C89-2004655A6BD2}"/>
              </a:ext>
            </a:extLst>
          </p:cNvPr>
          <p:cNvSpPr>
            <a:spLocks noChangeArrowheads="1"/>
          </p:cNvSpPr>
          <p:nvPr/>
        </p:nvSpPr>
        <p:spPr bwMode="auto">
          <a:xfrm>
            <a:off x="4931568" y="3429000"/>
            <a:ext cx="23288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400" b="0" i="0" u="none" strike="noStrike" cap="none" normalizeH="0" baseline="0" dirty="0">
                <a:ln>
                  <a:noFill/>
                </a:ln>
                <a:solidFill>
                  <a:schemeClr val="tx1"/>
                </a:solidFill>
                <a:effectLst/>
                <a:latin typeface="Arial Unicode MS"/>
              </a:rPr>
              <a:t>GPT-4に抽出的要約を指示</a:t>
            </a:r>
            <a:r>
              <a:rPr kumimoji="0" lang="ja-JP" altLang="ja-JP" sz="1400" b="0" i="0" u="none" strike="noStrike" cap="none" normalizeH="0" baseline="0" dirty="0">
                <a:ln>
                  <a:noFill/>
                </a:ln>
                <a:solidFill>
                  <a:schemeClr val="tx1"/>
                </a:solidFill>
                <a:effectLst/>
              </a:rPr>
              <a:t> </a:t>
            </a:r>
            <a:endParaRPr kumimoji="0" lang="ja-JP" altLang="ja-JP" sz="1400" b="0" i="0" u="none" strike="noStrike" cap="none" normalizeH="0" baseline="0" dirty="0">
              <a:ln>
                <a:noFill/>
              </a:ln>
              <a:solidFill>
                <a:schemeClr val="tx1"/>
              </a:solidFill>
              <a:effectLst/>
              <a:latin typeface="Arial" panose="020B0604020202020204" pitchFamily="34" charset="0"/>
            </a:endParaRPr>
          </a:p>
        </p:txBody>
      </p:sp>
      <p:sp>
        <p:nvSpPr>
          <p:cNvPr id="14" name="矢印: 右 13">
            <a:extLst>
              <a:ext uri="{FF2B5EF4-FFF2-40B4-BE49-F238E27FC236}">
                <a16:creationId xmlns:a16="http://schemas.microsoft.com/office/drawing/2014/main" id="{0F7CCDE7-6A0F-1667-9E44-787634B39583}"/>
              </a:ext>
            </a:extLst>
          </p:cNvPr>
          <p:cNvSpPr/>
          <p:nvPr/>
        </p:nvSpPr>
        <p:spPr>
          <a:xfrm>
            <a:off x="2286000" y="4143375"/>
            <a:ext cx="364331" cy="3238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矢印: 右 14">
            <a:extLst>
              <a:ext uri="{FF2B5EF4-FFF2-40B4-BE49-F238E27FC236}">
                <a16:creationId xmlns:a16="http://schemas.microsoft.com/office/drawing/2014/main" id="{82329C3C-189D-774F-4D9C-7456741618F6}"/>
              </a:ext>
            </a:extLst>
          </p:cNvPr>
          <p:cNvSpPr/>
          <p:nvPr/>
        </p:nvSpPr>
        <p:spPr>
          <a:xfrm>
            <a:off x="9146381" y="4133850"/>
            <a:ext cx="364331" cy="3238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矢印: 右 15">
            <a:extLst>
              <a:ext uri="{FF2B5EF4-FFF2-40B4-BE49-F238E27FC236}">
                <a16:creationId xmlns:a16="http://schemas.microsoft.com/office/drawing/2014/main" id="{9FD10796-2093-717A-F7BE-33DA445C8340}"/>
              </a:ext>
            </a:extLst>
          </p:cNvPr>
          <p:cNvSpPr/>
          <p:nvPr/>
        </p:nvSpPr>
        <p:spPr>
          <a:xfrm>
            <a:off x="6991350" y="4133850"/>
            <a:ext cx="364331" cy="3238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矢印: 右 16">
            <a:extLst>
              <a:ext uri="{FF2B5EF4-FFF2-40B4-BE49-F238E27FC236}">
                <a16:creationId xmlns:a16="http://schemas.microsoft.com/office/drawing/2014/main" id="{8437C205-5D5D-BB9D-5A17-50A20679FB05}"/>
              </a:ext>
            </a:extLst>
          </p:cNvPr>
          <p:cNvSpPr/>
          <p:nvPr/>
        </p:nvSpPr>
        <p:spPr>
          <a:xfrm>
            <a:off x="4716065" y="4152900"/>
            <a:ext cx="364331" cy="3238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Rectangle 4">
            <a:extLst>
              <a:ext uri="{FF2B5EF4-FFF2-40B4-BE49-F238E27FC236}">
                <a16:creationId xmlns:a16="http://schemas.microsoft.com/office/drawing/2014/main" id="{89217A02-68D8-FA80-BCB6-51E0BBFF7279}"/>
              </a:ext>
            </a:extLst>
          </p:cNvPr>
          <p:cNvSpPr>
            <a:spLocks noChangeArrowheads="1"/>
          </p:cNvSpPr>
          <p:nvPr/>
        </p:nvSpPr>
        <p:spPr bwMode="auto">
          <a:xfrm>
            <a:off x="5936456" y="5087700"/>
            <a:ext cx="462915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000" b="0" i="0" u="none" strike="noStrike" cap="none" normalizeH="0" baseline="0">
                <a:ln>
                  <a:noFill/>
                </a:ln>
                <a:solidFill>
                  <a:schemeClr val="tx1"/>
                </a:solidFill>
                <a:effectLst/>
                <a:latin typeface="Arial Unicode MS"/>
              </a:rPr>
              <a:t>BERTスコアでフレーム間類似度計算 - 閾値0.93を超える重複フレームを排除</a:t>
            </a:r>
            <a:r>
              <a:rPr kumimoji="0" lang="ja-JP" altLang="ja-JP" sz="800" b="0" i="0" u="none" strike="noStrike" cap="none" normalizeH="0" baseline="0">
                <a:ln>
                  <a:noFill/>
                </a:ln>
                <a:solidFill>
                  <a:schemeClr val="tx1"/>
                </a:solidFill>
                <a:effectLst/>
              </a:rPr>
              <a:t> </a:t>
            </a: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9" name="Rectangle 5">
            <a:extLst>
              <a:ext uri="{FF2B5EF4-FFF2-40B4-BE49-F238E27FC236}">
                <a16:creationId xmlns:a16="http://schemas.microsoft.com/office/drawing/2014/main" id="{3C8363AE-A96B-0B07-FEB1-6C54AF80B8FB}"/>
              </a:ext>
            </a:extLst>
          </p:cNvPr>
          <p:cNvSpPr>
            <a:spLocks noChangeArrowheads="1"/>
          </p:cNvSpPr>
          <p:nvPr/>
        </p:nvSpPr>
        <p:spPr bwMode="auto">
          <a:xfrm>
            <a:off x="9146381" y="3297922"/>
            <a:ext cx="32551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dirty="0">
                <a:ln>
                  <a:noFill/>
                </a:ln>
                <a:solidFill>
                  <a:schemeClr val="tx1"/>
                </a:solidFill>
                <a:effectLst/>
                <a:latin typeface="Arial Unicode MS"/>
              </a:rPr>
              <a:t>CLIPスコアで視覚-テキスト整合性チェック  </a:t>
            </a:r>
            <a:endParaRPr kumimoji="0" lang="en-US" altLang="ja-JP" sz="12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dirty="0">
                <a:ln>
                  <a:noFill/>
                </a:ln>
                <a:solidFill>
                  <a:schemeClr val="tx1"/>
                </a:solidFill>
                <a:effectLst/>
                <a:latin typeface="Arial Unicode MS"/>
              </a:rPr>
              <a:t>GPT-4で文法的妥当性評価</a:t>
            </a:r>
            <a:r>
              <a:rPr kumimoji="0" lang="ja-JP" altLang="ja-JP" sz="1200" b="0" i="0" u="none" strike="noStrike" cap="none" normalizeH="0" baseline="0" dirty="0">
                <a:ln>
                  <a:noFill/>
                </a:ln>
                <a:solidFill>
                  <a:schemeClr val="tx1"/>
                </a:solidFill>
                <a:effectLst/>
              </a:rPr>
              <a:t> </a:t>
            </a:r>
            <a:endParaRPr kumimoji="0" lang="ja-JP" altLang="ja-JP"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34081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AC1D582D-A0E2-701B-430A-C63086D0B1E2}"/>
              </a:ext>
            </a:extLst>
          </p:cNvPr>
          <p:cNvPicPr>
            <a:picLocks noChangeAspect="1"/>
          </p:cNvPicPr>
          <p:nvPr/>
        </p:nvPicPr>
        <p:blipFill>
          <a:blip r:embed="rId2"/>
          <a:stretch>
            <a:fillRect/>
          </a:stretch>
        </p:blipFill>
        <p:spPr>
          <a:xfrm>
            <a:off x="2522929" y="757478"/>
            <a:ext cx="9669071" cy="6100521"/>
          </a:xfrm>
          <a:prstGeom prst="rect">
            <a:avLst/>
          </a:prstGeom>
        </p:spPr>
      </p:pic>
      <p:sp>
        <p:nvSpPr>
          <p:cNvPr id="2" name="タイトル 1">
            <a:extLst>
              <a:ext uri="{FF2B5EF4-FFF2-40B4-BE49-F238E27FC236}">
                <a16:creationId xmlns:a16="http://schemas.microsoft.com/office/drawing/2014/main" id="{DEE1E02A-5ACE-61F0-7BC0-7CE68DF711B7}"/>
              </a:ext>
            </a:extLst>
          </p:cNvPr>
          <p:cNvSpPr>
            <a:spLocks noGrp="1"/>
          </p:cNvSpPr>
          <p:nvPr>
            <p:ph type="title"/>
          </p:nvPr>
        </p:nvSpPr>
        <p:spPr/>
        <p:txBody>
          <a:bodyPr/>
          <a:lstStyle/>
          <a:p>
            <a:r>
              <a:rPr kumimoji="1" lang="ja-JP" altLang="en-US" dirty="0"/>
              <a:t>提案手法</a:t>
            </a:r>
          </a:p>
        </p:txBody>
      </p:sp>
      <p:sp>
        <p:nvSpPr>
          <p:cNvPr id="3" name="コンテンツ プレースホルダー 2">
            <a:extLst>
              <a:ext uri="{FF2B5EF4-FFF2-40B4-BE49-F238E27FC236}">
                <a16:creationId xmlns:a16="http://schemas.microsoft.com/office/drawing/2014/main" id="{4E1D35FB-2F99-4D89-CA53-06831A22C5A1}"/>
              </a:ext>
            </a:extLst>
          </p:cNvPr>
          <p:cNvSpPr>
            <a:spLocks noGrp="1"/>
          </p:cNvSpPr>
          <p:nvPr>
            <p:ph idx="1"/>
          </p:nvPr>
        </p:nvSpPr>
        <p:spPr>
          <a:xfrm>
            <a:off x="838200" y="1825624"/>
            <a:ext cx="10515600" cy="5032375"/>
          </a:xfrm>
        </p:spPr>
        <p:txBody>
          <a:bodyPr/>
          <a:lstStyle/>
          <a:p>
            <a:pPr marL="0" indent="0">
              <a:buNone/>
            </a:pPr>
            <a:endParaRPr kumimoji="1" lang="en-US" altLang="ja-JP" dirty="0"/>
          </a:p>
          <a:p>
            <a:pPr marL="0" indent="0">
              <a:buNone/>
            </a:pPr>
            <a:endParaRPr kumimoji="1" lang="ja-JP" altLang="en-US" dirty="0"/>
          </a:p>
        </p:txBody>
      </p:sp>
      <p:sp>
        <p:nvSpPr>
          <p:cNvPr id="6" name="正方形/長方形 5">
            <a:extLst>
              <a:ext uri="{FF2B5EF4-FFF2-40B4-BE49-F238E27FC236}">
                <a16:creationId xmlns:a16="http://schemas.microsoft.com/office/drawing/2014/main" id="{EEBFB56D-8E94-34A0-7BCF-12107A127C08}"/>
              </a:ext>
            </a:extLst>
          </p:cNvPr>
          <p:cNvSpPr/>
          <p:nvPr/>
        </p:nvSpPr>
        <p:spPr>
          <a:xfrm>
            <a:off x="2952750" y="1190625"/>
            <a:ext cx="1343025" cy="34290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507B1A85-171C-9AB0-C83A-743B8C327473}"/>
              </a:ext>
            </a:extLst>
          </p:cNvPr>
          <p:cNvSpPr txBox="1"/>
          <p:nvPr/>
        </p:nvSpPr>
        <p:spPr>
          <a:xfrm>
            <a:off x="714538" y="1627406"/>
            <a:ext cx="2339102" cy="1815882"/>
          </a:xfrm>
          <a:prstGeom prst="rect">
            <a:avLst/>
          </a:prstGeom>
          <a:noFill/>
        </p:spPr>
        <p:txBody>
          <a:bodyPr wrap="none" rtlCol="0">
            <a:spAutoFit/>
          </a:bodyPr>
          <a:lstStyle/>
          <a:p>
            <a:r>
              <a:rPr lang="ja-JP" altLang="en-US" sz="2800" dirty="0">
                <a:solidFill>
                  <a:srgbClr val="FF0000"/>
                </a:solidFill>
              </a:rPr>
              <a:t>入力動画から</a:t>
            </a:r>
            <a:endParaRPr lang="en-US" altLang="ja-JP" sz="2800" dirty="0">
              <a:solidFill>
                <a:srgbClr val="FF0000"/>
              </a:solidFill>
            </a:endParaRPr>
          </a:p>
          <a:p>
            <a:r>
              <a:rPr lang="en-US" altLang="ja-JP" sz="2800" dirty="0">
                <a:solidFill>
                  <a:srgbClr val="FF0000"/>
                </a:solidFill>
              </a:rPr>
              <a:t>1FPS</a:t>
            </a:r>
            <a:r>
              <a:rPr lang="ja-JP" altLang="en-US" sz="2800" dirty="0">
                <a:solidFill>
                  <a:srgbClr val="FF0000"/>
                </a:solidFill>
              </a:rPr>
              <a:t>で</a:t>
            </a:r>
            <a:endParaRPr lang="en-US" altLang="ja-JP" sz="2800" dirty="0">
              <a:solidFill>
                <a:srgbClr val="FF0000"/>
              </a:solidFill>
            </a:endParaRPr>
          </a:p>
          <a:p>
            <a:r>
              <a:rPr lang="ja-JP" altLang="en-US" sz="2800" dirty="0">
                <a:solidFill>
                  <a:srgbClr val="FF0000"/>
                </a:solidFill>
              </a:rPr>
              <a:t>フレームを</a:t>
            </a:r>
            <a:endParaRPr lang="en-US" altLang="ja-JP" sz="2800" dirty="0">
              <a:solidFill>
                <a:srgbClr val="FF0000"/>
              </a:solidFill>
            </a:endParaRPr>
          </a:p>
          <a:p>
            <a:r>
              <a:rPr lang="ja-JP" altLang="en-US" sz="2800" dirty="0">
                <a:solidFill>
                  <a:srgbClr val="FF0000"/>
                </a:solidFill>
              </a:rPr>
              <a:t>サンプリング</a:t>
            </a:r>
            <a:endParaRPr kumimoji="1" lang="ja-JP" altLang="en-US" sz="2800" dirty="0">
              <a:solidFill>
                <a:srgbClr val="FF0000"/>
              </a:solidFill>
            </a:endParaRPr>
          </a:p>
        </p:txBody>
      </p:sp>
      <p:sp>
        <p:nvSpPr>
          <p:cNvPr id="10" name="スライド番号プレースホルダー 9">
            <a:extLst>
              <a:ext uri="{FF2B5EF4-FFF2-40B4-BE49-F238E27FC236}">
                <a16:creationId xmlns:a16="http://schemas.microsoft.com/office/drawing/2014/main" id="{DFFE1A67-DEE1-095D-F383-0ABAADE3430A}"/>
              </a:ext>
            </a:extLst>
          </p:cNvPr>
          <p:cNvSpPr>
            <a:spLocks noGrp="1"/>
          </p:cNvSpPr>
          <p:nvPr>
            <p:ph type="sldNum" sz="quarter" idx="12"/>
          </p:nvPr>
        </p:nvSpPr>
        <p:spPr/>
        <p:txBody>
          <a:bodyPr/>
          <a:lstStyle/>
          <a:p>
            <a:fld id="{27CE633F-9882-4A5C-83A2-1109D0C73261}" type="slidenum">
              <a:rPr lang="en-US" smtClean="0"/>
              <a:t>6</a:t>
            </a:fld>
            <a:endParaRPr lang="en-US"/>
          </a:p>
        </p:txBody>
      </p:sp>
    </p:spTree>
    <p:extLst>
      <p:ext uri="{BB962C8B-B14F-4D97-AF65-F5344CB8AC3E}">
        <p14:creationId xmlns:p14="http://schemas.microsoft.com/office/powerpoint/2010/main" val="1423168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コンテンツ プレースホルダー 3">
            <a:extLst>
              <a:ext uri="{FF2B5EF4-FFF2-40B4-BE49-F238E27FC236}">
                <a16:creationId xmlns:a16="http://schemas.microsoft.com/office/drawing/2014/main" id="{28F9A785-E920-7628-F230-D3CB7D44559D}"/>
              </a:ext>
            </a:extLst>
          </p:cNvPr>
          <p:cNvPicPr>
            <a:picLocks noGrp="1" noChangeAspect="1"/>
          </p:cNvPicPr>
          <p:nvPr>
            <p:ph idx="1"/>
          </p:nvPr>
        </p:nvPicPr>
        <p:blipFill>
          <a:blip r:embed="rId2"/>
          <a:stretch>
            <a:fillRect/>
          </a:stretch>
        </p:blipFill>
        <p:spPr>
          <a:xfrm>
            <a:off x="2524125" y="758233"/>
            <a:ext cx="9667875" cy="6099767"/>
          </a:xfrm>
          <a:prstGeom prst="rect">
            <a:avLst/>
          </a:prstGeom>
        </p:spPr>
      </p:pic>
      <p:sp>
        <p:nvSpPr>
          <p:cNvPr id="2" name="タイトル 1">
            <a:extLst>
              <a:ext uri="{FF2B5EF4-FFF2-40B4-BE49-F238E27FC236}">
                <a16:creationId xmlns:a16="http://schemas.microsoft.com/office/drawing/2014/main" id="{B33DE00C-F36C-5185-9C39-93AE04009D37}"/>
              </a:ext>
            </a:extLst>
          </p:cNvPr>
          <p:cNvSpPr>
            <a:spLocks noGrp="1"/>
          </p:cNvSpPr>
          <p:nvPr>
            <p:ph type="title"/>
          </p:nvPr>
        </p:nvSpPr>
        <p:spPr/>
        <p:txBody>
          <a:bodyPr/>
          <a:lstStyle/>
          <a:p>
            <a:r>
              <a:rPr kumimoji="1" lang="ja-JP" altLang="en-US" dirty="0"/>
              <a:t>提案手法</a:t>
            </a:r>
          </a:p>
        </p:txBody>
      </p:sp>
      <p:sp>
        <p:nvSpPr>
          <p:cNvPr id="5" name="正方形/長方形 4">
            <a:extLst>
              <a:ext uri="{FF2B5EF4-FFF2-40B4-BE49-F238E27FC236}">
                <a16:creationId xmlns:a16="http://schemas.microsoft.com/office/drawing/2014/main" id="{122FC775-AA3B-A07B-1DD1-3F06A4A4DD12}"/>
              </a:ext>
            </a:extLst>
          </p:cNvPr>
          <p:cNvSpPr/>
          <p:nvPr/>
        </p:nvSpPr>
        <p:spPr>
          <a:xfrm>
            <a:off x="4191000" y="1190625"/>
            <a:ext cx="1390650" cy="19621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5">
            <a:extLst>
              <a:ext uri="{FF2B5EF4-FFF2-40B4-BE49-F238E27FC236}">
                <a16:creationId xmlns:a16="http://schemas.microsoft.com/office/drawing/2014/main" id="{4C92FE58-7CD8-7995-FC68-F20CA47F4976}"/>
              </a:ext>
            </a:extLst>
          </p:cNvPr>
          <p:cNvSpPr>
            <a:spLocks noGrp="1"/>
          </p:cNvSpPr>
          <p:nvPr>
            <p:ph type="sldNum" sz="quarter" idx="12"/>
          </p:nvPr>
        </p:nvSpPr>
        <p:spPr/>
        <p:txBody>
          <a:bodyPr/>
          <a:lstStyle/>
          <a:p>
            <a:fld id="{27CE633F-9882-4A5C-83A2-1109D0C73261}" type="slidenum">
              <a:rPr lang="en-US" smtClean="0"/>
              <a:t>7</a:t>
            </a:fld>
            <a:endParaRPr lang="en-US"/>
          </a:p>
        </p:txBody>
      </p:sp>
      <p:sp>
        <p:nvSpPr>
          <p:cNvPr id="8" name="テキスト ボックス 7">
            <a:extLst>
              <a:ext uri="{FF2B5EF4-FFF2-40B4-BE49-F238E27FC236}">
                <a16:creationId xmlns:a16="http://schemas.microsoft.com/office/drawing/2014/main" id="{943A5BFB-A360-2321-3EA9-477E6D5DD58E}"/>
              </a:ext>
            </a:extLst>
          </p:cNvPr>
          <p:cNvSpPr txBox="1"/>
          <p:nvPr/>
        </p:nvSpPr>
        <p:spPr>
          <a:xfrm>
            <a:off x="3533775" y="136525"/>
            <a:ext cx="6096000" cy="923330"/>
          </a:xfrm>
          <a:prstGeom prst="rect">
            <a:avLst/>
          </a:prstGeom>
          <a:noFill/>
        </p:spPr>
        <p:txBody>
          <a:bodyPr wrap="square">
            <a:spAutoFit/>
          </a:bodyPr>
          <a:lstStyle/>
          <a:p>
            <a:r>
              <a:rPr lang="ja-JP" altLang="en-US" dirty="0">
                <a:solidFill>
                  <a:srgbClr val="FF0000"/>
                </a:solidFill>
              </a:rPr>
              <a:t>画像を</a:t>
            </a:r>
            <a:r>
              <a:rPr lang="en-US" altLang="ja-JP" dirty="0">
                <a:solidFill>
                  <a:srgbClr val="FF0000"/>
                </a:solidFill>
              </a:rPr>
              <a:t>14×14</a:t>
            </a:r>
            <a:r>
              <a:rPr lang="ja-JP" altLang="en-US" dirty="0">
                <a:solidFill>
                  <a:srgbClr val="FF0000"/>
                </a:solidFill>
              </a:rPr>
              <a:t>のグリッドに分割</a:t>
            </a:r>
            <a:endParaRPr lang="en-US" altLang="ja-JP" dirty="0">
              <a:solidFill>
                <a:srgbClr val="FF0000"/>
              </a:solidFill>
            </a:endParaRPr>
          </a:p>
          <a:p>
            <a:r>
              <a:rPr lang="ja-JP" altLang="en-US" dirty="0">
                <a:solidFill>
                  <a:srgbClr val="FF0000"/>
                </a:solidFill>
              </a:rPr>
              <a:t>各パッチを</a:t>
            </a:r>
            <a:r>
              <a:rPr lang="en-US" altLang="ja-JP" dirty="0">
                <a:solidFill>
                  <a:srgbClr val="FF0000"/>
                </a:solidFill>
              </a:rPr>
              <a:t>768</a:t>
            </a:r>
            <a:r>
              <a:rPr lang="ja-JP" altLang="en-US" dirty="0">
                <a:solidFill>
                  <a:srgbClr val="FF0000"/>
                </a:solidFill>
              </a:rPr>
              <a:t>次元ベクトルに投影</a:t>
            </a:r>
            <a:endParaRPr lang="en-US" altLang="ja-JP" dirty="0">
              <a:solidFill>
                <a:srgbClr val="FF0000"/>
              </a:solidFill>
            </a:endParaRPr>
          </a:p>
          <a:p>
            <a:r>
              <a:rPr lang="en-US" altLang="ja-JP" dirty="0">
                <a:solidFill>
                  <a:srgbClr val="FF0000"/>
                </a:solidFill>
              </a:rPr>
              <a:t>24</a:t>
            </a:r>
            <a:r>
              <a:rPr lang="ja-JP" altLang="en-US" dirty="0">
                <a:solidFill>
                  <a:srgbClr val="FF0000"/>
                </a:solidFill>
              </a:rPr>
              <a:t>層の</a:t>
            </a:r>
            <a:r>
              <a:rPr lang="en-US" altLang="ja-JP" dirty="0">
                <a:solidFill>
                  <a:srgbClr val="FF0000"/>
                </a:solidFill>
              </a:rPr>
              <a:t>Vision Transformer</a:t>
            </a:r>
            <a:r>
              <a:rPr lang="ja-JP" altLang="en-US" dirty="0">
                <a:solidFill>
                  <a:srgbClr val="FF0000"/>
                </a:solidFill>
              </a:rPr>
              <a:t>で特徴抽出</a:t>
            </a:r>
          </a:p>
        </p:txBody>
      </p:sp>
    </p:spTree>
    <p:extLst>
      <p:ext uri="{BB962C8B-B14F-4D97-AF65-F5344CB8AC3E}">
        <p14:creationId xmlns:p14="http://schemas.microsoft.com/office/powerpoint/2010/main" val="1923764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5DEA4-6BE2-53F2-2D17-54D68E515BCC}"/>
            </a:ext>
          </a:extLst>
        </p:cNvPr>
        <p:cNvGrpSpPr/>
        <p:nvPr/>
      </p:nvGrpSpPr>
      <p:grpSpPr>
        <a:xfrm>
          <a:off x="0" y="0"/>
          <a:ext cx="0" cy="0"/>
          <a:chOff x="0" y="0"/>
          <a:chExt cx="0" cy="0"/>
        </a:xfrm>
      </p:grpSpPr>
      <p:pic>
        <p:nvPicPr>
          <p:cNvPr id="4" name="コンテンツ プレースホルダー 3">
            <a:extLst>
              <a:ext uri="{FF2B5EF4-FFF2-40B4-BE49-F238E27FC236}">
                <a16:creationId xmlns:a16="http://schemas.microsoft.com/office/drawing/2014/main" id="{FAD4B5B6-68A3-A64F-9F28-0EEDB5ECD360}"/>
              </a:ext>
            </a:extLst>
          </p:cNvPr>
          <p:cNvPicPr>
            <a:picLocks noGrp="1" noChangeAspect="1"/>
          </p:cNvPicPr>
          <p:nvPr>
            <p:ph idx="1"/>
          </p:nvPr>
        </p:nvPicPr>
        <p:blipFill>
          <a:blip r:embed="rId2"/>
          <a:stretch>
            <a:fillRect/>
          </a:stretch>
        </p:blipFill>
        <p:spPr>
          <a:xfrm>
            <a:off x="2524125" y="758233"/>
            <a:ext cx="9667875" cy="6099767"/>
          </a:xfrm>
          <a:prstGeom prst="rect">
            <a:avLst/>
          </a:prstGeom>
        </p:spPr>
      </p:pic>
      <p:sp>
        <p:nvSpPr>
          <p:cNvPr id="2" name="タイトル 1">
            <a:extLst>
              <a:ext uri="{FF2B5EF4-FFF2-40B4-BE49-F238E27FC236}">
                <a16:creationId xmlns:a16="http://schemas.microsoft.com/office/drawing/2014/main" id="{76462E57-F4FA-FD1B-8A58-6AB6602709AA}"/>
              </a:ext>
            </a:extLst>
          </p:cNvPr>
          <p:cNvSpPr>
            <a:spLocks noGrp="1"/>
          </p:cNvSpPr>
          <p:nvPr>
            <p:ph type="title"/>
          </p:nvPr>
        </p:nvSpPr>
        <p:spPr/>
        <p:txBody>
          <a:bodyPr/>
          <a:lstStyle/>
          <a:p>
            <a:r>
              <a:rPr kumimoji="1" lang="ja-JP" altLang="en-US" dirty="0"/>
              <a:t>提案手法</a:t>
            </a:r>
          </a:p>
        </p:txBody>
      </p:sp>
      <p:sp>
        <p:nvSpPr>
          <p:cNvPr id="3" name="スライド番号プレースホルダー 2">
            <a:extLst>
              <a:ext uri="{FF2B5EF4-FFF2-40B4-BE49-F238E27FC236}">
                <a16:creationId xmlns:a16="http://schemas.microsoft.com/office/drawing/2014/main" id="{5EDF0387-D162-A348-248C-2FD1C8F39812}"/>
              </a:ext>
            </a:extLst>
          </p:cNvPr>
          <p:cNvSpPr>
            <a:spLocks noGrp="1"/>
          </p:cNvSpPr>
          <p:nvPr>
            <p:ph type="sldNum" sz="quarter" idx="12"/>
          </p:nvPr>
        </p:nvSpPr>
        <p:spPr/>
        <p:txBody>
          <a:bodyPr/>
          <a:lstStyle/>
          <a:p>
            <a:fld id="{27CE633F-9882-4A5C-83A2-1109D0C73261}" type="slidenum">
              <a:rPr lang="en-US" smtClean="0"/>
              <a:t>8</a:t>
            </a:fld>
            <a:endParaRPr lang="en-US"/>
          </a:p>
        </p:txBody>
      </p:sp>
      <p:sp>
        <p:nvSpPr>
          <p:cNvPr id="5" name="正方形/長方形 4">
            <a:extLst>
              <a:ext uri="{FF2B5EF4-FFF2-40B4-BE49-F238E27FC236}">
                <a16:creationId xmlns:a16="http://schemas.microsoft.com/office/drawing/2014/main" id="{EBFE7522-8FD3-C7AA-EF81-532949CB5EF3}"/>
              </a:ext>
            </a:extLst>
          </p:cNvPr>
          <p:cNvSpPr/>
          <p:nvPr/>
        </p:nvSpPr>
        <p:spPr>
          <a:xfrm>
            <a:off x="5162550" y="1257300"/>
            <a:ext cx="1390650" cy="19621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A66DF599-808B-DEEB-2F43-1A01555D2984}"/>
              </a:ext>
            </a:extLst>
          </p:cNvPr>
          <p:cNvSpPr txBox="1"/>
          <p:nvPr/>
        </p:nvSpPr>
        <p:spPr>
          <a:xfrm>
            <a:off x="4448175" y="474444"/>
            <a:ext cx="6096000" cy="646331"/>
          </a:xfrm>
          <a:prstGeom prst="rect">
            <a:avLst/>
          </a:prstGeom>
          <a:noFill/>
        </p:spPr>
        <p:txBody>
          <a:bodyPr wrap="square">
            <a:spAutoFit/>
          </a:bodyPr>
          <a:lstStyle/>
          <a:p>
            <a:r>
              <a:rPr lang="en-US" altLang="ja-JP" dirty="0">
                <a:solidFill>
                  <a:srgbClr val="FF0000"/>
                </a:solidFill>
              </a:rPr>
              <a:t>LLM</a:t>
            </a:r>
            <a:r>
              <a:rPr lang="ja-JP" altLang="en-US" dirty="0">
                <a:solidFill>
                  <a:srgbClr val="FF0000"/>
                </a:solidFill>
              </a:rPr>
              <a:t>の入力空間に適合させる</a:t>
            </a:r>
            <a:endParaRPr lang="en-US" altLang="ja-JP" dirty="0">
              <a:solidFill>
                <a:srgbClr val="FF0000"/>
              </a:solidFill>
            </a:endParaRPr>
          </a:p>
          <a:p>
            <a:r>
              <a:rPr lang="en-US" altLang="ja-JP" dirty="0">
                <a:solidFill>
                  <a:srgbClr val="FF0000"/>
                </a:solidFill>
              </a:rPr>
              <a:t>768</a:t>
            </a:r>
            <a:r>
              <a:rPr lang="ja-JP" altLang="en-US" dirty="0">
                <a:solidFill>
                  <a:srgbClr val="FF0000"/>
                </a:solidFill>
              </a:rPr>
              <a:t>次元 → </a:t>
            </a:r>
            <a:r>
              <a:rPr lang="en-US" altLang="ja-JP" dirty="0" err="1">
                <a:solidFill>
                  <a:srgbClr val="FF0000"/>
                </a:solidFill>
              </a:rPr>
              <a:t>LLaMA</a:t>
            </a:r>
            <a:r>
              <a:rPr lang="ja-JP" altLang="en-US" dirty="0">
                <a:solidFill>
                  <a:srgbClr val="FF0000"/>
                </a:solidFill>
              </a:rPr>
              <a:t>の</a:t>
            </a:r>
            <a:r>
              <a:rPr lang="en-US" altLang="ja-JP" dirty="0">
                <a:solidFill>
                  <a:srgbClr val="FF0000"/>
                </a:solidFill>
              </a:rPr>
              <a:t>4096</a:t>
            </a:r>
            <a:r>
              <a:rPr lang="ja-JP" altLang="en-US" dirty="0">
                <a:solidFill>
                  <a:srgbClr val="FF0000"/>
                </a:solidFill>
              </a:rPr>
              <a:t>次元に線形投影</a:t>
            </a:r>
          </a:p>
        </p:txBody>
      </p:sp>
    </p:spTree>
    <p:extLst>
      <p:ext uri="{BB962C8B-B14F-4D97-AF65-F5344CB8AC3E}">
        <p14:creationId xmlns:p14="http://schemas.microsoft.com/office/powerpoint/2010/main" val="4019613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FA9BF-C6F3-2851-AFE3-BA6C87F7E0E5}"/>
            </a:ext>
          </a:extLst>
        </p:cNvPr>
        <p:cNvGrpSpPr/>
        <p:nvPr/>
      </p:nvGrpSpPr>
      <p:grpSpPr>
        <a:xfrm>
          <a:off x="0" y="0"/>
          <a:ext cx="0" cy="0"/>
          <a:chOff x="0" y="0"/>
          <a:chExt cx="0" cy="0"/>
        </a:xfrm>
      </p:grpSpPr>
      <p:pic>
        <p:nvPicPr>
          <p:cNvPr id="4" name="コンテンツ プレースホルダー 3">
            <a:extLst>
              <a:ext uri="{FF2B5EF4-FFF2-40B4-BE49-F238E27FC236}">
                <a16:creationId xmlns:a16="http://schemas.microsoft.com/office/drawing/2014/main" id="{DDF79537-4CBD-E73E-258D-B796A6B63E13}"/>
              </a:ext>
            </a:extLst>
          </p:cNvPr>
          <p:cNvPicPr>
            <a:picLocks noGrp="1" noChangeAspect="1"/>
          </p:cNvPicPr>
          <p:nvPr>
            <p:ph idx="1"/>
          </p:nvPr>
        </p:nvPicPr>
        <p:blipFill>
          <a:blip r:embed="rId2"/>
          <a:stretch>
            <a:fillRect/>
          </a:stretch>
        </p:blipFill>
        <p:spPr>
          <a:xfrm>
            <a:off x="2524125" y="758233"/>
            <a:ext cx="9667875" cy="6099767"/>
          </a:xfrm>
          <a:prstGeom prst="rect">
            <a:avLst/>
          </a:prstGeom>
        </p:spPr>
      </p:pic>
      <p:sp>
        <p:nvSpPr>
          <p:cNvPr id="2" name="タイトル 1">
            <a:extLst>
              <a:ext uri="{FF2B5EF4-FFF2-40B4-BE49-F238E27FC236}">
                <a16:creationId xmlns:a16="http://schemas.microsoft.com/office/drawing/2014/main" id="{E328ECC2-6697-1407-F37F-52964BF0C806}"/>
              </a:ext>
            </a:extLst>
          </p:cNvPr>
          <p:cNvSpPr>
            <a:spLocks noGrp="1"/>
          </p:cNvSpPr>
          <p:nvPr>
            <p:ph type="title"/>
          </p:nvPr>
        </p:nvSpPr>
        <p:spPr/>
        <p:txBody>
          <a:bodyPr/>
          <a:lstStyle/>
          <a:p>
            <a:r>
              <a:rPr kumimoji="1" lang="ja-JP" altLang="en-US" dirty="0"/>
              <a:t>提案手法</a:t>
            </a:r>
          </a:p>
        </p:txBody>
      </p:sp>
      <p:sp>
        <p:nvSpPr>
          <p:cNvPr id="3" name="スライド番号プレースホルダー 2">
            <a:extLst>
              <a:ext uri="{FF2B5EF4-FFF2-40B4-BE49-F238E27FC236}">
                <a16:creationId xmlns:a16="http://schemas.microsoft.com/office/drawing/2014/main" id="{1D48AE77-FECD-BA8F-DB3D-CC8F1BBBDEE4}"/>
              </a:ext>
            </a:extLst>
          </p:cNvPr>
          <p:cNvSpPr>
            <a:spLocks noGrp="1"/>
          </p:cNvSpPr>
          <p:nvPr>
            <p:ph type="sldNum" sz="quarter" idx="12"/>
          </p:nvPr>
        </p:nvSpPr>
        <p:spPr/>
        <p:txBody>
          <a:bodyPr/>
          <a:lstStyle/>
          <a:p>
            <a:fld id="{27CE633F-9882-4A5C-83A2-1109D0C73261}" type="slidenum">
              <a:rPr lang="en-US" smtClean="0"/>
              <a:t>9</a:t>
            </a:fld>
            <a:endParaRPr lang="en-US"/>
          </a:p>
        </p:txBody>
      </p:sp>
      <p:sp>
        <p:nvSpPr>
          <p:cNvPr id="5" name="正方形/長方形 4">
            <a:extLst>
              <a:ext uri="{FF2B5EF4-FFF2-40B4-BE49-F238E27FC236}">
                <a16:creationId xmlns:a16="http://schemas.microsoft.com/office/drawing/2014/main" id="{63433244-7827-115E-0B81-EE8AE86781E9}"/>
              </a:ext>
            </a:extLst>
          </p:cNvPr>
          <p:cNvSpPr/>
          <p:nvPr/>
        </p:nvSpPr>
        <p:spPr>
          <a:xfrm>
            <a:off x="6181725" y="1331119"/>
            <a:ext cx="1057275" cy="181213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7850AB9C-8B7F-6788-4291-A0515DA0C9F2}"/>
              </a:ext>
            </a:extLst>
          </p:cNvPr>
          <p:cNvSpPr txBox="1"/>
          <p:nvPr/>
        </p:nvSpPr>
        <p:spPr>
          <a:xfrm>
            <a:off x="6096000" y="949899"/>
            <a:ext cx="6096000" cy="369332"/>
          </a:xfrm>
          <a:prstGeom prst="rect">
            <a:avLst/>
          </a:prstGeom>
          <a:noFill/>
        </p:spPr>
        <p:txBody>
          <a:bodyPr wrap="square">
            <a:spAutoFit/>
          </a:bodyPr>
          <a:lstStyle/>
          <a:p>
            <a:r>
              <a:rPr lang="en-US" altLang="ja-JP" dirty="0" err="1">
                <a:solidFill>
                  <a:srgbClr val="FF0000"/>
                </a:solidFill>
              </a:rPr>
              <a:t>LLaMA</a:t>
            </a:r>
            <a:r>
              <a:rPr lang="ja-JP" altLang="en-US" dirty="0">
                <a:solidFill>
                  <a:srgbClr val="FF0000"/>
                </a:solidFill>
              </a:rPr>
              <a:t>へ入力</a:t>
            </a:r>
            <a:endParaRPr lang="en-US" altLang="ja-JP" dirty="0">
              <a:solidFill>
                <a:srgbClr val="FF0000"/>
              </a:solidFill>
            </a:endParaRPr>
          </a:p>
        </p:txBody>
      </p:sp>
    </p:spTree>
    <p:extLst>
      <p:ext uri="{BB962C8B-B14F-4D97-AF65-F5344CB8AC3E}">
        <p14:creationId xmlns:p14="http://schemas.microsoft.com/office/powerpoint/2010/main" val="4289650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4A54B-7AC0-D5DD-6B17-73C72A4E574E}"/>
            </a:ext>
          </a:extLst>
        </p:cNvPr>
        <p:cNvGrpSpPr/>
        <p:nvPr/>
      </p:nvGrpSpPr>
      <p:grpSpPr>
        <a:xfrm>
          <a:off x="0" y="0"/>
          <a:ext cx="0" cy="0"/>
          <a:chOff x="0" y="0"/>
          <a:chExt cx="0" cy="0"/>
        </a:xfrm>
      </p:grpSpPr>
      <p:pic>
        <p:nvPicPr>
          <p:cNvPr id="4" name="コンテンツ プレースホルダー 3">
            <a:extLst>
              <a:ext uri="{FF2B5EF4-FFF2-40B4-BE49-F238E27FC236}">
                <a16:creationId xmlns:a16="http://schemas.microsoft.com/office/drawing/2014/main" id="{4B079ABD-0CC0-B1D8-9F60-F70A3BA9E898}"/>
              </a:ext>
            </a:extLst>
          </p:cNvPr>
          <p:cNvPicPr>
            <a:picLocks noGrp="1" noChangeAspect="1"/>
          </p:cNvPicPr>
          <p:nvPr>
            <p:ph idx="1"/>
          </p:nvPr>
        </p:nvPicPr>
        <p:blipFill>
          <a:blip r:embed="rId2"/>
          <a:stretch>
            <a:fillRect/>
          </a:stretch>
        </p:blipFill>
        <p:spPr>
          <a:xfrm>
            <a:off x="2524125" y="758233"/>
            <a:ext cx="9667875" cy="6099767"/>
          </a:xfrm>
          <a:prstGeom prst="rect">
            <a:avLst/>
          </a:prstGeom>
        </p:spPr>
      </p:pic>
      <p:sp>
        <p:nvSpPr>
          <p:cNvPr id="2" name="タイトル 1">
            <a:extLst>
              <a:ext uri="{FF2B5EF4-FFF2-40B4-BE49-F238E27FC236}">
                <a16:creationId xmlns:a16="http://schemas.microsoft.com/office/drawing/2014/main" id="{1CBA2D55-60E8-4D8D-4D8F-AEC6307337E6}"/>
              </a:ext>
            </a:extLst>
          </p:cNvPr>
          <p:cNvSpPr>
            <a:spLocks noGrp="1"/>
          </p:cNvSpPr>
          <p:nvPr>
            <p:ph type="title"/>
          </p:nvPr>
        </p:nvSpPr>
        <p:spPr/>
        <p:txBody>
          <a:bodyPr/>
          <a:lstStyle/>
          <a:p>
            <a:r>
              <a:rPr kumimoji="1" lang="ja-JP" altLang="en-US" dirty="0"/>
              <a:t>提案手法</a:t>
            </a:r>
          </a:p>
        </p:txBody>
      </p:sp>
      <p:sp>
        <p:nvSpPr>
          <p:cNvPr id="3" name="スライド番号プレースホルダー 2">
            <a:extLst>
              <a:ext uri="{FF2B5EF4-FFF2-40B4-BE49-F238E27FC236}">
                <a16:creationId xmlns:a16="http://schemas.microsoft.com/office/drawing/2014/main" id="{64153A49-E4EE-F224-8A6C-672EFA4BDE21}"/>
              </a:ext>
            </a:extLst>
          </p:cNvPr>
          <p:cNvSpPr>
            <a:spLocks noGrp="1"/>
          </p:cNvSpPr>
          <p:nvPr>
            <p:ph type="sldNum" sz="quarter" idx="12"/>
          </p:nvPr>
        </p:nvSpPr>
        <p:spPr/>
        <p:txBody>
          <a:bodyPr/>
          <a:lstStyle/>
          <a:p>
            <a:fld id="{27CE633F-9882-4A5C-83A2-1109D0C73261}" type="slidenum">
              <a:rPr lang="en-US" smtClean="0"/>
              <a:t>10</a:t>
            </a:fld>
            <a:endParaRPr lang="en-US"/>
          </a:p>
        </p:txBody>
      </p:sp>
      <p:sp>
        <p:nvSpPr>
          <p:cNvPr id="5" name="正方形/長方形 4">
            <a:extLst>
              <a:ext uri="{FF2B5EF4-FFF2-40B4-BE49-F238E27FC236}">
                <a16:creationId xmlns:a16="http://schemas.microsoft.com/office/drawing/2014/main" id="{65A24678-839C-032F-5E67-E85A5B3FD2F7}"/>
              </a:ext>
            </a:extLst>
          </p:cNvPr>
          <p:cNvSpPr/>
          <p:nvPr/>
        </p:nvSpPr>
        <p:spPr>
          <a:xfrm>
            <a:off x="2524125" y="4576762"/>
            <a:ext cx="2933700" cy="19621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DE1A80BA-0025-C0A1-D984-FBCD42DCB068}"/>
              </a:ext>
            </a:extLst>
          </p:cNvPr>
          <p:cNvSpPr txBox="1"/>
          <p:nvPr/>
        </p:nvSpPr>
        <p:spPr>
          <a:xfrm>
            <a:off x="838200" y="4089678"/>
            <a:ext cx="2286000" cy="369332"/>
          </a:xfrm>
          <a:prstGeom prst="rect">
            <a:avLst/>
          </a:prstGeom>
          <a:noFill/>
        </p:spPr>
        <p:txBody>
          <a:bodyPr wrap="square">
            <a:spAutoFit/>
          </a:bodyPr>
          <a:lstStyle/>
          <a:p>
            <a:r>
              <a:rPr lang="ja-JP" altLang="en-US" dirty="0">
                <a:solidFill>
                  <a:srgbClr val="FF0000"/>
                </a:solidFill>
              </a:rPr>
              <a:t>要約のモードを指定</a:t>
            </a:r>
          </a:p>
        </p:txBody>
      </p:sp>
      <p:sp>
        <p:nvSpPr>
          <p:cNvPr id="8" name="正方形/長方形 7">
            <a:extLst>
              <a:ext uri="{FF2B5EF4-FFF2-40B4-BE49-F238E27FC236}">
                <a16:creationId xmlns:a16="http://schemas.microsoft.com/office/drawing/2014/main" id="{5ED277B6-1E33-138A-6140-8D522B4E434F}"/>
              </a:ext>
            </a:extLst>
          </p:cNvPr>
          <p:cNvSpPr/>
          <p:nvPr/>
        </p:nvSpPr>
        <p:spPr>
          <a:xfrm>
            <a:off x="4276724" y="2862262"/>
            <a:ext cx="1276351" cy="1962150"/>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6E34FFA4-0F10-9BF1-7BB7-0B1396289CC9}"/>
              </a:ext>
            </a:extLst>
          </p:cNvPr>
          <p:cNvSpPr txBox="1"/>
          <p:nvPr/>
        </p:nvSpPr>
        <p:spPr>
          <a:xfrm>
            <a:off x="5457825" y="3059668"/>
            <a:ext cx="3031331" cy="369332"/>
          </a:xfrm>
          <a:prstGeom prst="rect">
            <a:avLst/>
          </a:prstGeom>
          <a:noFill/>
        </p:spPr>
        <p:txBody>
          <a:bodyPr wrap="square">
            <a:spAutoFit/>
          </a:bodyPr>
          <a:lstStyle/>
          <a:p>
            <a:r>
              <a:rPr lang="ja-JP" altLang="en-US" dirty="0">
                <a:solidFill>
                  <a:srgbClr val="00B050"/>
                </a:solidFill>
              </a:rPr>
              <a:t>フレームの時間位置を明示</a:t>
            </a:r>
          </a:p>
        </p:txBody>
      </p:sp>
    </p:spTree>
    <p:extLst>
      <p:ext uri="{BB962C8B-B14F-4D97-AF65-F5344CB8AC3E}">
        <p14:creationId xmlns:p14="http://schemas.microsoft.com/office/powerpoint/2010/main" val="2892573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9AF1-6CFB-EB2B-3F21-5815FA30090A}"/>
            </a:ext>
          </a:extLst>
        </p:cNvPr>
        <p:cNvGrpSpPr/>
        <p:nvPr/>
      </p:nvGrpSpPr>
      <p:grpSpPr>
        <a:xfrm>
          <a:off x="0" y="0"/>
          <a:ext cx="0" cy="0"/>
          <a:chOff x="0" y="0"/>
          <a:chExt cx="0" cy="0"/>
        </a:xfrm>
      </p:grpSpPr>
      <p:pic>
        <p:nvPicPr>
          <p:cNvPr id="4" name="コンテンツ プレースホルダー 3">
            <a:extLst>
              <a:ext uri="{FF2B5EF4-FFF2-40B4-BE49-F238E27FC236}">
                <a16:creationId xmlns:a16="http://schemas.microsoft.com/office/drawing/2014/main" id="{A74AD6B9-5860-DA53-8C98-5A8D8FF3ED5E}"/>
              </a:ext>
            </a:extLst>
          </p:cNvPr>
          <p:cNvPicPr>
            <a:picLocks noGrp="1" noChangeAspect="1"/>
          </p:cNvPicPr>
          <p:nvPr>
            <p:ph idx="1"/>
          </p:nvPr>
        </p:nvPicPr>
        <p:blipFill>
          <a:blip r:embed="rId2"/>
          <a:stretch>
            <a:fillRect/>
          </a:stretch>
        </p:blipFill>
        <p:spPr>
          <a:xfrm>
            <a:off x="2524125" y="758233"/>
            <a:ext cx="9667875" cy="6099767"/>
          </a:xfrm>
          <a:prstGeom prst="rect">
            <a:avLst/>
          </a:prstGeom>
        </p:spPr>
      </p:pic>
      <p:sp>
        <p:nvSpPr>
          <p:cNvPr id="2" name="タイトル 1">
            <a:extLst>
              <a:ext uri="{FF2B5EF4-FFF2-40B4-BE49-F238E27FC236}">
                <a16:creationId xmlns:a16="http://schemas.microsoft.com/office/drawing/2014/main" id="{181CB913-9489-D1DB-B85E-BEB7BF5EBF94}"/>
              </a:ext>
            </a:extLst>
          </p:cNvPr>
          <p:cNvSpPr>
            <a:spLocks noGrp="1"/>
          </p:cNvSpPr>
          <p:nvPr>
            <p:ph type="title"/>
          </p:nvPr>
        </p:nvSpPr>
        <p:spPr/>
        <p:txBody>
          <a:bodyPr/>
          <a:lstStyle/>
          <a:p>
            <a:r>
              <a:rPr kumimoji="1" lang="ja-JP" altLang="en-US" dirty="0"/>
              <a:t>提案手法</a:t>
            </a:r>
          </a:p>
        </p:txBody>
      </p:sp>
      <p:sp>
        <p:nvSpPr>
          <p:cNvPr id="3" name="スライド番号プレースホルダー 2">
            <a:extLst>
              <a:ext uri="{FF2B5EF4-FFF2-40B4-BE49-F238E27FC236}">
                <a16:creationId xmlns:a16="http://schemas.microsoft.com/office/drawing/2014/main" id="{DDB9FDE8-CB5E-F026-F22E-B5325A91F144}"/>
              </a:ext>
            </a:extLst>
          </p:cNvPr>
          <p:cNvSpPr>
            <a:spLocks noGrp="1"/>
          </p:cNvSpPr>
          <p:nvPr>
            <p:ph type="sldNum" sz="quarter" idx="12"/>
          </p:nvPr>
        </p:nvSpPr>
        <p:spPr/>
        <p:txBody>
          <a:bodyPr/>
          <a:lstStyle/>
          <a:p>
            <a:fld id="{27CE633F-9882-4A5C-83A2-1109D0C73261}" type="slidenum">
              <a:rPr lang="en-US" smtClean="0"/>
              <a:t>11</a:t>
            </a:fld>
            <a:endParaRPr lang="en-US"/>
          </a:p>
        </p:txBody>
      </p:sp>
      <p:sp>
        <p:nvSpPr>
          <p:cNvPr id="5" name="正方形/長方形 4">
            <a:extLst>
              <a:ext uri="{FF2B5EF4-FFF2-40B4-BE49-F238E27FC236}">
                <a16:creationId xmlns:a16="http://schemas.microsoft.com/office/drawing/2014/main" id="{3B3F268A-520B-0336-A3CD-BB5EF80B960F}"/>
              </a:ext>
            </a:extLst>
          </p:cNvPr>
          <p:cNvSpPr/>
          <p:nvPr/>
        </p:nvSpPr>
        <p:spPr>
          <a:xfrm>
            <a:off x="5400675" y="3948112"/>
            <a:ext cx="904875" cy="24082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2EE6786C-D084-792D-2959-FC43A0A5D1D3}"/>
              </a:ext>
            </a:extLst>
          </p:cNvPr>
          <p:cNvSpPr txBox="1"/>
          <p:nvPr/>
        </p:nvSpPr>
        <p:spPr>
          <a:xfrm>
            <a:off x="6305550" y="6117193"/>
            <a:ext cx="3155156" cy="369332"/>
          </a:xfrm>
          <a:prstGeom prst="rect">
            <a:avLst/>
          </a:prstGeom>
          <a:noFill/>
        </p:spPr>
        <p:txBody>
          <a:bodyPr wrap="square">
            <a:spAutoFit/>
          </a:bodyPr>
          <a:lstStyle/>
          <a:p>
            <a:r>
              <a:rPr lang="en-US" altLang="ja-JP" dirty="0">
                <a:solidFill>
                  <a:srgbClr val="FF0000"/>
                </a:solidFill>
              </a:rPr>
              <a:t>LLaMA-2</a:t>
            </a:r>
            <a:r>
              <a:rPr lang="ja-JP" altLang="en-US" dirty="0">
                <a:solidFill>
                  <a:srgbClr val="FF0000"/>
                </a:solidFill>
              </a:rPr>
              <a:t>のトークナイザー</a:t>
            </a:r>
          </a:p>
        </p:txBody>
      </p:sp>
    </p:spTree>
    <p:extLst>
      <p:ext uri="{BB962C8B-B14F-4D97-AF65-F5344CB8AC3E}">
        <p14:creationId xmlns:p14="http://schemas.microsoft.com/office/powerpoint/2010/main" val="1051875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758B9-EC9C-1EFB-9085-8B15ECD500EF}"/>
            </a:ext>
          </a:extLst>
        </p:cNvPr>
        <p:cNvGrpSpPr/>
        <p:nvPr/>
      </p:nvGrpSpPr>
      <p:grpSpPr>
        <a:xfrm>
          <a:off x="0" y="0"/>
          <a:ext cx="0" cy="0"/>
          <a:chOff x="0" y="0"/>
          <a:chExt cx="0" cy="0"/>
        </a:xfrm>
      </p:grpSpPr>
      <p:pic>
        <p:nvPicPr>
          <p:cNvPr id="4" name="コンテンツ プレースホルダー 3">
            <a:extLst>
              <a:ext uri="{FF2B5EF4-FFF2-40B4-BE49-F238E27FC236}">
                <a16:creationId xmlns:a16="http://schemas.microsoft.com/office/drawing/2014/main" id="{78AC5E92-8629-028B-B31A-D6EE8E149BA2}"/>
              </a:ext>
            </a:extLst>
          </p:cNvPr>
          <p:cNvPicPr>
            <a:picLocks noGrp="1" noChangeAspect="1"/>
          </p:cNvPicPr>
          <p:nvPr>
            <p:ph idx="1"/>
          </p:nvPr>
        </p:nvPicPr>
        <p:blipFill>
          <a:blip r:embed="rId2"/>
          <a:stretch>
            <a:fillRect/>
          </a:stretch>
        </p:blipFill>
        <p:spPr>
          <a:xfrm>
            <a:off x="2524125" y="758233"/>
            <a:ext cx="9667875" cy="6099767"/>
          </a:xfrm>
          <a:prstGeom prst="rect">
            <a:avLst/>
          </a:prstGeom>
        </p:spPr>
      </p:pic>
      <p:sp>
        <p:nvSpPr>
          <p:cNvPr id="2" name="タイトル 1">
            <a:extLst>
              <a:ext uri="{FF2B5EF4-FFF2-40B4-BE49-F238E27FC236}">
                <a16:creationId xmlns:a16="http://schemas.microsoft.com/office/drawing/2014/main" id="{1BCCFF6F-FA98-D787-00F6-D970D14B7596}"/>
              </a:ext>
            </a:extLst>
          </p:cNvPr>
          <p:cNvSpPr>
            <a:spLocks noGrp="1"/>
          </p:cNvSpPr>
          <p:nvPr>
            <p:ph type="title"/>
          </p:nvPr>
        </p:nvSpPr>
        <p:spPr/>
        <p:txBody>
          <a:bodyPr/>
          <a:lstStyle/>
          <a:p>
            <a:r>
              <a:rPr kumimoji="1" lang="ja-JP" altLang="en-US" dirty="0"/>
              <a:t>提案手法</a:t>
            </a:r>
          </a:p>
        </p:txBody>
      </p:sp>
      <p:sp>
        <p:nvSpPr>
          <p:cNvPr id="3" name="スライド番号プレースホルダー 2">
            <a:extLst>
              <a:ext uri="{FF2B5EF4-FFF2-40B4-BE49-F238E27FC236}">
                <a16:creationId xmlns:a16="http://schemas.microsoft.com/office/drawing/2014/main" id="{877F0E91-EFC4-71CF-5B83-28CB39FF4081}"/>
              </a:ext>
            </a:extLst>
          </p:cNvPr>
          <p:cNvSpPr>
            <a:spLocks noGrp="1"/>
          </p:cNvSpPr>
          <p:nvPr>
            <p:ph type="sldNum" sz="quarter" idx="12"/>
          </p:nvPr>
        </p:nvSpPr>
        <p:spPr/>
        <p:txBody>
          <a:bodyPr/>
          <a:lstStyle/>
          <a:p>
            <a:fld id="{27CE633F-9882-4A5C-83A2-1109D0C73261}" type="slidenum">
              <a:rPr lang="en-US" smtClean="0"/>
              <a:t>12</a:t>
            </a:fld>
            <a:endParaRPr lang="en-US"/>
          </a:p>
        </p:txBody>
      </p:sp>
      <p:sp>
        <p:nvSpPr>
          <p:cNvPr id="5" name="正方形/長方形 4">
            <a:extLst>
              <a:ext uri="{FF2B5EF4-FFF2-40B4-BE49-F238E27FC236}">
                <a16:creationId xmlns:a16="http://schemas.microsoft.com/office/drawing/2014/main" id="{3E655CC5-C0D8-A6E2-FF0B-7E4899578127}"/>
              </a:ext>
            </a:extLst>
          </p:cNvPr>
          <p:cNvSpPr/>
          <p:nvPr/>
        </p:nvSpPr>
        <p:spPr>
          <a:xfrm>
            <a:off x="9286875" y="1690688"/>
            <a:ext cx="2486026" cy="11477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AC9E1EB8-E5CC-7CF5-0338-79FDE97EB363}"/>
              </a:ext>
            </a:extLst>
          </p:cNvPr>
          <p:cNvSpPr txBox="1"/>
          <p:nvPr/>
        </p:nvSpPr>
        <p:spPr>
          <a:xfrm>
            <a:off x="9344025" y="1321356"/>
            <a:ext cx="3155156" cy="369332"/>
          </a:xfrm>
          <a:prstGeom prst="rect">
            <a:avLst/>
          </a:prstGeom>
          <a:noFill/>
        </p:spPr>
        <p:txBody>
          <a:bodyPr wrap="square">
            <a:spAutoFit/>
          </a:bodyPr>
          <a:lstStyle/>
          <a:p>
            <a:r>
              <a:rPr lang="ja-JP" altLang="en-US" dirty="0">
                <a:solidFill>
                  <a:srgbClr val="FF0000"/>
                </a:solidFill>
              </a:rPr>
              <a:t>ビデオ→ビデオ要約</a:t>
            </a:r>
          </a:p>
        </p:txBody>
      </p:sp>
      <p:sp>
        <p:nvSpPr>
          <p:cNvPr id="7" name="正方形/長方形 6">
            <a:extLst>
              <a:ext uri="{FF2B5EF4-FFF2-40B4-BE49-F238E27FC236}">
                <a16:creationId xmlns:a16="http://schemas.microsoft.com/office/drawing/2014/main" id="{E2C1E1DD-2D4C-9843-2F08-D7CD5307A320}"/>
              </a:ext>
            </a:extLst>
          </p:cNvPr>
          <p:cNvSpPr/>
          <p:nvPr/>
        </p:nvSpPr>
        <p:spPr>
          <a:xfrm>
            <a:off x="9344025" y="2976563"/>
            <a:ext cx="2486026" cy="32432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19AA5A7-A423-7070-BEC2-CE9A2182C0A4}"/>
              </a:ext>
            </a:extLst>
          </p:cNvPr>
          <p:cNvSpPr txBox="1"/>
          <p:nvPr/>
        </p:nvSpPr>
        <p:spPr>
          <a:xfrm>
            <a:off x="9344025" y="6220380"/>
            <a:ext cx="2552700" cy="369332"/>
          </a:xfrm>
          <a:prstGeom prst="rect">
            <a:avLst/>
          </a:prstGeom>
          <a:noFill/>
        </p:spPr>
        <p:txBody>
          <a:bodyPr wrap="square">
            <a:spAutoFit/>
          </a:bodyPr>
          <a:lstStyle/>
          <a:p>
            <a:r>
              <a:rPr lang="ja-JP" altLang="en-US" dirty="0">
                <a:solidFill>
                  <a:srgbClr val="FF0000"/>
                </a:solidFill>
              </a:rPr>
              <a:t>ビデオ→テキスト要約</a:t>
            </a:r>
          </a:p>
        </p:txBody>
      </p:sp>
    </p:spTree>
    <p:extLst>
      <p:ext uri="{BB962C8B-B14F-4D97-AF65-F5344CB8AC3E}">
        <p14:creationId xmlns:p14="http://schemas.microsoft.com/office/powerpoint/2010/main" val="2873352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EFEF73-C812-AD5C-DBDF-469E3236EEB0}"/>
              </a:ext>
            </a:extLst>
          </p:cNvPr>
          <p:cNvSpPr>
            <a:spLocks noGrp="1"/>
          </p:cNvSpPr>
          <p:nvPr>
            <p:ph type="title"/>
          </p:nvPr>
        </p:nvSpPr>
        <p:spPr/>
        <p:txBody>
          <a:bodyPr/>
          <a:lstStyle/>
          <a:p>
            <a:r>
              <a:rPr kumimoji="1" lang="ja-JP" altLang="en-US" dirty="0"/>
              <a:t>実験方法</a:t>
            </a:r>
          </a:p>
        </p:txBody>
      </p:sp>
      <p:sp>
        <p:nvSpPr>
          <p:cNvPr id="3" name="コンテンツ プレースホルダー 2">
            <a:extLst>
              <a:ext uri="{FF2B5EF4-FFF2-40B4-BE49-F238E27FC236}">
                <a16:creationId xmlns:a16="http://schemas.microsoft.com/office/drawing/2014/main" id="{37045F01-C904-6F04-DFA6-627BBD42D8C4}"/>
              </a:ext>
            </a:extLst>
          </p:cNvPr>
          <p:cNvSpPr>
            <a:spLocks noGrp="1"/>
          </p:cNvSpPr>
          <p:nvPr>
            <p:ph idx="1"/>
          </p:nvPr>
        </p:nvSpPr>
        <p:spPr/>
        <p:txBody>
          <a:bodyPr/>
          <a:lstStyle/>
          <a:p>
            <a:pPr>
              <a:buNone/>
            </a:pPr>
            <a:r>
              <a:rPr lang="ja-JP" altLang="en-US" b="1" dirty="0"/>
              <a:t>データセット</a:t>
            </a:r>
            <a:r>
              <a:rPr lang="en-US" altLang="ja-JP" dirty="0"/>
              <a:t>:</a:t>
            </a:r>
          </a:p>
          <a:p>
            <a:pPr>
              <a:buFont typeface="Arial" panose="020B0604020202020204" pitchFamily="34" charset="0"/>
              <a:buChar char="•"/>
            </a:pPr>
            <a:r>
              <a:rPr lang="en-US" altLang="ja-JP" b="1" dirty="0"/>
              <a:t>Instruct-V2Xum</a:t>
            </a:r>
            <a:r>
              <a:rPr lang="en-US" altLang="ja-JP" dirty="0"/>
              <a:t>: </a:t>
            </a:r>
            <a:r>
              <a:rPr lang="ja-JP" altLang="en-US" dirty="0"/>
              <a:t>訓練セット</a:t>
            </a:r>
            <a:r>
              <a:rPr lang="en-US" altLang="ja-JP" dirty="0"/>
              <a:t>25,000</a:t>
            </a:r>
            <a:r>
              <a:rPr lang="ja-JP" altLang="en-US" dirty="0"/>
              <a:t>、検証セット</a:t>
            </a:r>
            <a:r>
              <a:rPr lang="en-US" altLang="ja-JP" dirty="0"/>
              <a:t>1,000</a:t>
            </a:r>
            <a:r>
              <a:rPr lang="ja-JP" altLang="en-US" dirty="0"/>
              <a:t>、テストセット</a:t>
            </a:r>
            <a:r>
              <a:rPr lang="en-US" altLang="ja-JP" dirty="0"/>
              <a:t>4,000</a:t>
            </a:r>
            <a:r>
              <a:rPr lang="ja-JP" altLang="en-US" dirty="0"/>
              <a:t>。</a:t>
            </a:r>
          </a:p>
          <a:p>
            <a:pPr>
              <a:buFont typeface="Arial" panose="020B0604020202020204" pitchFamily="34" charset="0"/>
              <a:buChar char="•"/>
            </a:pPr>
            <a:r>
              <a:rPr lang="ja-JP" altLang="en-US" b="1" dirty="0"/>
              <a:t>既存データセット</a:t>
            </a:r>
            <a:r>
              <a:rPr lang="en-US" altLang="ja-JP" dirty="0"/>
              <a:t>: </a:t>
            </a:r>
            <a:r>
              <a:rPr lang="en-US" altLang="ja-JP" dirty="0" err="1"/>
              <a:t>VideoXum</a:t>
            </a:r>
            <a:r>
              <a:rPr lang="ja-JP" altLang="en-US" dirty="0"/>
              <a:t>→</a:t>
            </a:r>
            <a:r>
              <a:rPr lang="en-US" altLang="ja-JP" dirty="0"/>
              <a:t>V2V</a:t>
            </a:r>
            <a:r>
              <a:rPr lang="ja-JP" altLang="en-US" dirty="0"/>
              <a:t>・</a:t>
            </a:r>
            <a:r>
              <a:rPr lang="en-US" altLang="ja-JP" dirty="0"/>
              <a:t>V2T</a:t>
            </a:r>
            <a:r>
              <a:rPr lang="ja-JP" altLang="en-US" dirty="0"/>
              <a:t>どちらにも使用、（</a:t>
            </a:r>
            <a:r>
              <a:rPr lang="en-US" altLang="ja-JP" dirty="0" err="1"/>
              <a:t>TVSum</a:t>
            </a:r>
            <a:r>
              <a:rPr lang="ja-JP" altLang="en-US" dirty="0"/>
              <a:t>、</a:t>
            </a:r>
            <a:r>
              <a:rPr lang="en-US" altLang="ja-JP" dirty="0" err="1"/>
              <a:t>SumMe</a:t>
            </a:r>
            <a:r>
              <a:rPr lang="ja-JP" altLang="en-US" dirty="0"/>
              <a:t>）→</a:t>
            </a:r>
            <a:r>
              <a:rPr lang="en-US" altLang="ja-JP" dirty="0"/>
              <a:t>V2V</a:t>
            </a:r>
            <a:r>
              <a:rPr lang="ja-JP" altLang="en-US" dirty="0"/>
              <a:t>に使用</a:t>
            </a:r>
          </a:p>
          <a:p>
            <a:pPr>
              <a:buNone/>
            </a:pPr>
            <a:r>
              <a:rPr lang="ja-JP" altLang="en-US" b="1" dirty="0"/>
              <a:t>ベースラインモデル</a:t>
            </a:r>
            <a:r>
              <a:rPr lang="en-US" altLang="ja-JP" dirty="0"/>
              <a:t>:</a:t>
            </a:r>
          </a:p>
          <a:p>
            <a:pPr>
              <a:buFont typeface="Arial" panose="020B0604020202020204" pitchFamily="34" charset="0"/>
              <a:buChar char="•"/>
            </a:pPr>
            <a:r>
              <a:rPr lang="en-US" altLang="ja-JP" dirty="0"/>
              <a:t>Frozen-BLIP</a:t>
            </a:r>
            <a:r>
              <a:rPr lang="ja-JP" altLang="en-US" dirty="0"/>
              <a:t>、</a:t>
            </a:r>
            <a:r>
              <a:rPr lang="en-US" altLang="ja-JP" dirty="0"/>
              <a:t>Vid2Seq</a:t>
            </a:r>
            <a:r>
              <a:rPr lang="ja-JP" altLang="en-US" dirty="0"/>
              <a:t>、</a:t>
            </a:r>
            <a:r>
              <a:rPr lang="en-US" altLang="ja-JP" dirty="0"/>
              <a:t>VTSUM-BLIP</a:t>
            </a:r>
            <a:r>
              <a:rPr lang="ja-JP" altLang="en-US" dirty="0"/>
              <a:t>などと比較。</a:t>
            </a:r>
          </a:p>
          <a:p>
            <a:endParaRPr kumimoji="1" lang="ja-JP" altLang="en-US" dirty="0"/>
          </a:p>
        </p:txBody>
      </p:sp>
      <p:sp>
        <p:nvSpPr>
          <p:cNvPr id="4" name="スライド番号プレースホルダー 3">
            <a:extLst>
              <a:ext uri="{FF2B5EF4-FFF2-40B4-BE49-F238E27FC236}">
                <a16:creationId xmlns:a16="http://schemas.microsoft.com/office/drawing/2014/main" id="{1E11E62A-4258-0F3B-9DDC-6AC2B8AF01A4}"/>
              </a:ext>
            </a:extLst>
          </p:cNvPr>
          <p:cNvSpPr>
            <a:spLocks noGrp="1"/>
          </p:cNvSpPr>
          <p:nvPr>
            <p:ph type="sldNum" sz="quarter" idx="12"/>
          </p:nvPr>
        </p:nvSpPr>
        <p:spPr/>
        <p:txBody>
          <a:bodyPr/>
          <a:lstStyle/>
          <a:p>
            <a:fld id="{27CE633F-9882-4A5C-83A2-1109D0C73261}" type="slidenum">
              <a:rPr lang="en-US" smtClean="0"/>
              <a:t>13</a:t>
            </a:fld>
            <a:endParaRPr lang="en-US"/>
          </a:p>
        </p:txBody>
      </p:sp>
    </p:spTree>
    <p:extLst>
      <p:ext uri="{BB962C8B-B14F-4D97-AF65-F5344CB8AC3E}">
        <p14:creationId xmlns:p14="http://schemas.microsoft.com/office/powerpoint/2010/main" val="3954940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1841B1-B145-A4BC-F1AC-DF97C4D082E9}"/>
              </a:ext>
            </a:extLst>
          </p:cNvPr>
          <p:cNvSpPr>
            <a:spLocks noGrp="1"/>
          </p:cNvSpPr>
          <p:nvPr>
            <p:ph type="title"/>
          </p:nvPr>
        </p:nvSpPr>
        <p:spPr/>
        <p:txBody>
          <a:bodyPr/>
          <a:lstStyle/>
          <a:p>
            <a:r>
              <a:rPr kumimoji="1" lang="ja-JP" altLang="en-US" dirty="0"/>
              <a:t>実験結果</a:t>
            </a:r>
          </a:p>
        </p:txBody>
      </p:sp>
      <p:graphicFrame>
        <p:nvGraphicFramePr>
          <p:cNvPr id="5" name="コンテンツ プレースホルダー 4">
            <a:extLst>
              <a:ext uri="{FF2B5EF4-FFF2-40B4-BE49-F238E27FC236}">
                <a16:creationId xmlns:a16="http://schemas.microsoft.com/office/drawing/2014/main" id="{70481093-DA45-F01E-68B2-5AA363CBEE68}"/>
              </a:ext>
            </a:extLst>
          </p:cNvPr>
          <p:cNvGraphicFramePr>
            <a:graphicFrameLocks noGrp="1"/>
          </p:cNvGraphicFramePr>
          <p:nvPr>
            <p:ph idx="1"/>
            <p:extLst>
              <p:ext uri="{D42A27DB-BD31-4B8C-83A1-F6EECF244321}">
                <p14:modId xmlns:p14="http://schemas.microsoft.com/office/powerpoint/2010/main" val="98204634"/>
              </p:ext>
            </p:extLst>
          </p:nvPr>
        </p:nvGraphicFramePr>
        <p:xfrm>
          <a:off x="838200" y="2263934"/>
          <a:ext cx="10877550" cy="3200400"/>
        </p:xfrm>
        <a:graphic>
          <a:graphicData uri="http://schemas.openxmlformats.org/drawingml/2006/table">
            <a:tbl>
              <a:tblPr/>
              <a:tblGrid>
                <a:gridCol w="1438275">
                  <a:extLst>
                    <a:ext uri="{9D8B030D-6E8A-4147-A177-3AD203B41FA5}">
                      <a16:colId xmlns:a16="http://schemas.microsoft.com/office/drawing/2014/main" val="2138932534"/>
                    </a:ext>
                  </a:extLst>
                </a:gridCol>
                <a:gridCol w="2219325">
                  <a:extLst>
                    <a:ext uri="{9D8B030D-6E8A-4147-A177-3AD203B41FA5}">
                      <a16:colId xmlns:a16="http://schemas.microsoft.com/office/drawing/2014/main" val="4184897730"/>
                    </a:ext>
                  </a:extLst>
                </a:gridCol>
                <a:gridCol w="1781175">
                  <a:extLst>
                    <a:ext uri="{9D8B030D-6E8A-4147-A177-3AD203B41FA5}">
                      <a16:colId xmlns:a16="http://schemas.microsoft.com/office/drawing/2014/main" val="157493802"/>
                    </a:ext>
                  </a:extLst>
                </a:gridCol>
                <a:gridCol w="1562100">
                  <a:extLst>
                    <a:ext uri="{9D8B030D-6E8A-4147-A177-3AD203B41FA5}">
                      <a16:colId xmlns:a16="http://schemas.microsoft.com/office/drawing/2014/main" val="2861637171"/>
                    </a:ext>
                  </a:extLst>
                </a:gridCol>
                <a:gridCol w="2063750">
                  <a:extLst>
                    <a:ext uri="{9D8B030D-6E8A-4147-A177-3AD203B41FA5}">
                      <a16:colId xmlns:a16="http://schemas.microsoft.com/office/drawing/2014/main" val="1109680740"/>
                    </a:ext>
                  </a:extLst>
                </a:gridCol>
                <a:gridCol w="1812925">
                  <a:extLst>
                    <a:ext uri="{9D8B030D-6E8A-4147-A177-3AD203B41FA5}">
                      <a16:colId xmlns:a16="http://schemas.microsoft.com/office/drawing/2014/main" val="2437494128"/>
                    </a:ext>
                  </a:extLst>
                </a:gridCol>
              </a:tblGrid>
              <a:tr h="0">
                <a:tc>
                  <a:txBody>
                    <a:bodyPr/>
                    <a:lstStyle/>
                    <a:p>
                      <a:r>
                        <a:rPr lang="ja-JP" altLang="en-US" b="1" dirty="0"/>
                        <a:t>タスク</a:t>
                      </a:r>
                      <a:endParaRPr lang="ja-JP" altLang="en-US" dirty="0"/>
                    </a:p>
                  </a:txBody>
                  <a:tcPr anchor="ctr">
                    <a:lnL>
                      <a:noFill/>
                    </a:lnL>
                    <a:lnR>
                      <a:noFill/>
                    </a:lnR>
                    <a:lnT>
                      <a:noFill/>
                    </a:lnT>
                    <a:lnB>
                      <a:noFill/>
                    </a:lnB>
                    <a:noFill/>
                  </a:tcPr>
                </a:tc>
                <a:tc>
                  <a:txBody>
                    <a:bodyPr/>
                    <a:lstStyle/>
                    <a:p>
                      <a:r>
                        <a:rPr lang="ja-JP" altLang="en-US" b="1" dirty="0"/>
                        <a:t>データセット</a:t>
                      </a:r>
                      <a:endParaRPr lang="ja-JP" altLang="en-US" dirty="0"/>
                    </a:p>
                  </a:txBody>
                  <a:tcPr anchor="ctr">
                    <a:lnL>
                      <a:noFill/>
                    </a:lnL>
                    <a:lnR>
                      <a:noFill/>
                    </a:lnR>
                    <a:lnT>
                      <a:noFill/>
                    </a:lnT>
                    <a:lnB>
                      <a:noFill/>
                    </a:lnB>
                    <a:noFill/>
                  </a:tcPr>
                </a:tc>
                <a:tc>
                  <a:txBody>
                    <a:bodyPr/>
                    <a:lstStyle/>
                    <a:p>
                      <a:r>
                        <a:rPr lang="ja-JP" altLang="en-US" b="1"/>
                        <a:t>評価指標</a:t>
                      </a:r>
                      <a:endParaRPr lang="ja-JP" altLang="en-US"/>
                    </a:p>
                  </a:txBody>
                  <a:tcPr anchor="ctr">
                    <a:lnL>
                      <a:noFill/>
                    </a:lnL>
                    <a:lnR>
                      <a:noFill/>
                    </a:lnR>
                    <a:lnT>
                      <a:noFill/>
                    </a:lnT>
                    <a:lnB>
                      <a:noFill/>
                    </a:lnB>
                    <a:noFill/>
                  </a:tcPr>
                </a:tc>
                <a:tc>
                  <a:txBody>
                    <a:bodyPr/>
                    <a:lstStyle/>
                    <a:p>
                      <a:r>
                        <a:rPr lang="ja-JP" altLang="en-US" b="1"/>
                        <a:t>提案手法</a:t>
                      </a:r>
                      <a:endParaRPr lang="ja-JP" altLang="en-US"/>
                    </a:p>
                  </a:txBody>
                  <a:tcPr anchor="ctr">
                    <a:lnL>
                      <a:noFill/>
                    </a:lnL>
                    <a:lnR>
                      <a:noFill/>
                    </a:lnR>
                    <a:lnT>
                      <a:noFill/>
                    </a:lnT>
                    <a:lnB>
                      <a:noFill/>
                    </a:lnB>
                    <a:noFill/>
                  </a:tcPr>
                </a:tc>
                <a:tc>
                  <a:txBody>
                    <a:bodyPr/>
                    <a:lstStyle/>
                    <a:p>
                      <a:r>
                        <a:rPr lang="ja-JP" altLang="en-US" b="1" dirty="0"/>
                        <a:t>ベースライン最高値</a:t>
                      </a:r>
                      <a:endParaRPr lang="ja-JP" altLang="en-US" dirty="0"/>
                    </a:p>
                  </a:txBody>
                  <a:tcPr anchor="ctr">
                    <a:lnL>
                      <a:noFill/>
                    </a:lnL>
                    <a:lnR>
                      <a:noFill/>
                    </a:lnR>
                    <a:lnT>
                      <a:noFill/>
                    </a:lnT>
                    <a:lnB>
                      <a:noFill/>
                    </a:lnB>
                    <a:noFill/>
                  </a:tcPr>
                </a:tc>
                <a:tc>
                  <a:txBody>
                    <a:bodyPr/>
                    <a:lstStyle/>
                    <a:p>
                      <a:r>
                        <a:rPr lang="ja-JP" altLang="en-US" b="1"/>
                        <a:t>改善率</a:t>
                      </a:r>
                      <a:endParaRPr lang="ja-JP" altLang="en-US"/>
                    </a:p>
                  </a:txBody>
                  <a:tcPr anchor="ctr">
                    <a:lnL>
                      <a:noFill/>
                    </a:lnL>
                    <a:lnR>
                      <a:noFill/>
                    </a:lnR>
                    <a:lnT>
                      <a:noFill/>
                    </a:lnT>
                    <a:lnB>
                      <a:noFill/>
                    </a:lnB>
                    <a:noFill/>
                  </a:tcPr>
                </a:tc>
                <a:extLst>
                  <a:ext uri="{0D108BD9-81ED-4DB2-BD59-A6C34878D82A}">
                    <a16:rowId xmlns:a16="http://schemas.microsoft.com/office/drawing/2014/main" val="2949225638"/>
                  </a:ext>
                </a:extLst>
              </a:tr>
              <a:tr h="0">
                <a:tc>
                  <a:txBody>
                    <a:bodyPr/>
                    <a:lstStyle/>
                    <a:p>
                      <a:r>
                        <a:rPr lang="en-US" dirty="0"/>
                        <a:t>V2V</a:t>
                      </a:r>
                    </a:p>
                  </a:txBody>
                  <a:tcPr anchor="ctr">
                    <a:lnL>
                      <a:noFill/>
                    </a:lnL>
                    <a:lnR>
                      <a:noFill/>
                    </a:lnR>
                    <a:lnT>
                      <a:noFill/>
                    </a:lnT>
                    <a:lnB>
                      <a:noFill/>
                    </a:lnB>
                    <a:noFill/>
                  </a:tcPr>
                </a:tc>
                <a:tc>
                  <a:txBody>
                    <a:bodyPr/>
                    <a:lstStyle/>
                    <a:p>
                      <a:r>
                        <a:rPr lang="en-US" dirty="0" err="1"/>
                        <a:t>VideoXum</a:t>
                      </a:r>
                      <a:endParaRPr lang="en-US" dirty="0"/>
                    </a:p>
                  </a:txBody>
                  <a:tcPr anchor="ctr">
                    <a:lnL>
                      <a:noFill/>
                    </a:lnL>
                    <a:lnR>
                      <a:noFill/>
                    </a:lnR>
                    <a:lnT>
                      <a:noFill/>
                    </a:lnT>
                    <a:lnB>
                      <a:noFill/>
                    </a:lnB>
                    <a:noFill/>
                  </a:tcPr>
                </a:tc>
                <a:tc>
                  <a:txBody>
                    <a:bodyPr/>
                    <a:lstStyle/>
                    <a:p>
                      <a:r>
                        <a:rPr lang="en-US" dirty="0"/>
                        <a:t>F1</a:t>
                      </a:r>
                      <a:r>
                        <a:rPr lang="ja-JP" altLang="en-US" dirty="0"/>
                        <a:t>スコア</a:t>
                      </a:r>
                    </a:p>
                  </a:txBody>
                  <a:tcPr anchor="ctr">
                    <a:lnL>
                      <a:noFill/>
                    </a:lnL>
                    <a:lnR>
                      <a:noFill/>
                    </a:lnR>
                    <a:lnT>
                      <a:noFill/>
                    </a:lnT>
                    <a:lnB>
                      <a:noFill/>
                    </a:lnB>
                    <a:noFill/>
                  </a:tcPr>
                </a:tc>
                <a:tc>
                  <a:txBody>
                    <a:bodyPr/>
                    <a:lstStyle/>
                    <a:p>
                      <a:r>
                        <a:rPr lang="en-US" altLang="ja-JP" b="1" dirty="0"/>
                        <a:t>29.0</a:t>
                      </a:r>
                      <a:endParaRPr lang="ja-JP" altLang="en-US" dirty="0"/>
                    </a:p>
                  </a:txBody>
                  <a:tcPr anchor="ctr">
                    <a:lnL>
                      <a:noFill/>
                    </a:lnL>
                    <a:lnR>
                      <a:noFill/>
                    </a:lnR>
                    <a:lnT>
                      <a:noFill/>
                    </a:lnT>
                    <a:lnB>
                      <a:noFill/>
                    </a:lnB>
                    <a:noFill/>
                  </a:tcPr>
                </a:tc>
                <a:tc>
                  <a:txBody>
                    <a:bodyPr/>
                    <a:lstStyle/>
                    <a:p>
                      <a:r>
                        <a:rPr lang="en-US" dirty="0"/>
                        <a:t>23.5 (VTSUM-BLIP)</a:t>
                      </a:r>
                    </a:p>
                  </a:txBody>
                  <a:tcPr anchor="ctr">
                    <a:lnL>
                      <a:noFill/>
                    </a:lnL>
                    <a:lnR>
                      <a:noFill/>
                    </a:lnR>
                    <a:lnT>
                      <a:noFill/>
                    </a:lnT>
                    <a:lnB>
                      <a:noFill/>
                    </a:lnB>
                    <a:noFill/>
                  </a:tcPr>
                </a:tc>
                <a:tc>
                  <a:txBody>
                    <a:bodyPr/>
                    <a:lstStyle/>
                    <a:p>
                      <a:r>
                        <a:rPr lang="en-US" altLang="ja-JP" dirty="0"/>
                        <a:t>+23.4%</a:t>
                      </a:r>
                    </a:p>
                  </a:txBody>
                  <a:tcPr anchor="ctr">
                    <a:lnL>
                      <a:noFill/>
                    </a:lnL>
                    <a:lnR>
                      <a:noFill/>
                    </a:lnR>
                    <a:lnT>
                      <a:noFill/>
                    </a:lnT>
                    <a:lnB>
                      <a:noFill/>
                    </a:lnB>
                    <a:noFill/>
                  </a:tcPr>
                </a:tc>
                <a:extLst>
                  <a:ext uri="{0D108BD9-81ED-4DB2-BD59-A6C34878D82A}">
                    <a16:rowId xmlns:a16="http://schemas.microsoft.com/office/drawing/2014/main" val="4251529295"/>
                  </a:ext>
                </a:extLst>
              </a:tr>
              <a:tr h="0">
                <a:tc>
                  <a:txBody>
                    <a:bodyPr/>
                    <a:lstStyle/>
                    <a:p>
                      <a:r>
                        <a:rPr lang="en-US" dirty="0"/>
                        <a:t>V2T</a:t>
                      </a:r>
                    </a:p>
                  </a:txBody>
                  <a:tcPr anchor="ctr">
                    <a:lnL>
                      <a:noFill/>
                    </a:lnL>
                    <a:lnR>
                      <a:noFill/>
                    </a:lnR>
                    <a:lnT>
                      <a:noFill/>
                    </a:lnT>
                    <a:lnB>
                      <a:noFill/>
                    </a:lnB>
                    <a:noFill/>
                  </a:tcPr>
                </a:tc>
                <a:tc>
                  <a:txBody>
                    <a:bodyPr/>
                    <a:lstStyle/>
                    <a:p>
                      <a:r>
                        <a:rPr lang="en-US" dirty="0" err="1"/>
                        <a:t>VideoXum</a:t>
                      </a:r>
                      <a:endParaRPr lang="en-US" dirty="0"/>
                    </a:p>
                  </a:txBody>
                  <a:tcPr anchor="ctr">
                    <a:lnL>
                      <a:noFill/>
                    </a:lnL>
                    <a:lnR>
                      <a:noFill/>
                    </a:lnR>
                    <a:lnT>
                      <a:noFill/>
                    </a:lnT>
                    <a:lnB>
                      <a:noFill/>
                    </a:lnB>
                    <a:noFill/>
                  </a:tcPr>
                </a:tc>
                <a:tc>
                  <a:txBody>
                    <a:bodyPr/>
                    <a:lstStyle/>
                    <a:p>
                      <a:r>
                        <a:rPr lang="en-US"/>
                        <a:t>BLEU-4</a:t>
                      </a:r>
                    </a:p>
                  </a:txBody>
                  <a:tcPr anchor="ctr">
                    <a:lnL>
                      <a:noFill/>
                    </a:lnL>
                    <a:lnR>
                      <a:noFill/>
                    </a:lnR>
                    <a:lnT>
                      <a:noFill/>
                    </a:lnT>
                    <a:lnB>
                      <a:noFill/>
                    </a:lnB>
                    <a:noFill/>
                  </a:tcPr>
                </a:tc>
                <a:tc>
                  <a:txBody>
                    <a:bodyPr/>
                    <a:lstStyle/>
                    <a:p>
                      <a:r>
                        <a:rPr lang="en-US" altLang="ja-JP" b="1" dirty="0"/>
                        <a:t>5.8</a:t>
                      </a:r>
                      <a:endParaRPr lang="ja-JP" altLang="en-US" dirty="0"/>
                    </a:p>
                  </a:txBody>
                  <a:tcPr anchor="ctr">
                    <a:lnL>
                      <a:noFill/>
                    </a:lnL>
                    <a:lnR>
                      <a:noFill/>
                    </a:lnR>
                    <a:lnT>
                      <a:noFill/>
                    </a:lnT>
                    <a:lnB>
                      <a:noFill/>
                    </a:lnB>
                    <a:noFill/>
                  </a:tcPr>
                </a:tc>
                <a:tc>
                  <a:txBody>
                    <a:bodyPr/>
                    <a:lstStyle/>
                    <a:p>
                      <a:r>
                        <a:rPr lang="en-US" dirty="0"/>
                        <a:t>5.6 (VTSUM-BLIP)</a:t>
                      </a:r>
                    </a:p>
                  </a:txBody>
                  <a:tcPr anchor="ctr">
                    <a:lnL>
                      <a:noFill/>
                    </a:lnL>
                    <a:lnR>
                      <a:noFill/>
                    </a:lnR>
                    <a:lnT>
                      <a:noFill/>
                    </a:lnT>
                    <a:lnB>
                      <a:noFill/>
                    </a:lnB>
                    <a:noFill/>
                  </a:tcPr>
                </a:tc>
                <a:tc>
                  <a:txBody>
                    <a:bodyPr/>
                    <a:lstStyle/>
                    <a:p>
                      <a:r>
                        <a:rPr lang="en-US" altLang="ja-JP" dirty="0"/>
                        <a:t>+3.6%</a:t>
                      </a:r>
                    </a:p>
                  </a:txBody>
                  <a:tcPr anchor="ctr">
                    <a:lnL>
                      <a:noFill/>
                    </a:lnL>
                    <a:lnR>
                      <a:noFill/>
                    </a:lnR>
                    <a:lnT>
                      <a:noFill/>
                    </a:lnT>
                    <a:lnB>
                      <a:noFill/>
                    </a:lnB>
                    <a:noFill/>
                  </a:tcPr>
                </a:tc>
                <a:extLst>
                  <a:ext uri="{0D108BD9-81ED-4DB2-BD59-A6C34878D82A}">
                    <a16:rowId xmlns:a16="http://schemas.microsoft.com/office/drawing/2014/main" val="120743663"/>
                  </a:ext>
                </a:extLst>
              </a:tr>
              <a:tr h="0">
                <a:tc>
                  <a:txBody>
                    <a:bodyPr/>
                    <a:lstStyle/>
                    <a:p>
                      <a:r>
                        <a:rPr lang="en-US"/>
                        <a:t>V2VT</a:t>
                      </a:r>
                    </a:p>
                  </a:txBody>
                  <a:tcPr anchor="ctr">
                    <a:lnL>
                      <a:noFill/>
                    </a:lnL>
                    <a:lnR>
                      <a:noFill/>
                    </a:lnR>
                    <a:lnT>
                      <a:noFill/>
                    </a:lnT>
                    <a:lnB>
                      <a:noFill/>
                    </a:lnB>
                    <a:noFill/>
                  </a:tcPr>
                </a:tc>
                <a:tc>
                  <a:txBody>
                    <a:bodyPr/>
                    <a:lstStyle/>
                    <a:p>
                      <a:r>
                        <a:rPr lang="en-US" dirty="0" err="1"/>
                        <a:t>VideoXum</a:t>
                      </a:r>
                      <a:endParaRPr lang="en-US" dirty="0"/>
                    </a:p>
                  </a:txBody>
                  <a:tcPr anchor="ctr">
                    <a:lnL>
                      <a:noFill/>
                    </a:lnL>
                    <a:lnR>
                      <a:noFill/>
                    </a:lnR>
                    <a:lnT>
                      <a:noFill/>
                    </a:lnT>
                    <a:lnB>
                      <a:noFill/>
                    </a:lnB>
                    <a:noFill/>
                  </a:tcPr>
                </a:tc>
                <a:tc>
                  <a:txBody>
                    <a:bodyPr/>
                    <a:lstStyle/>
                    <a:p>
                      <a:r>
                        <a:rPr lang="en-US"/>
                        <a:t>Cross-FCLIP</a:t>
                      </a:r>
                    </a:p>
                  </a:txBody>
                  <a:tcPr anchor="ctr">
                    <a:lnL>
                      <a:noFill/>
                    </a:lnL>
                    <a:lnR>
                      <a:noFill/>
                    </a:lnR>
                    <a:lnT>
                      <a:noFill/>
                    </a:lnT>
                    <a:lnB>
                      <a:noFill/>
                    </a:lnB>
                    <a:noFill/>
                  </a:tcPr>
                </a:tc>
                <a:tc>
                  <a:txBody>
                    <a:bodyPr/>
                    <a:lstStyle/>
                    <a:p>
                      <a:r>
                        <a:rPr lang="en-US" altLang="ja-JP" b="1"/>
                        <a:t>0.253</a:t>
                      </a:r>
                      <a:endParaRPr lang="ja-JP" altLang="en-US"/>
                    </a:p>
                  </a:txBody>
                  <a:tcPr anchor="ctr">
                    <a:lnL>
                      <a:noFill/>
                    </a:lnL>
                    <a:lnR>
                      <a:noFill/>
                    </a:lnR>
                    <a:lnT>
                      <a:noFill/>
                    </a:lnT>
                    <a:lnB>
                      <a:noFill/>
                    </a:lnB>
                    <a:noFill/>
                  </a:tcPr>
                </a:tc>
                <a:tc>
                  <a:txBody>
                    <a:bodyPr/>
                    <a:lstStyle/>
                    <a:p>
                      <a:r>
                        <a:rPr lang="en-US" dirty="0"/>
                        <a:t>0.247 (VTSUM-BLIP)</a:t>
                      </a:r>
                    </a:p>
                  </a:txBody>
                  <a:tcPr anchor="ctr">
                    <a:lnL>
                      <a:noFill/>
                    </a:lnL>
                    <a:lnR>
                      <a:noFill/>
                    </a:lnR>
                    <a:lnT>
                      <a:noFill/>
                    </a:lnT>
                    <a:lnB>
                      <a:noFill/>
                    </a:lnB>
                    <a:noFill/>
                  </a:tcPr>
                </a:tc>
                <a:tc>
                  <a:txBody>
                    <a:bodyPr/>
                    <a:lstStyle/>
                    <a:p>
                      <a:r>
                        <a:rPr lang="en-US" altLang="ja-JP" dirty="0"/>
                        <a:t>+2.4%</a:t>
                      </a:r>
                    </a:p>
                  </a:txBody>
                  <a:tcPr anchor="ctr">
                    <a:lnL>
                      <a:noFill/>
                    </a:lnL>
                    <a:lnR>
                      <a:noFill/>
                    </a:lnR>
                    <a:lnT>
                      <a:noFill/>
                    </a:lnT>
                    <a:lnB>
                      <a:noFill/>
                    </a:lnB>
                    <a:noFill/>
                  </a:tcPr>
                </a:tc>
                <a:extLst>
                  <a:ext uri="{0D108BD9-81ED-4DB2-BD59-A6C34878D82A}">
                    <a16:rowId xmlns:a16="http://schemas.microsoft.com/office/drawing/2014/main" val="3727873400"/>
                  </a:ext>
                </a:extLst>
              </a:tr>
              <a:tr h="0">
                <a:tc>
                  <a:txBody>
                    <a:bodyPr/>
                    <a:lstStyle/>
                    <a:p>
                      <a:r>
                        <a:rPr lang="en-US"/>
                        <a:t>V2V</a:t>
                      </a:r>
                    </a:p>
                  </a:txBody>
                  <a:tcPr anchor="ctr">
                    <a:lnL>
                      <a:noFill/>
                    </a:lnL>
                    <a:lnR>
                      <a:noFill/>
                    </a:lnR>
                    <a:lnT>
                      <a:noFill/>
                    </a:lnT>
                    <a:lnB>
                      <a:noFill/>
                    </a:lnB>
                    <a:noFill/>
                  </a:tcPr>
                </a:tc>
                <a:tc>
                  <a:txBody>
                    <a:bodyPr/>
                    <a:lstStyle/>
                    <a:p>
                      <a:r>
                        <a:rPr lang="en-US" dirty="0" err="1"/>
                        <a:t>TVSum</a:t>
                      </a:r>
                      <a:endParaRPr lang="en-US" dirty="0"/>
                    </a:p>
                  </a:txBody>
                  <a:tcPr anchor="ctr">
                    <a:lnL>
                      <a:noFill/>
                    </a:lnL>
                    <a:lnR>
                      <a:noFill/>
                    </a:lnR>
                    <a:lnT>
                      <a:noFill/>
                    </a:lnT>
                    <a:lnB>
                      <a:noFill/>
                    </a:lnB>
                    <a:noFill/>
                  </a:tcPr>
                </a:tc>
                <a:tc>
                  <a:txBody>
                    <a:bodyPr/>
                    <a:lstStyle/>
                    <a:p>
                      <a:r>
                        <a:rPr lang="en-US" dirty="0"/>
                        <a:t>Spearman</a:t>
                      </a:r>
                      <a:r>
                        <a:rPr lang="ja-JP" altLang="en-US" dirty="0"/>
                        <a:t>相関</a:t>
                      </a:r>
                    </a:p>
                  </a:txBody>
                  <a:tcPr anchor="ctr">
                    <a:lnL>
                      <a:noFill/>
                    </a:lnL>
                    <a:lnR>
                      <a:noFill/>
                    </a:lnR>
                    <a:lnT>
                      <a:noFill/>
                    </a:lnT>
                    <a:lnB>
                      <a:noFill/>
                    </a:lnB>
                    <a:noFill/>
                  </a:tcPr>
                </a:tc>
                <a:tc>
                  <a:txBody>
                    <a:bodyPr/>
                    <a:lstStyle/>
                    <a:p>
                      <a:r>
                        <a:rPr lang="en-US" altLang="ja-JP" b="1" dirty="0"/>
                        <a:t>0.293</a:t>
                      </a:r>
                      <a:endParaRPr lang="ja-JP" altLang="en-US" dirty="0"/>
                    </a:p>
                  </a:txBody>
                  <a:tcPr anchor="ctr">
                    <a:lnL>
                      <a:noFill/>
                    </a:lnL>
                    <a:lnR>
                      <a:noFill/>
                    </a:lnR>
                    <a:lnT>
                      <a:noFill/>
                    </a:lnT>
                    <a:lnB>
                      <a:noFill/>
                    </a:lnB>
                    <a:noFill/>
                  </a:tcPr>
                </a:tc>
                <a:tc>
                  <a:txBody>
                    <a:bodyPr/>
                    <a:lstStyle/>
                    <a:p>
                      <a:r>
                        <a:rPr lang="en-US" dirty="0"/>
                        <a:t>0.261 (VSUM-BLIP)</a:t>
                      </a:r>
                    </a:p>
                  </a:txBody>
                  <a:tcPr anchor="ctr">
                    <a:lnL>
                      <a:noFill/>
                    </a:lnL>
                    <a:lnR>
                      <a:noFill/>
                    </a:lnR>
                    <a:lnT>
                      <a:noFill/>
                    </a:lnT>
                    <a:lnB>
                      <a:noFill/>
                    </a:lnB>
                    <a:noFill/>
                  </a:tcPr>
                </a:tc>
                <a:tc>
                  <a:txBody>
                    <a:bodyPr/>
                    <a:lstStyle/>
                    <a:p>
                      <a:r>
                        <a:rPr lang="en-US" altLang="ja-JP" dirty="0"/>
                        <a:t>+12.3%</a:t>
                      </a:r>
                    </a:p>
                  </a:txBody>
                  <a:tcPr anchor="ctr">
                    <a:lnL>
                      <a:noFill/>
                    </a:lnL>
                    <a:lnR>
                      <a:noFill/>
                    </a:lnR>
                    <a:lnT>
                      <a:noFill/>
                    </a:lnT>
                    <a:lnB>
                      <a:noFill/>
                    </a:lnB>
                    <a:noFill/>
                  </a:tcPr>
                </a:tc>
                <a:extLst>
                  <a:ext uri="{0D108BD9-81ED-4DB2-BD59-A6C34878D82A}">
                    <a16:rowId xmlns:a16="http://schemas.microsoft.com/office/drawing/2014/main" val="3207799839"/>
                  </a:ext>
                </a:extLst>
              </a:tr>
            </a:tbl>
          </a:graphicData>
        </a:graphic>
      </p:graphicFrame>
      <p:sp>
        <p:nvSpPr>
          <p:cNvPr id="4" name="スライド番号プレースホルダー 3">
            <a:extLst>
              <a:ext uri="{FF2B5EF4-FFF2-40B4-BE49-F238E27FC236}">
                <a16:creationId xmlns:a16="http://schemas.microsoft.com/office/drawing/2014/main" id="{8BC9AABE-1E87-9974-7371-D6B8FE782AD8}"/>
              </a:ext>
            </a:extLst>
          </p:cNvPr>
          <p:cNvSpPr>
            <a:spLocks noGrp="1"/>
          </p:cNvSpPr>
          <p:nvPr>
            <p:ph type="sldNum" sz="quarter" idx="12"/>
          </p:nvPr>
        </p:nvSpPr>
        <p:spPr/>
        <p:txBody>
          <a:bodyPr/>
          <a:lstStyle/>
          <a:p>
            <a:fld id="{27CE633F-9882-4A5C-83A2-1109D0C73261}" type="slidenum">
              <a:rPr lang="en-US" smtClean="0"/>
              <a:t>14</a:t>
            </a:fld>
            <a:endParaRPr lang="en-US"/>
          </a:p>
        </p:txBody>
      </p:sp>
    </p:spTree>
    <p:extLst>
      <p:ext uri="{BB962C8B-B14F-4D97-AF65-F5344CB8AC3E}">
        <p14:creationId xmlns:p14="http://schemas.microsoft.com/office/powerpoint/2010/main" val="467222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58F2C3-9765-6A15-5601-A0F4D3A87E64}"/>
              </a:ext>
            </a:extLst>
          </p:cNvPr>
          <p:cNvSpPr>
            <a:spLocks noGrp="1"/>
          </p:cNvSpPr>
          <p:nvPr>
            <p:ph type="title"/>
          </p:nvPr>
        </p:nvSpPr>
        <p:spPr/>
        <p:txBody>
          <a:bodyPr/>
          <a:lstStyle/>
          <a:p>
            <a:r>
              <a:rPr kumimoji="1" lang="en-US" altLang="ja-JP" dirty="0" err="1"/>
              <a:t>Youtube</a:t>
            </a:r>
            <a:r>
              <a:rPr kumimoji="1" lang="ja-JP" altLang="en-US" dirty="0"/>
              <a:t>自動字幕の話題遷移について</a:t>
            </a:r>
          </a:p>
        </p:txBody>
      </p:sp>
      <p:sp>
        <p:nvSpPr>
          <p:cNvPr id="3" name="コンテンツ プレースホルダー 2">
            <a:extLst>
              <a:ext uri="{FF2B5EF4-FFF2-40B4-BE49-F238E27FC236}">
                <a16:creationId xmlns:a16="http://schemas.microsoft.com/office/drawing/2014/main" id="{B7F8B2A6-9745-793D-5B79-D2760AEA9A38}"/>
              </a:ext>
            </a:extLst>
          </p:cNvPr>
          <p:cNvSpPr>
            <a:spLocks noGrp="1"/>
          </p:cNvSpPr>
          <p:nvPr>
            <p:ph idx="1"/>
          </p:nvPr>
        </p:nvSpPr>
        <p:spPr/>
        <p:txBody>
          <a:bodyPr/>
          <a:lstStyle/>
          <a:p>
            <a:r>
              <a:rPr kumimoji="1" lang="ja-JP" altLang="en-US" dirty="0"/>
              <a:t>３時間弱の配信の開始０分～１５分程度の</a:t>
            </a:r>
            <a:r>
              <a:rPr kumimoji="1" lang="en-US" altLang="ja-JP" dirty="0" err="1"/>
              <a:t>Youtube</a:t>
            </a:r>
            <a:r>
              <a:rPr kumimoji="1" lang="ja-JP" altLang="en-US" dirty="0"/>
              <a:t>字幕からどのような話題遷移をしているのかを目視で調べた。</a:t>
            </a:r>
          </a:p>
        </p:txBody>
      </p:sp>
      <p:sp>
        <p:nvSpPr>
          <p:cNvPr id="4" name="スライド番号プレースホルダー 3">
            <a:extLst>
              <a:ext uri="{FF2B5EF4-FFF2-40B4-BE49-F238E27FC236}">
                <a16:creationId xmlns:a16="http://schemas.microsoft.com/office/drawing/2014/main" id="{D2FAAB4E-9291-D617-6A48-294491363995}"/>
              </a:ext>
            </a:extLst>
          </p:cNvPr>
          <p:cNvSpPr>
            <a:spLocks noGrp="1"/>
          </p:cNvSpPr>
          <p:nvPr>
            <p:ph type="sldNum" sz="quarter" idx="12"/>
          </p:nvPr>
        </p:nvSpPr>
        <p:spPr/>
        <p:txBody>
          <a:bodyPr/>
          <a:lstStyle/>
          <a:p>
            <a:fld id="{27CE633F-9882-4A5C-83A2-1109D0C73261}" type="slidenum">
              <a:rPr lang="en-US" smtClean="0"/>
              <a:t>15</a:t>
            </a:fld>
            <a:endParaRPr lang="en-US"/>
          </a:p>
        </p:txBody>
      </p:sp>
      <p:sp>
        <p:nvSpPr>
          <p:cNvPr id="5" name="正方形/長方形 4">
            <a:extLst>
              <a:ext uri="{FF2B5EF4-FFF2-40B4-BE49-F238E27FC236}">
                <a16:creationId xmlns:a16="http://schemas.microsoft.com/office/drawing/2014/main" id="{43D68BB6-7FAE-5135-B96E-2987F19A10CE}"/>
              </a:ext>
            </a:extLst>
          </p:cNvPr>
          <p:cNvSpPr/>
          <p:nvPr/>
        </p:nvSpPr>
        <p:spPr>
          <a:xfrm>
            <a:off x="2430780" y="3121152"/>
            <a:ext cx="1658112" cy="1146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導入</a:t>
            </a:r>
            <a:endParaRPr kumimoji="1" lang="en-US" altLang="ja-JP" dirty="0"/>
          </a:p>
          <a:p>
            <a:pPr algn="ctr"/>
            <a:r>
              <a:rPr lang="ja-JP" altLang="en-US" dirty="0"/>
              <a:t>今日のビール</a:t>
            </a:r>
            <a:endParaRPr kumimoji="1" lang="ja-JP" altLang="en-US" dirty="0"/>
          </a:p>
        </p:txBody>
      </p:sp>
      <p:sp>
        <p:nvSpPr>
          <p:cNvPr id="6" name="正方形/長方形 5">
            <a:extLst>
              <a:ext uri="{FF2B5EF4-FFF2-40B4-BE49-F238E27FC236}">
                <a16:creationId xmlns:a16="http://schemas.microsoft.com/office/drawing/2014/main" id="{CB8CAD8A-ACC7-5CFF-D538-229F63F979C6}"/>
              </a:ext>
            </a:extLst>
          </p:cNvPr>
          <p:cNvSpPr/>
          <p:nvPr/>
        </p:nvSpPr>
        <p:spPr>
          <a:xfrm>
            <a:off x="5833872" y="3121152"/>
            <a:ext cx="1789176" cy="1146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中小企業診断士の価値</a:t>
            </a:r>
          </a:p>
        </p:txBody>
      </p:sp>
      <p:sp>
        <p:nvSpPr>
          <p:cNvPr id="7" name="正方形/長方形 6">
            <a:extLst>
              <a:ext uri="{FF2B5EF4-FFF2-40B4-BE49-F238E27FC236}">
                <a16:creationId xmlns:a16="http://schemas.microsoft.com/office/drawing/2014/main" id="{D1572245-DB7D-53EF-F34F-FBB831202C13}"/>
              </a:ext>
            </a:extLst>
          </p:cNvPr>
          <p:cNvSpPr/>
          <p:nvPr/>
        </p:nvSpPr>
        <p:spPr>
          <a:xfrm>
            <a:off x="9323832" y="3121152"/>
            <a:ext cx="1789176" cy="1146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洋服デザインと著作権</a:t>
            </a:r>
          </a:p>
        </p:txBody>
      </p:sp>
      <p:sp>
        <p:nvSpPr>
          <p:cNvPr id="8" name="正方形/長方形 7">
            <a:extLst>
              <a:ext uri="{FF2B5EF4-FFF2-40B4-BE49-F238E27FC236}">
                <a16:creationId xmlns:a16="http://schemas.microsoft.com/office/drawing/2014/main" id="{C29828F8-5C56-D7A1-4A5B-984AAC753A6B}"/>
              </a:ext>
            </a:extLst>
          </p:cNvPr>
          <p:cNvSpPr/>
          <p:nvPr/>
        </p:nvSpPr>
        <p:spPr>
          <a:xfrm>
            <a:off x="9813036" y="5030915"/>
            <a:ext cx="1789176" cy="1146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経営者間の紹介の悩み</a:t>
            </a:r>
          </a:p>
        </p:txBody>
      </p:sp>
      <p:sp>
        <p:nvSpPr>
          <p:cNvPr id="9" name="正方形/長方形 8">
            <a:extLst>
              <a:ext uri="{FF2B5EF4-FFF2-40B4-BE49-F238E27FC236}">
                <a16:creationId xmlns:a16="http://schemas.microsoft.com/office/drawing/2014/main" id="{C94EA27F-9308-111C-20AB-ADA8EAA60E93}"/>
              </a:ext>
            </a:extLst>
          </p:cNvPr>
          <p:cNvSpPr/>
          <p:nvPr/>
        </p:nvSpPr>
        <p:spPr>
          <a:xfrm>
            <a:off x="7098794" y="5030915"/>
            <a:ext cx="1789176" cy="1146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スタバでの勉強の意義</a:t>
            </a:r>
          </a:p>
        </p:txBody>
      </p:sp>
      <p:sp>
        <p:nvSpPr>
          <p:cNvPr id="10" name="正方形/長方形 9">
            <a:extLst>
              <a:ext uri="{FF2B5EF4-FFF2-40B4-BE49-F238E27FC236}">
                <a16:creationId xmlns:a16="http://schemas.microsoft.com/office/drawing/2014/main" id="{1E7E044F-A480-E069-FC66-DAC23891CEFB}"/>
              </a:ext>
            </a:extLst>
          </p:cNvPr>
          <p:cNvSpPr/>
          <p:nvPr/>
        </p:nvSpPr>
        <p:spPr>
          <a:xfrm>
            <a:off x="4198619" y="5030915"/>
            <a:ext cx="1789176" cy="1146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部活と仕事</a:t>
            </a:r>
            <a:endParaRPr kumimoji="1" lang="en-US" altLang="ja-JP" dirty="0"/>
          </a:p>
          <a:p>
            <a:pPr algn="ctr"/>
            <a:r>
              <a:rPr kumimoji="1" lang="ja-JP" altLang="en-US" dirty="0"/>
              <a:t>の関係</a:t>
            </a:r>
          </a:p>
        </p:txBody>
      </p:sp>
      <p:sp>
        <p:nvSpPr>
          <p:cNvPr id="11" name="正方形/長方形 10">
            <a:extLst>
              <a:ext uri="{FF2B5EF4-FFF2-40B4-BE49-F238E27FC236}">
                <a16:creationId xmlns:a16="http://schemas.microsoft.com/office/drawing/2014/main" id="{056FEAE9-1BE9-73D5-0CF9-469EEA6EA8EC}"/>
              </a:ext>
            </a:extLst>
          </p:cNvPr>
          <p:cNvSpPr/>
          <p:nvPr/>
        </p:nvSpPr>
        <p:spPr>
          <a:xfrm>
            <a:off x="838200" y="5030915"/>
            <a:ext cx="2177796" cy="1146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日本</a:t>
            </a:r>
            <a:r>
              <a:rPr kumimoji="1" lang="ja-JP" altLang="en-US"/>
              <a:t>の歴史教育</a:t>
            </a:r>
            <a:r>
              <a:rPr kumimoji="1" lang="ja-JP" altLang="en-US" dirty="0"/>
              <a:t>への不満</a:t>
            </a:r>
          </a:p>
        </p:txBody>
      </p:sp>
      <p:sp>
        <p:nvSpPr>
          <p:cNvPr id="12" name="矢印: 右 11">
            <a:extLst>
              <a:ext uri="{FF2B5EF4-FFF2-40B4-BE49-F238E27FC236}">
                <a16:creationId xmlns:a16="http://schemas.microsoft.com/office/drawing/2014/main" id="{B7DEBED6-F8D0-F995-BB64-BBAD3CA33717}"/>
              </a:ext>
            </a:extLst>
          </p:cNvPr>
          <p:cNvSpPr/>
          <p:nvPr/>
        </p:nvSpPr>
        <p:spPr>
          <a:xfrm>
            <a:off x="4693920" y="3584448"/>
            <a:ext cx="512064" cy="1706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D63B8D47-5802-D5A9-FF2D-4C2D097C96B3}"/>
              </a:ext>
            </a:extLst>
          </p:cNvPr>
          <p:cNvSpPr/>
          <p:nvPr/>
        </p:nvSpPr>
        <p:spPr>
          <a:xfrm>
            <a:off x="8098536" y="3608832"/>
            <a:ext cx="512064" cy="152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矢印: 右 13">
            <a:extLst>
              <a:ext uri="{FF2B5EF4-FFF2-40B4-BE49-F238E27FC236}">
                <a16:creationId xmlns:a16="http://schemas.microsoft.com/office/drawing/2014/main" id="{D5622435-7D6E-30ED-0EEF-2EDC0A90B21E}"/>
              </a:ext>
            </a:extLst>
          </p:cNvPr>
          <p:cNvSpPr/>
          <p:nvPr/>
        </p:nvSpPr>
        <p:spPr>
          <a:xfrm rot="5400000">
            <a:off x="10254996" y="4547378"/>
            <a:ext cx="461772" cy="2033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矢印: 右 14">
            <a:extLst>
              <a:ext uri="{FF2B5EF4-FFF2-40B4-BE49-F238E27FC236}">
                <a16:creationId xmlns:a16="http://schemas.microsoft.com/office/drawing/2014/main" id="{811410DD-3A8D-533A-7577-BE45B7E250C7}"/>
              </a:ext>
            </a:extLst>
          </p:cNvPr>
          <p:cNvSpPr/>
          <p:nvPr/>
        </p:nvSpPr>
        <p:spPr>
          <a:xfrm rot="10800000" flipV="1">
            <a:off x="9067800" y="5531426"/>
            <a:ext cx="512064" cy="1450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矢印: 右 15">
            <a:extLst>
              <a:ext uri="{FF2B5EF4-FFF2-40B4-BE49-F238E27FC236}">
                <a16:creationId xmlns:a16="http://schemas.microsoft.com/office/drawing/2014/main" id="{FF0F87F4-9A6A-7863-A162-C2DA3410AB0D}"/>
              </a:ext>
            </a:extLst>
          </p:cNvPr>
          <p:cNvSpPr/>
          <p:nvPr/>
        </p:nvSpPr>
        <p:spPr>
          <a:xfrm rot="10800000" flipV="1">
            <a:off x="6242303" y="5490214"/>
            <a:ext cx="512064" cy="1450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矢印: 右 16">
            <a:extLst>
              <a:ext uri="{FF2B5EF4-FFF2-40B4-BE49-F238E27FC236}">
                <a16:creationId xmlns:a16="http://schemas.microsoft.com/office/drawing/2014/main" id="{82A78708-4652-DD6A-F214-F5BB115C91A4}"/>
              </a:ext>
            </a:extLst>
          </p:cNvPr>
          <p:cNvSpPr/>
          <p:nvPr/>
        </p:nvSpPr>
        <p:spPr>
          <a:xfrm rot="10800000" flipV="1">
            <a:off x="3303270" y="5490215"/>
            <a:ext cx="512064" cy="1450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B3306F4D-8698-BB22-8CE3-3FCCCEFA5EA5}"/>
              </a:ext>
            </a:extLst>
          </p:cNvPr>
          <p:cNvSpPr txBox="1"/>
          <p:nvPr/>
        </p:nvSpPr>
        <p:spPr>
          <a:xfrm>
            <a:off x="1927098" y="6374154"/>
            <a:ext cx="9220029" cy="369332"/>
          </a:xfrm>
          <a:prstGeom prst="rect">
            <a:avLst/>
          </a:prstGeom>
          <a:noFill/>
        </p:spPr>
        <p:txBody>
          <a:bodyPr wrap="square" rtlCol="0">
            <a:spAutoFit/>
          </a:bodyPr>
          <a:lstStyle/>
          <a:p>
            <a:r>
              <a:rPr lang="ja-JP" altLang="en-US" dirty="0"/>
              <a:t>視聴者からの質問コメントを拾って話題を進めていくため話題間での関連性はほぼない</a:t>
            </a:r>
            <a:endParaRPr kumimoji="1" lang="ja-JP" altLang="en-US" dirty="0"/>
          </a:p>
        </p:txBody>
      </p:sp>
    </p:spTree>
    <p:extLst>
      <p:ext uri="{BB962C8B-B14F-4D97-AF65-F5344CB8AC3E}">
        <p14:creationId xmlns:p14="http://schemas.microsoft.com/office/powerpoint/2010/main" val="2308860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8505B2-EA85-46B9-7739-A9A6A33FDA6F}"/>
              </a:ext>
            </a:extLst>
          </p:cNvPr>
          <p:cNvSpPr>
            <a:spLocks noGrp="1"/>
          </p:cNvSpPr>
          <p:nvPr>
            <p:ph type="title"/>
          </p:nvPr>
        </p:nvSpPr>
        <p:spPr/>
        <p:txBody>
          <a:bodyPr/>
          <a:lstStyle/>
          <a:p>
            <a:r>
              <a:rPr kumimoji="1" lang="ja-JP" altLang="en-US" dirty="0"/>
              <a:t>１つの話題の中での内訳</a:t>
            </a:r>
          </a:p>
        </p:txBody>
      </p:sp>
      <p:sp>
        <p:nvSpPr>
          <p:cNvPr id="3" name="コンテンツ プレースホルダー 2">
            <a:extLst>
              <a:ext uri="{FF2B5EF4-FFF2-40B4-BE49-F238E27FC236}">
                <a16:creationId xmlns:a16="http://schemas.microsoft.com/office/drawing/2014/main" id="{90A512EB-8FAA-2600-44C9-45A932370276}"/>
              </a:ext>
            </a:extLst>
          </p:cNvPr>
          <p:cNvSpPr>
            <a:spLocks noGrp="1"/>
          </p:cNvSpPr>
          <p:nvPr>
            <p:ph idx="1"/>
          </p:nvPr>
        </p:nvSpPr>
        <p:spPr/>
        <p:txBody>
          <a:bodyPr/>
          <a:lstStyle/>
          <a:p>
            <a:pPr marL="0" indent="0">
              <a:buNone/>
            </a:pPr>
            <a:endParaRPr kumimoji="1" lang="ja-JP" altLang="en-US" dirty="0"/>
          </a:p>
        </p:txBody>
      </p:sp>
      <p:sp>
        <p:nvSpPr>
          <p:cNvPr id="4" name="スライド番号プレースホルダー 3">
            <a:extLst>
              <a:ext uri="{FF2B5EF4-FFF2-40B4-BE49-F238E27FC236}">
                <a16:creationId xmlns:a16="http://schemas.microsoft.com/office/drawing/2014/main" id="{C417B007-99FA-56D4-3AFD-04B71136164A}"/>
              </a:ext>
            </a:extLst>
          </p:cNvPr>
          <p:cNvSpPr>
            <a:spLocks noGrp="1"/>
          </p:cNvSpPr>
          <p:nvPr>
            <p:ph type="sldNum" sz="quarter" idx="12"/>
          </p:nvPr>
        </p:nvSpPr>
        <p:spPr/>
        <p:txBody>
          <a:bodyPr/>
          <a:lstStyle/>
          <a:p>
            <a:fld id="{27CE633F-9882-4A5C-83A2-1109D0C73261}" type="slidenum">
              <a:rPr lang="en-US" smtClean="0"/>
              <a:t>16</a:t>
            </a:fld>
            <a:endParaRPr lang="en-US" dirty="0"/>
          </a:p>
        </p:txBody>
      </p:sp>
      <p:sp>
        <p:nvSpPr>
          <p:cNvPr id="9" name="正方形/長方形 8">
            <a:extLst>
              <a:ext uri="{FF2B5EF4-FFF2-40B4-BE49-F238E27FC236}">
                <a16:creationId xmlns:a16="http://schemas.microsoft.com/office/drawing/2014/main" id="{98028A85-5F92-CFA7-D6BD-0E01B512EA34}"/>
              </a:ext>
            </a:extLst>
          </p:cNvPr>
          <p:cNvSpPr/>
          <p:nvPr/>
        </p:nvSpPr>
        <p:spPr>
          <a:xfrm>
            <a:off x="4618863" y="1646238"/>
            <a:ext cx="2954274" cy="14748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日本の歴史教育への不満</a:t>
            </a:r>
          </a:p>
        </p:txBody>
      </p:sp>
      <p:sp>
        <p:nvSpPr>
          <p:cNvPr id="12" name="正方形/長方形 11">
            <a:extLst>
              <a:ext uri="{FF2B5EF4-FFF2-40B4-BE49-F238E27FC236}">
                <a16:creationId xmlns:a16="http://schemas.microsoft.com/office/drawing/2014/main" id="{16A87655-1975-B24A-9305-ED5E10572DC1}"/>
              </a:ext>
            </a:extLst>
          </p:cNvPr>
          <p:cNvSpPr/>
          <p:nvPr/>
        </p:nvSpPr>
        <p:spPr>
          <a:xfrm>
            <a:off x="1949196" y="3907188"/>
            <a:ext cx="2177796" cy="1146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日本の歴史教育と戦争責任</a:t>
            </a:r>
          </a:p>
          <a:p>
            <a:pPr algn="ctr"/>
            <a:endParaRPr kumimoji="1" lang="ja-JP" altLang="en-US" dirty="0"/>
          </a:p>
        </p:txBody>
      </p:sp>
      <p:sp>
        <p:nvSpPr>
          <p:cNvPr id="14" name="正方形/長方形 13">
            <a:extLst>
              <a:ext uri="{FF2B5EF4-FFF2-40B4-BE49-F238E27FC236}">
                <a16:creationId xmlns:a16="http://schemas.microsoft.com/office/drawing/2014/main" id="{53C6D96A-44F3-3087-3BF6-27380C8199DE}"/>
              </a:ext>
            </a:extLst>
          </p:cNvPr>
          <p:cNvSpPr/>
          <p:nvPr/>
        </p:nvSpPr>
        <p:spPr>
          <a:xfrm>
            <a:off x="5007102" y="3907188"/>
            <a:ext cx="2177796" cy="1146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政治指導者と国民の関係性</a:t>
            </a:r>
          </a:p>
          <a:p>
            <a:pPr algn="ctr"/>
            <a:endParaRPr kumimoji="1" lang="ja-JP" altLang="en-US" dirty="0"/>
          </a:p>
        </p:txBody>
      </p:sp>
      <p:sp>
        <p:nvSpPr>
          <p:cNvPr id="15" name="正方形/長方形 14">
            <a:extLst>
              <a:ext uri="{FF2B5EF4-FFF2-40B4-BE49-F238E27FC236}">
                <a16:creationId xmlns:a16="http://schemas.microsoft.com/office/drawing/2014/main" id="{FD92C3F5-CBEE-6812-06F9-D781177B1FB7}"/>
              </a:ext>
            </a:extLst>
          </p:cNvPr>
          <p:cNvSpPr/>
          <p:nvPr/>
        </p:nvSpPr>
        <p:spPr>
          <a:xfrm>
            <a:off x="8295894" y="4034856"/>
            <a:ext cx="2177796" cy="10183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歴史認識を巡る</a:t>
            </a:r>
          </a:p>
          <a:p>
            <a:pPr algn="ctr"/>
            <a:r>
              <a:rPr lang="ja-JP" altLang="en-US" b="1" dirty="0"/>
              <a:t>国際対立</a:t>
            </a:r>
          </a:p>
          <a:p>
            <a:pPr algn="ctr"/>
            <a:endParaRPr kumimoji="1" lang="ja-JP" altLang="en-US" dirty="0"/>
          </a:p>
        </p:txBody>
      </p:sp>
      <p:sp>
        <p:nvSpPr>
          <p:cNvPr id="17" name="正方形/長方形 16">
            <a:extLst>
              <a:ext uri="{FF2B5EF4-FFF2-40B4-BE49-F238E27FC236}">
                <a16:creationId xmlns:a16="http://schemas.microsoft.com/office/drawing/2014/main" id="{8556282D-16FF-DD86-0053-2E352E3A6C09}"/>
              </a:ext>
            </a:extLst>
          </p:cNvPr>
          <p:cNvSpPr/>
          <p:nvPr/>
        </p:nvSpPr>
        <p:spPr>
          <a:xfrm>
            <a:off x="5263134" y="5296600"/>
            <a:ext cx="1952625" cy="6530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トランプ大統領</a:t>
            </a:r>
          </a:p>
        </p:txBody>
      </p:sp>
      <p:sp>
        <p:nvSpPr>
          <p:cNvPr id="19" name="正方形/長方形 18">
            <a:extLst>
              <a:ext uri="{FF2B5EF4-FFF2-40B4-BE49-F238E27FC236}">
                <a16:creationId xmlns:a16="http://schemas.microsoft.com/office/drawing/2014/main" id="{2893A69B-C405-D15F-4650-FF6ACEB71033}"/>
              </a:ext>
            </a:extLst>
          </p:cNvPr>
          <p:cNvSpPr/>
          <p:nvPr/>
        </p:nvSpPr>
        <p:spPr>
          <a:xfrm>
            <a:off x="8089582" y="5217273"/>
            <a:ext cx="1952625" cy="7622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ABC</a:t>
            </a:r>
            <a:r>
              <a:rPr lang="ja-JP" altLang="en-US" dirty="0"/>
              <a:t>包囲陣</a:t>
            </a:r>
            <a:endParaRPr kumimoji="1" lang="ja-JP" altLang="en-US" dirty="0"/>
          </a:p>
        </p:txBody>
      </p:sp>
      <p:sp>
        <p:nvSpPr>
          <p:cNvPr id="20" name="正方形/長方形 19">
            <a:extLst>
              <a:ext uri="{FF2B5EF4-FFF2-40B4-BE49-F238E27FC236}">
                <a16:creationId xmlns:a16="http://schemas.microsoft.com/office/drawing/2014/main" id="{F9D23FEE-B1B7-53C1-292A-5DD9E3C5FE3F}"/>
              </a:ext>
            </a:extLst>
          </p:cNvPr>
          <p:cNvSpPr/>
          <p:nvPr/>
        </p:nvSpPr>
        <p:spPr>
          <a:xfrm>
            <a:off x="838200" y="5296600"/>
            <a:ext cx="1828038" cy="6530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アウシュビッツ</a:t>
            </a:r>
            <a:endParaRPr kumimoji="1" lang="ja-JP" altLang="en-US" dirty="0"/>
          </a:p>
        </p:txBody>
      </p:sp>
      <p:sp>
        <p:nvSpPr>
          <p:cNvPr id="23" name="正方形/長方形 22">
            <a:extLst>
              <a:ext uri="{FF2B5EF4-FFF2-40B4-BE49-F238E27FC236}">
                <a16:creationId xmlns:a16="http://schemas.microsoft.com/office/drawing/2014/main" id="{2DF60D37-EC06-9E95-85B5-10DC757430EE}"/>
              </a:ext>
            </a:extLst>
          </p:cNvPr>
          <p:cNvSpPr/>
          <p:nvPr/>
        </p:nvSpPr>
        <p:spPr>
          <a:xfrm>
            <a:off x="2812161" y="5288551"/>
            <a:ext cx="1952625" cy="6530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東条英機</a:t>
            </a:r>
          </a:p>
        </p:txBody>
      </p:sp>
      <p:sp>
        <p:nvSpPr>
          <p:cNvPr id="24" name="正方形/長方形 23">
            <a:extLst>
              <a:ext uri="{FF2B5EF4-FFF2-40B4-BE49-F238E27FC236}">
                <a16:creationId xmlns:a16="http://schemas.microsoft.com/office/drawing/2014/main" id="{2CFED6F2-F9FF-52A2-C309-70A21C050260}"/>
              </a:ext>
            </a:extLst>
          </p:cNvPr>
          <p:cNvSpPr/>
          <p:nvPr/>
        </p:nvSpPr>
        <p:spPr>
          <a:xfrm>
            <a:off x="10188130" y="5217272"/>
            <a:ext cx="1952625" cy="7622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慰安婦問題</a:t>
            </a:r>
            <a:endParaRPr kumimoji="1" lang="ja-JP" altLang="en-US" dirty="0"/>
          </a:p>
        </p:txBody>
      </p:sp>
      <p:cxnSp>
        <p:nvCxnSpPr>
          <p:cNvPr id="26" name="直線矢印コネクタ 25">
            <a:extLst>
              <a:ext uri="{FF2B5EF4-FFF2-40B4-BE49-F238E27FC236}">
                <a16:creationId xmlns:a16="http://schemas.microsoft.com/office/drawing/2014/main" id="{32BB225D-1CB9-66D6-6005-F0BA6700488F}"/>
              </a:ext>
            </a:extLst>
          </p:cNvPr>
          <p:cNvCxnSpPr/>
          <p:nvPr/>
        </p:nvCxnSpPr>
        <p:spPr>
          <a:xfrm flipH="1">
            <a:off x="3633216" y="3121089"/>
            <a:ext cx="985647" cy="634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6FFD3C89-BCB7-8118-0244-6C3A923AC5A7}"/>
              </a:ext>
            </a:extLst>
          </p:cNvPr>
          <p:cNvCxnSpPr>
            <a:cxnSpLocks/>
          </p:cNvCxnSpPr>
          <p:nvPr/>
        </p:nvCxnSpPr>
        <p:spPr>
          <a:xfrm>
            <a:off x="5864352" y="3197115"/>
            <a:ext cx="0" cy="575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EFCCFB6D-71F9-CA54-FF59-7F2020C36D35}"/>
              </a:ext>
            </a:extLst>
          </p:cNvPr>
          <p:cNvCxnSpPr>
            <a:cxnSpLocks/>
          </p:cNvCxnSpPr>
          <p:nvPr/>
        </p:nvCxnSpPr>
        <p:spPr>
          <a:xfrm>
            <a:off x="7573137" y="3197115"/>
            <a:ext cx="863727" cy="575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3CFC3290-5088-7023-0328-2E0721BD5457}"/>
              </a:ext>
            </a:extLst>
          </p:cNvPr>
          <p:cNvCxnSpPr/>
          <p:nvPr/>
        </p:nvCxnSpPr>
        <p:spPr>
          <a:xfrm flipH="1">
            <a:off x="1225486" y="4571241"/>
            <a:ext cx="985647" cy="634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1C1A1A2F-2E49-B78C-03E7-7CA6E473382D}"/>
              </a:ext>
            </a:extLst>
          </p:cNvPr>
          <p:cNvCxnSpPr>
            <a:cxnSpLocks/>
          </p:cNvCxnSpPr>
          <p:nvPr/>
        </p:nvCxnSpPr>
        <p:spPr>
          <a:xfrm flipH="1">
            <a:off x="3788473" y="4583225"/>
            <a:ext cx="235268" cy="705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137F9EB3-0BC6-6820-EFE0-AAF2C1E78EEB}"/>
              </a:ext>
            </a:extLst>
          </p:cNvPr>
          <p:cNvCxnSpPr>
            <a:cxnSpLocks/>
          </p:cNvCxnSpPr>
          <p:nvPr/>
        </p:nvCxnSpPr>
        <p:spPr>
          <a:xfrm>
            <a:off x="5991034" y="4594387"/>
            <a:ext cx="231648" cy="707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25A69972-3405-1D9D-2C64-A84E9758C7C7}"/>
              </a:ext>
            </a:extLst>
          </p:cNvPr>
          <p:cNvCxnSpPr/>
          <p:nvPr/>
        </p:nvCxnSpPr>
        <p:spPr>
          <a:xfrm flipH="1">
            <a:off x="8556116" y="4554126"/>
            <a:ext cx="985647" cy="634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3947038C-F147-1F23-573A-6F0BD913A212}"/>
              </a:ext>
            </a:extLst>
          </p:cNvPr>
          <p:cNvCxnSpPr>
            <a:cxnSpLocks/>
          </p:cNvCxnSpPr>
          <p:nvPr/>
        </p:nvCxnSpPr>
        <p:spPr>
          <a:xfrm>
            <a:off x="9752648" y="4354531"/>
            <a:ext cx="1084707" cy="8271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3331822"/>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Univers">
      <a:majorFont>
        <a:latin typeface="Yu Mincho Demibold"/>
        <a:ea typeface=""/>
        <a:cs typeface=""/>
      </a:majorFont>
      <a:minorFont>
        <a:latin typeface="Yu Minch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10439</TotalTime>
  <Words>591</Words>
  <Application>Microsoft Office PowerPoint</Application>
  <PresentationFormat>ワイド画面</PresentationFormat>
  <Paragraphs>135</Paragraphs>
  <Slides>16</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16</vt:i4>
      </vt:variant>
    </vt:vector>
  </HeadingPairs>
  <TitlesOfParts>
    <vt:vector size="23" baseType="lpstr">
      <vt:lpstr>Arial Unicode MS</vt:lpstr>
      <vt:lpstr>游ゴシック</vt:lpstr>
      <vt:lpstr>Yu Mincho</vt:lpstr>
      <vt:lpstr>Yu Mincho Demibold</vt:lpstr>
      <vt:lpstr>Arial</vt:lpstr>
      <vt:lpstr>Univers</vt:lpstr>
      <vt:lpstr>GradientVTI</vt:lpstr>
      <vt:lpstr>進捗報告</vt:lpstr>
      <vt:lpstr>進捗 </vt:lpstr>
      <vt:lpstr>研究背景</vt:lpstr>
      <vt:lpstr>研究目的</vt:lpstr>
      <vt:lpstr>Instruct-V2Xumの構築</vt:lpstr>
      <vt:lpstr>提案手法</vt:lpstr>
      <vt:lpstr>提案手法</vt:lpstr>
      <vt:lpstr>提案手法</vt:lpstr>
      <vt:lpstr>提案手法</vt:lpstr>
      <vt:lpstr>提案手法</vt:lpstr>
      <vt:lpstr>提案手法</vt:lpstr>
      <vt:lpstr>提案手法</vt:lpstr>
      <vt:lpstr>実験方法</vt:lpstr>
      <vt:lpstr>実験結果</vt:lpstr>
      <vt:lpstr>Youtube自動字幕の話題遷移について</vt:lpstr>
      <vt:lpstr>１つの話題の中での内訳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昇汰 三輪</dc:creator>
  <cp:lastModifiedBy>昇汰 三輪</cp:lastModifiedBy>
  <cp:revision>5</cp:revision>
  <dcterms:created xsi:type="dcterms:W3CDTF">2025-05-18T22:20:18Z</dcterms:created>
  <dcterms:modified xsi:type="dcterms:W3CDTF">2025-07-01T12:04:37Z</dcterms:modified>
</cp:coreProperties>
</file>