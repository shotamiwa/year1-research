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95" r:id="rId3"/>
    <p:sldId id="296" r:id="rId4"/>
  </p:sldIdLst>
  <p:sldSz cx="12192000" cy="6858000"/>
  <p:notesSz cx="6858000" cy="9144000"/>
  <p:embeddedFontLst>
    <p:embeddedFont>
      <p:font typeface="Open Sans" panose="020B0606030504020204" pitchFamily="34" charset="0"/>
      <p:regular r:id="rId6"/>
      <p:bold r:id="rId7"/>
      <p:italic r:id="rId8"/>
      <p:boldItalic r:id="rId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9" roundtripDataSignature="AMtx7miSP1TDKl9SlnSq0ofYxIRhWNpP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2D16252-574D-44B4-B3B2-BC42012E9720}" v="88" dt="2025-10-26T05:56:38.92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25" autoAdjust="0"/>
    <p:restoredTop sz="74182" autoAdjust="0"/>
  </p:normalViewPr>
  <p:slideViewPr>
    <p:cSldViewPr snapToGrid="0">
      <p:cViewPr varScale="1">
        <p:scale>
          <a:sx n="82" d="100"/>
          <a:sy n="82" d="100"/>
        </p:scale>
        <p:origin x="15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3" Type="http://schemas.openxmlformats.org/officeDocument/2006/relationships/slide" Target="slides/slide2.xml"/><Relationship Id="rId34" Type="http://schemas.microsoft.com/office/2015/10/relationships/revisionInfo" Target="revisionInfo.xml"/><Relationship Id="rId7" Type="http://schemas.openxmlformats.org/officeDocument/2006/relationships/font" Target="fonts/font2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29" Type="http://customschemas.google.com/relationships/presentationmetadata" Target="NUL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32" Type="http://schemas.openxmlformats.org/officeDocument/2006/relationships/theme" Target="theme/theme1.xml"/><Relationship Id="rId5" Type="http://schemas.openxmlformats.org/officeDocument/2006/relationships/notesMaster" Target="notesMasters/notesMaster1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font" Target="fonts/font4.fntdata"/><Relationship Id="rId3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7" name="Google Shape;9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ja-JP" sz="1200" b="1" i="0" u="none" strike="noStrike" cap="none" dirty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Heatmap:</a:t>
            </a:r>
            <a:r>
              <a:rPr lang="ja-JP" altLang="en-US" sz="1200" b="1" i="0" u="none" strike="noStrike" cap="none" dirty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視聴者が動画のどの部分を繰り返し見ているか、または飛ばしているかが時間区間ごとにスコア化されたもの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lang="en-US"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04322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b" anchorCtr="0">
            <a:noAutofit/>
          </a:bodyPr>
          <a:lstStyle>
            <a:lvl1pPr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5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t" anchorCtr="0">
            <a:noAutofit/>
          </a:bodyPr>
          <a:lstStyle>
            <a:lvl1pPr lv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1" name="Google Shape;21;p5"/>
          <p:cNvCxnSpPr/>
          <p:nvPr/>
        </p:nvCxnSpPr>
        <p:spPr>
          <a:xfrm>
            <a:off x="715890" y="1114050"/>
            <a:ext cx="0" cy="5735637"/>
          </a:xfrm>
          <a:prstGeom prst="straightConnector1">
            <a:avLst/>
          </a:prstGeom>
          <a:noFill/>
          <a:ln w="25400" cap="sq" cmpd="sng">
            <a:solidFill>
              <a:schemeClr val="accent2"/>
            </a:solidFill>
            <a:prstDash val="solid"/>
            <a:bevel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ctr" anchorCtr="0">
            <a:noAutofit/>
          </a:bodyPr>
          <a:lstStyle>
            <a:lvl1pPr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t" anchorCtr="0">
            <a:noAutofit/>
          </a:bodyPr>
          <a:lstStyle>
            <a:lvl1pPr marL="457200" lvl="0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" name="Google Shape;25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8" name="Google Shape;28;p6"/>
          <p:cNvCxnSpPr/>
          <p:nvPr/>
        </p:nvCxnSpPr>
        <p:spPr>
          <a:xfrm>
            <a:off x="715890" y="356812"/>
            <a:ext cx="0" cy="6492875"/>
          </a:xfrm>
          <a:prstGeom prst="straightConnector1">
            <a:avLst/>
          </a:prstGeom>
          <a:noFill/>
          <a:ln w="25400" cap="sq" cmpd="sng">
            <a:solidFill>
              <a:schemeClr val="accent2"/>
            </a:solidFill>
            <a:prstDash val="solid"/>
            <a:bevel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b" anchorCtr="0">
            <a:noAutofit/>
          </a:bodyPr>
          <a:lstStyle>
            <a:lvl1pPr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1" i="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t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35" name="Google Shape;35;p7"/>
          <p:cNvCxnSpPr/>
          <p:nvPr/>
        </p:nvCxnSpPr>
        <p:spPr>
          <a:xfrm>
            <a:off x="715890" y="1701425"/>
            <a:ext cx="0" cy="5148262"/>
          </a:xfrm>
          <a:prstGeom prst="straightConnector1">
            <a:avLst/>
          </a:prstGeom>
          <a:noFill/>
          <a:ln w="25400" cap="sq" cmpd="sng">
            <a:solidFill>
              <a:schemeClr val="accent2"/>
            </a:solidFill>
            <a:prstDash val="solid"/>
            <a:bevel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ctr" anchorCtr="0">
            <a:noAutofit/>
          </a:bodyPr>
          <a:lstStyle>
            <a:lvl1pPr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t" anchorCtr="0">
            <a:noAutofit/>
          </a:bodyPr>
          <a:lstStyle>
            <a:lvl1pPr marL="457200" lvl="0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t" anchorCtr="0">
            <a:noAutofit/>
          </a:bodyPr>
          <a:lstStyle>
            <a:lvl1pPr marL="457200" lvl="0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43" name="Google Shape;43;p8"/>
          <p:cNvCxnSpPr/>
          <p:nvPr/>
        </p:nvCxnSpPr>
        <p:spPr>
          <a:xfrm>
            <a:off x="715890" y="356812"/>
            <a:ext cx="0" cy="6492875"/>
          </a:xfrm>
          <a:prstGeom prst="straightConnector1">
            <a:avLst/>
          </a:prstGeom>
          <a:noFill/>
          <a:ln w="25400" cap="sq" cmpd="sng">
            <a:solidFill>
              <a:schemeClr val="accent2"/>
            </a:solidFill>
            <a:prstDash val="solid"/>
            <a:bevel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ctr" anchorCtr="0">
            <a:noAutofit/>
          </a:bodyPr>
          <a:lstStyle>
            <a:lvl1pPr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b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t" anchorCtr="0">
            <a:noAutofit/>
          </a:bodyPr>
          <a:lstStyle>
            <a:lvl1pPr marL="457200" lvl="0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b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t" anchorCtr="0">
            <a:noAutofit/>
          </a:bodyPr>
          <a:lstStyle>
            <a:lvl1pPr marL="457200" lvl="0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53" name="Google Shape;53;p9"/>
          <p:cNvCxnSpPr/>
          <p:nvPr/>
        </p:nvCxnSpPr>
        <p:spPr>
          <a:xfrm>
            <a:off x="715890" y="356812"/>
            <a:ext cx="0" cy="6492875"/>
          </a:xfrm>
          <a:prstGeom prst="straightConnector1">
            <a:avLst/>
          </a:prstGeom>
          <a:noFill/>
          <a:ln w="25400" cap="sq" cmpd="sng">
            <a:solidFill>
              <a:schemeClr val="accent2"/>
            </a:solidFill>
            <a:prstDash val="solid"/>
            <a:bevel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ctr" anchorCtr="0">
            <a:noAutofit/>
          </a:bodyPr>
          <a:lstStyle>
            <a:lvl1pPr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59" name="Google Shape;59;p10"/>
          <p:cNvCxnSpPr/>
          <p:nvPr/>
        </p:nvCxnSpPr>
        <p:spPr>
          <a:xfrm>
            <a:off x="715890" y="356812"/>
            <a:ext cx="0" cy="6492875"/>
          </a:xfrm>
          <a:prstGeom prst="straightConnector1">
            <a:avLst/>
          </a:prstGeom>
          <a:noFill/>
          <a:ln w="25400" cap="sq" cmpd="sng">
            <a:solidFill>
              <a:schemeClr val="accent2"/>
            </a:solidFill>
            <a:prstDash val="solid"/>
            <a:bevel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64" name="Google Shape;64;p11"/>
          <p:cNvCxnSpPr/>
          <p:nvPr/>
        </p:nvCxnSpPr>
        <p:spPr>
          <a:xfrm>
            <a:off x="715890" y="356812"/>
            <a:ext cx="0" cy="6492875"/>
          </a:xfrm>
          <a:prstGeom prst="straightConnector1">
            <a:avLst/>
          </a:prstGeom>
          <a:noFill/>
          <a:ln w="25400" cap="sq" cmpd="sng">
            <a:solidFill>
              <a:schemeClr val="accent2"/>
            </a:solidFill>
            <a:prstDash val="solid"/>
            <a:bevel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b" anchorCtr="0">
            <a:noAutofit/>
          </a:bodyPr>
          <a:lstStyle>
            <a:lvl1pPr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2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t" anchorCtr="0">
            <a:noAutofit/>
          </a:bodyPr>
          <a:lstStyle>
            <a:lvl1pPr marL="457200" lvl="0" indent="-4318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8" name="Google Shape;68;p12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t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72" name="Google Shape;72;p12"/>
          <p:cNvCxnSpPr/>
          <p:nvPr/>
        </p:nvCxnSpPr>
        <p:spPr>
          <a:xfrm>
            <a:off x="715890" y="356812"/>
            <a:ext cx="0" cy="6492875"/>
          </a:xfrm>
          <a:prstGeom prst="straightConnector1">
            <a:avLst/>
          </a:prstGeom>
          <a:noFill/>
          <a:ln w="25400" cap="sq" cmpd="sng">
            <a:solidFill>
              <a:schemeClr val="accent2"/>
            </a:solidFill>
            <a:prstDash val="solid"/>
            <a:bevel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b" anchorCtr="0">
            <a:noAutofit/>
          </a:bodyPr>
          <a:lstStyle>
            <a:lvl1pPr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3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13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t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80" name="Google Shape;80;p13"/>
          <p:cNvCxnSpPr/>
          <p:nvPr/>
        </p:nvCxnSpPr>
        <p:spPr>
          <a:xfrm>
            <a:off x="715890" y="356812"/>
            <a:ext cx="0" cy="6492875"/>
          </a:xfrm>
          <a:prstGeom prst="straightConnector1">
            <a:avLst/>
          </a:prstGeom>
          <a:noFill/>
          <a:ln w="25400" cap="sq" cmpd="sng">
            <a:solidFill>
              <a:schemeClr val="accent2"/>
            </a:solidFill>
            <a:prstDash val="solid"/>
            <a:bevel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ctr" anchorCtr="0">
            <a:noAutofit/>
          </a:bodyPr>
          <a:lstStyle>
            <a:lvl1pPr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4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t" anchorCtr="0">
            <a:noAutofit/>
          </a:bodyPr>
          <a:lstStyle>
            <a:lvl1pPr marL="457200" lvl="0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87" name="Google Shape;87;p14"/>
          <p:cNvCxnSpPr/>
          <p:nvPr/>
        </p:nvCxnSpPr>
        <p:spPr>
          <a:xfrm>
            <a:off x="715890" y="356812"/>
            <a:ext cx="0" cy="6492875"/>
          </a:xfrm>
          <a:prstGeom prst="straightConnector1">
            <a:avLst/>
          </a:prstGeom>
          <a:noFill/>
          <a:ln w="25400" cap="sq" cmpd="sng">
            <a:solidFill>
              <a:schemeClr val="accent2"/>
            </a:solidFill>
            <a:prstDash val="solid"/>
            <a:bevel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5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ctr" anchorCtr="0">
            <a:noAutofit/>
          </a:bodyPr>
          <a:lstStyle>
            <a:lvl1pPr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5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t" anchorCtr="0">
            <a:noAutofit/>
          </a:bodyPr>
          <a:lstStyle>
            <a:lvl1pPr marL="457200" lvl="0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94" name="Google Shape;94;p15"/>
          <p:cNvCxnSpPr/>
          <p:nvPr/>
        </p:nvCxnSpPr>
        <p:spPr>
          <a:xfrm rot="10800000" flipH="1">
            <a:off x="8313" y="261865"/>
            <a:ext cx="11353802" cy="1"/>
          </a:xfrm>
          <a:prstGeom prst="straightConnector1">
            <a:avLst/>
          </a:prstGeom>
          <a:noFill/>
          <a:ln w="25400" cap="sq" cmpd="sng">
            <a:solidFill>
              <a:schemeClr val="accent2"/>
            </a:solidFill>
            <a:prstDash val="solid"/>
            <a:bevel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ctr" anchorCtr="0">
            <a:noAutofit/>
          </a:bodyPr>
          <a:lstStyle>
            <a:lvl1pPr marR="0" lvl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t" anchorCtr="0">
            <a:noAutofit/>
          </a:bodyPr>
          <a:lstStyle>
            <a:lvl1pPr marL="457200" marR="0" lvl="0" indent="-4064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1"/>
          <p:cNvSpPr/>
          <p:nvPr/>
        </p:nvSpPr>
        <p:spPr>
          <a:xfrm>
            <a:off x="8878" y="0"/>
            <a:ext cx="12192000" cy="68580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accent4"/>
              </a:gs>
            </a:gsLst>
            <a:lin ang="189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2" name="Google Shape;102;p1"/>
          <p:cNvSpPr txBox="1">
            <a:spLocks noGrp="1"/>
          </p:cNvSpPr>
          <p:nvPr>
            <p:ph type="ctrTitle"/>
          </p:nvPr>
        </p:nvSpPr>
        <p:spPr>
          <a:xfrm>
            <a:off x="1256275" y="2271449"/>
            <a:ext cx="9679449" cy="28470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b" anchorCtr="0">
            <a:norm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Arial"/>
              <a:buNone/>
            </a:pPr>
            <a:r>
              <a:rPr lang="ja-JP" altLang="en-US" sz="7200" dirty="0">
                <a:solidFill>
                  <a:srgbClr val="FFFFFF"/>
                </a:solidFill>
              </a:rPr>
              <a:t>今後の展望</a:t>
            </a:r>
            <a:endParaRPr dirty="0"/>
          </a:p>
        </p:txBody>
      </p:sp>
      <p:sp>
        <p:nvSpPr>
          <p:cNvPr id="103" name="Google Shape;103;p1"/>
          <p:cNvSpPr txBox="1">
            <a:spLocks noGrp="1"/>
          </p:cNvSpPr>
          <p:nvPr>
            <p:ph type="subTitle" idx="1"/>
          </p:nvPr>
        </p:nvSpPr>
        <p:spPr>
          <a:xfrm>
            <a:off x="1256275" y="5098254"/>
            <a:ext cx="9679449" cy="7502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ctr" anchorCtr="0">
            <a:norm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</a:pPr>
            <a:r>
              <a:rPr lang="en-US" dirty="0">
                <a:solidFill>
                  <a:srgbClr val="FFFFFF"/>
                </a:solidFill>
              </a:rPr>
              <a:t>Al21120　三輪昇汰　202</a:t>
            </a:r>
            <a:r>
              <a:rPr lang="en-US" altLang="ja-JP" dirty="0">
                <a:solidFill>
                  <a:srgbClr val="FFFFFF"/>
                </a:solidFill>
              </a:rPr>
              <a:t>6</a:t>
            </a:r>
            <a:r>
              <a:rPr lang="en-US" dirty="0">
                <a:solidFill>
                  <a:srgbClr val="FFFFFF"/>
                </a:solidFill>
              </a:rPr>
              <a:t>/ 4/ 09</a:t>
            </a:r>
            <a:endParaRPr dirty="0">
              <a:solidFill>
                <a:srgbClr val="FFFFFF"/>
              </a:solidFill>
            </a:endParaRPr>
          </a:p>
        </p:txBody>
      </p:sp>
      <p:cxnSp>
        <p:nvCxnSpPr>
          <p:cNvPr id="104" name="Google Shape;104;p1"/>
          <p:cNvCxnSpPr/>
          <p:nvPr/>
        </p:nvCxnSpPr>
        <p:spPr>
          <a:xfrm>
            <a:off x="8878" y="806470"/>
            <a:ext cx="8453437" cy="0"/>
          </a:xfrm>
          <a:prstGeom prst="straightConnector1">
            <a:avLst/>
          </a:prstGeom>
          <a:noFill/>
          <a:ln w="25400" cap="sq" cmpd="sng">
            <a:solidFill>
              <a:srgbClr val="FFFFFF"/>
            </a:solidFill>
            <a:prstDash val="solid"/>
            <a:bevel/>
            <a:headEnd type="none" w="sm" len="sm"/>
            <a:tailEnd type="none" w="sm" len="sm"/>
          </a:ln>
        </p:spPr>
      </p:cxnSp>
      <p:sp>
        <p:nvSpPr>
          <p:cNvPr id="105" name="Google Shape;105;p1"/>
          <p:cNvSpPr/>
          <p:nvPr/>
        </p:nvSpPr>
        <p:spPr>
          <a:xfrm>
            <a:off x="544954" y="2875093"/>
            <a:ext cx="139039" cy="139039"/>
          </a:xfrm>
          <a:custGeom>
            <a:avLst/>
            <a:gdLst/>
            <a:ahLst/>
            <a:cxnLst/>
            <a:rect l="l" t="t" r="r" b="b"/>
            <a:pathLst>
              <a:path w="139039" h="139039" extrusionOk="0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6" name="Google Shape;106;p1"/>
          <p:cNvSpPr/>
          <p:nvPr/>
        </p:nvSpPr>
        <p:spPr>
          <a:xfrm>
            <a:off x="903734" y="3104388"/>
            <a:ext cx="91138" cy="91138"/>
          </a:xfrm>
          <a:custGeom>
            <a:avLst/>
            <a:gdLst/>
            <a:ahLst/>
            <a:cxnLst/>
            <a:rect l="l" t="t" r="r" b="b"/>
            <a:pathLst>
              <a:path w="91138" h="91138" extrusionOk="0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7" name="Google Shape;107;p1"/>
          <p:cNvSpPr/>
          <p:nvPr/>
        </p:nvSpPr>
        <p:spPr>
          <a:xfrm>
            <a:off x="529414" y="3619532"/>
            <a:ext cx="127714" cy="127714"/>
          </a:xfrm>
          <a:custGeom>
            <a:avLst/>
            <a:gdLst/>
            <a:ahLst/>
            <a:cxnLst/>
            <a:rect l="l" t="t" r="r" b="b"/>
            <a:pathLst>
              <a:path w="127714" h="127714" extrusionOk="0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8" name="Google Shape;108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B8946A-99D3-9BF6-110D-C8AA447F3E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今後の展望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E916394-CE7E-8029-68B7-C00E05FEAA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344978"/>
            <a:ext cx="10515600" cy="5513021"/>
          </a:xfrm>
        </p:spPr>
        <p:txBody>
          <a:bodyPr/>
          <a:lstStyle/>
          <a:p>
            <a:r>
              <a:rPr lang="ja-JP" altLang="en-US" sz="2400" b="1" dirty="0"/>
              <a:t>注目度の定義とスコア化</a:t>
            </a:r>
            <a:endParaRPr lang="ja-JP" altLang="en-US" sz="2400" dirty="0"/>
          </a:p>
          <a:p>
            <a:r>
              <a:rPr lang="ja-JP" altLang="en-US" sz="2000" dirty="0"/>
              <a:t>各トピック区間に対してコメント密度を計算</a:t>
            </a:r>
            <a:br>
              <a:rPr lang="ja-JP" altLang="en-US" sz="2000" dirty="0"/>
            </a:br>
            <a:r>
              <a:rPr lang="ja-JP" altLang="en-US" sz="2000" dirty="0"/>
              <a:t>→ 注目度スコアとして利用 </a:t>
            </a:r>
          </a:p>
          <a:p>
            <a:r>
              <a:rPr lang="ja-JP" altLang="en-US" sz="2400" b="1" dirty="0"/>
              <a:t>コメント密度以外の特徴量の拡張</a:t>
            </a:r>
            <a:endParaRPr lang="ja-JP" altLang="en-US" sz="2400" dirty="0"/>
          </a:p>
          <a:p>
            <a:r>
              <a:rPr lang="ja-JP" altLang="en-US" sz="2000" dirty="0"/>
              <a:t>コメント感情 、特定語の出現頻度 などを追加</a:t>
            </a:r>
          </a:p>
          <a:p>
            <a:endParaRPr kumimoji="1" lang="ja-JP" altLang="en-US" sz="2000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6D0F7AD-B2FC-3E97-36D6-53CE5247F89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0126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1D91D2-A086-2372-6BF6-22866A4A23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8A1BC93-C86B-4F67-605B-E6D1EA804F1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</a:t>
            </a:fld>
            <a:endParaRPr lang="en-US"/>
          </a:p>
        </p:txBody>
      </p:sp>
      <p:sp>
        <p:nvSpPr>
          <p:cNvPr id="6" name="テキスト プレースホルダー 5">
            <a:extLst>
              <a:ext uri="{FF2B5EF4-FFF2-40B4-BE49-F238E27FC236}">
                <a16:creationId xmlns:a16="http://schemas.microsoft.com/office/drawing/2014/main" id="{00B01B4E-C162-E9C3-D752-F276452878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008185"/>
            <a:ext cx="10515600" cy="6145333"/>
          </a:xfrm>
        </p:spPr>
        <p:txBody>
          <a:bodyPr/>
          <a:lstStyle/>
          <a:p>
            <a:r>
              <a:rPr lang="ja-JP" altLang="en-US" b="1" dirty="0"/>
              <a:t>定量評価</a:t>
            </a:r>
            <a:endParaRPr lang="ja-JP" altLang="en-US" dirty="0"/>
          </a:p>
          <a:p>
            <a:pPr lvl="1"/>
            <a:r>
              <a:rPr lang="ja-JP" altLang="en-US" sz="2000" dirty="0"/>
              <a:t>話題セグメントを注目度順にソートした結果が</a:t>
            </a:r>
            <a:r>
              <a:rPr lang="en-US" altLang="ja-JP" sz="2000" dirty="0" err="1"/>
              <a:t>Youtube</a:t>
            </a:r>
            <a:r>
              <a:rPr lang="ja-JP" altLang="en-US" sz="2000" dirty="0"/>
              <a:t>の</a:t>
            </a:r>
            <a:r>
              <a:rPr lang="en-US" altLang="ja-JP" sz="2000" dirty="0"/>
              <a:t>heatmap</a:t>
            </a:r>
            <a:r>
              <a:rPr lang="ja-JP" altLang="en-US" sz="2000" dirty="0"/>
              <a:t>の情報との一致するかを評価</a:t>
            </a:r>
          </a:p>
          <a:p>
            <a:r>
              <a:rPr lang="ja-JP" altLang="en-US" sz="2000" b="1" dirty="0"/>
              <a:t>評価の目的　→　拡張する特徴量の取捨選択</a:t>
            </a:r>
            <a:endParaRPr lang="ja-JP" altLang="en-US" sz="2000" dirty="0"/>
          </a:p>
          <a:p>
            <a:pPr lvl="1"/>
            <a:r>
              <a:rPr lang="ja-JP" altLang="en-US" sz="2000" dirty="0"/>
              <a:t>特徴量を</a:t>
            </a:r>
            <a:r>
              <a:rPr lang="en-US" altLang="ja-JP" sz="2000" dirty="0"/>
              <a:t>1</a:t>
            </a:r>
            <a:r>
              <a:rPr lang="ja-JP" altLang="en-US" sz="2000" dirty="0"/>
              <a:t>つずつ追加 </a:t>
            </a:r>
          </a:p>
          <a:p>
            <a:pPr lvl="1"/>
            <a:r>
              <a:rPr lang="ja-JP" altLang="en-US" sz="2000" dirty="0"/>
              <a:t>評価が向上した場合のみ採用 </a:t>
            </a:r>
          </a:p>
          <a:p>
            <a:pPr lvl="1"/>
            <a:r>
              <a:rPr lang="ja-JP" altLang="en-US" sz="2000" dirty="0"/>
              <a:t>→ 有効な要素だけ残す</a:t>
            </a:r>
          </a:p>
          <a:p>
            <a:r>
              <a:rPr lang="ja-JP" altLang="en-US" b="1" dirty="0"/>
              <a:t>定性評価</a:t>
            </a:r>
            <a:endParaRPr lang="ja-JP" altLang="en-US" dirty="0"/>
          </a:p>
          <a:p>
            <a:pPr lvl="1"/>
            <a:r>
              <a:rPr lang="ja-JP" altLang="en-US" sz="2000" dirty="0"/>
              <a:t>評価の目的 → 面白さ・切り抜きとしての妥当性を人手評価 </a:t>
            </a:r>
          </a:p>
          <a:p>
            <a:r>
              <a:rPr lang="ja-JP" altLang="en-US" sz="2000" b="1" dirty="0"/>
              <a:t>比較手法</a:t>
            </a:r>
            <a:endParaRPr lang="ja-JP" altLang="en-US" sz="2000" dirty="0"/>
          </a:p>
          <a:p>
            <a:pPr lvl="1"/>
            <a:r>
              <a:rPr lang="ja-JP" altLang="en-US" sz="2000" dirty="0"/>
              <a:t>コメント密度のみ（ベース） </a:t>
            </a:r>
          </a:p>
          <a:p>
            <a:pPr lvl="1"/>
            <a:r>
              <a:rPr lang="ja-JP" altLang="en-US" sz="2000" dirty="0"/>
              <a:t>拡張後モデル </a:t>
            </a:r>
          </a:p>
          <a:p>
            <a:pPr lvl="1"/>
            <a:r>
              <a:rPr lang="ja-JP" altLang="en-US" sz="2000" dirty="0"/>
              <a:t>ランダム</a:t>
            </a:r>
          </a:p>
          <a:p>
            <a:endParaRPr lang="ja-JP" altLang="en-US" sz="2000" dirty="0"/>
          </a:p>
        </p:txBody>
      </p:sp>
      <p:sp>
        <p:nvSpPr>
          <p:cNvPr id="9" name="タイトル 1">
            <a:extLst>
              <a:ext uri="{FF2B5EF4-FFF2-40B4-BE49-F238E27FC236}">
                <a16:creationId xmlns:a16="http://schemas.microsoft.com/office/drawing/2014/main" id="{477A9B35-2BAA-7C37-6595-FF64965183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評価実験について</a:t>
            </a:r>
          </a:p>
        </p:txBody>
      </p:sp>
    </p:spTree>
    <p:extLst>
      <p:ext uri="{BB962C8B-B14F-4D97-AF65-F5344CB8AC3E}">
        <p14:creationId xmlns:p14="http://schemas.microsoft.com/office/powerpoint/2010/main" val="396718475"/>
      </p:ext>
    </p:extLst>
  </p:cSld>
  <p:clrMapOvr>
    <a:masterClrMapping/>
  </p:clrMapOvr>
</p:sld>
</file>

<file path=ppt/theme/theme1.xml><?xml version="1.0" encoding="utf-8"?>
<a:theme xmlns:a="http://schemas.openxmlformats.org/drawingml/2006/main" name="GradientVTI">
  <a:themeElements>
    <a:clrScheme name="Office">
      <a:dk1>
        <a:srgbClr val="000000"/>
      </a:dk1>
      <a:lt1>
        <a:srgbClr val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21213</TotalTime>
  <Words>164</Words>
  <Application>Microsoft Office PowerPoint</Application>
  <PresentationFormat>ワイド画面</PresentationFormat>
  <Paragraphs>25</Paragraphs>
  <Slides>3</Slides>
  <Notes>2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6" baseType="lpstr">
      <vt:lpstr>Open Sans</vt:lpstr>
      <vt:lpstr>Arial</vt:lpstr>
      <vt:lpstr>GradientVTI</vt:lpstr>
      <vt:lpstr>今後の展望</vt:lpstr>
      <vt:lpstr>今後の展望</vt:lpstr>
      <vt:lpstr>評価実験について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昇汰 三輪</dc:creator>
  <cp:lastModifiedBy>昇汰 三輪</cp:lastModifiedBy>
  <cp:revision>62</cp:revision>
  <dcterms:created xsi:type="dcterms:W3CDTF">2025-05-18T22:20:18Z</dcterms:created>
  <dcterms:modified xsi:type="dcterms:W3CDTF">2026-04-08T16:13:13Z</dcterms:modified>
</cp:coreProperties>
</file>