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95" r:id="rId3"/>
    <p:sldId id="296" r:id="rId4"/>
    <p:sldId id="297" r:id="rId5"/>
    <p:sldId id="300" r:id="rId6"/>
    <p:sldId id="272" r:id="rId7"/>
  </p:sldIdLst>
  <p:sldSz cx="12192000" cy="6858000"/>
  <p:notesSz cx="6858000" cy="9144000"/>
  <p:embeddedFontLst>
    <p:embeddedFont>
      <p:font typeface="游明朝" panose="02020400000000000000" pitchFamily="18" charset="-128"/>
      <p:regular r:id="rId9"/>
    </p:embeddedFont>
    <p:embeddedFont>
      <p:font typeface="Open Sans" panose="020B060603050402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SP1TDKl9SlnSq0ofYxIRhWNpP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D16252-574D-44B4-B3B2-BC42012E9720}" v="88" dt="2025-10-26T05:56:38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77" autoAdjust="0"/>
  </p:normalViewPr>
  <p:slideViewPr>
    <p:cSldViewPr snapToGrid="0">
      <p:cViewPr varScale="1">
        <p:scale>
          <a:sx n="90" d="100"/>
          <a:sy n="90" d="100"/>
        </p:scale>
        <p:origin x="3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customschemas.google.com/relationships/presentationmetadata" Target="NUL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" name="Google Shape;21;p5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6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" name="Google Shape;35;p7"/>
          <p:cNvCxnSpPr/>
          <p:nvPr/>
        </p:nvCxnSpPr>
        <p:spPr>
          <a:xfrm>
            <a:off x="715890" y="1701425"/>
            <a:ext cx="0" cy="5148262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8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9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10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4" name="Google Shape;64;p11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431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2" name="Google Shape;72;p1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0" name="Google Shape;80;p13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4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4" name="Google Shape;94;p15"/>
          <p:cNvCxnSpPr/>
          <p:nvPr/>
        </p:nvCxnSpPr>
        <p:spPr>
          <a:xfrm rot="10800000" flipH="1">
            <a:off x="8313" y="261865"/>
            <a:ext cx="11353802" cy="1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8878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1256275" y="2271449"/>
            <a:ext cx="9679449" cy="28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en-US" sz="7200" dirty="0" err="1">
                <a:solidFill>
                  <a:srgbClr val="FFFFFF"/>
                </a:solidFill>
              </a:rPr>
              <a:t>進捗報告</a:t>
            </a:r>
            <a:endParaRPr dirty="0"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1256275" y="5098254"/>
            <a:ext cx="9679449" cy="75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n-US" dirty="0">
                <a:solidFill>
                  <a:srgbClr val="FFFFFF"/>
                </a:solidFill>
              </a:rPr>
              <a:t>Al21120　三輪昇汰　2025/ 1/ </a:t>
            </a:r>
            <a:r>
              <a:rPr lang="en-US" altLang="ja-JP" dirty="0">
                <a:solidFill>
                  <a:srgbClr val="FFFFFF"/>
                </a:solidFill>
              </a:rPr>
              <a:t>30</a:t>
            </a:r>
            <a:endParaRPr dirty="0">
              <a:solidFill>
                <a:srgbClr val="FFFFFF"/>
              </a:solidFill>
            </a:endParaRPr>
          </a:p>
        </p:txBody>
      </p:sp>
      <p:cxnSp>
        <p:nvCxnSpPr>
          <p:cNvPr id="104" name="Google Shape;104;p1"/>
          <p:cNvCxnSpPr/>
          <p:nvPr/>
        </p:nvCxnSpPr>
        <p:spPr>
          <a:xfrm>
            <a:off x="8878" y="806470"/>
            <a:ext cx="8453437" cy="0"/>
          </a:xfrm>
          <a:prstGeom prst="straightConnector1">
            <a:avLst/>
          </a:prstGeom>
          <a:noFill/>
          <a:ln w="25400" cap="sq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05" name="Google Shape;105;p1"/>
          <p:cNvSpPr/>
          <p:nvPr/>
        </p:nvSpPr>
        <p:spPr>
          <a:xfrm>
            <a:off x="544954" y="2875093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903734" y="3104388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529414" y="3619532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94E335-3C96-D028-14AD-C71A9654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現在の研究の進捗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6B21FE-2E06-6FA7-42B4-C789A7CF2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視聴者コメント</a:t>
            </a:r>
            <a:r>
              <a:rPr kumimoji="1" lang="en-US" altLang="ja-JP" dirty="0"/>
              <a:t>+</a:t>
            </a:r>
            <a:r>
              <a:rPr kumimoji="1" lang="ja-JP" altLang="en-US" dirty="0"/>
              <a:t>字幕　→　トピックセグメント　✅</a:t>
            </a:r>
            <a:endParaRPr kumimoji="1" lang="en-US" altLang="ja-JP" dirty="0"/>
          </a:p>
          <a:p>
            <a:r>
              <a:rPr kumimoji="1" lang="ja-JP" altLang="en-US" dirty="0"/>
              <a:t>視聴者の注目したセグメントの特定　（現在）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5A05C5-6119-B321-7389-46649A505D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38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089ED0-F722-8003-780B-A0649479D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27025"/>
            <a:ext cx="10515600" cy="4351338"/>
          </a:xfrm>
        </p:spPr>
        <p:txBody>
          <a:bodyPr/>
          <a:lstStyle/>
          <a:p>
            <a:r>
              <a:rPr kumimoji="1" lang="ja-JP" altLang="en-US" dirty="0"/>
              <a:t>視聴者の注目したセグメントの特定に必要なこと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注目度の定義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注目度の数値化</a:t>
            </a:r>
            <a:endParaRPr kumimoji="1" lang="en-US" altLang="ja-JP" dirty="0"/>
          </a:p>
          <a:p>
            <a:r>
              <a:rPr kumimoji="1" lang="ja-JP" altLang="en-US" dirty="0"/>
              <a:t>最もわかりやすい指標はセグメント区間内におけるコメント密度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0E332F-B76D-80C8-F2DA-2B57DA5D24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59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9DDC9C-1AD2-6969-A1DA-B3528DA79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1915"/>
            <a:ext cx="10515600" cy="1325563"/>
          </a:xfrm>
        </p:spPr>
        <p:txBody>
          <a:bodyPr/>
          <a:lstStyle/>
          <a:p>
            <a:r>
              <a:rPr lang="ja-JP" altLang="en-US" dirty="0"/>
              <a:t>注目度の定義を決めるために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7B22CF-7768-02F9-E555-E8F76047D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600" y="765175"/>
            <a:ext cx="10515600" cy="6092825"/>
          </a:xfrm>
        </p:spPr>
        <p:txBody>
          <a:bodyPr/>
          <a:lstStyle/>
          <a:p>
            <a:r>
              <a:rPr lang="ja-JP" altLang="en-US" dirty="0"/>
              <a:t>密度だけでは見えない注目度の分析</a:t>
            </a:r>
            <a:endParaRPr lang="en-US" altLang="ja-JP" dirty="0"/>
          </a:p>
          <a:p>
            <a:r>
              <a:rPr lang="ja-JP" altLang="en-US" dirty="0"/>
              <a:t>１．単位時間あたりのコメント密度が高い順に</a:t>
            </a:r>
            <a:endParaRPr lang="en-US" altLang="ja-JP" dirty="0"/>
          </a:p>
          <a:p>
            <a:pPr marL="114300" indent="0">
              <a:buNone/>
            </a:pPr>
            <a:r>
              <a:rPr lang="ja-JP" altLang="en-US" dirty="0"/>
              <a:t>　　　 </a:t>
            </a:r>
            <a:r>
              <a:rPr lang="en-US" altLang="ja-JP" b="1" dirty="0"/>
              <a:t>High / Mid / Low</a:t>
            </a:r>
            <a:r>
              <a:rPr lang="ja-JP" altLang="en-US" dirty="0"/>
              <a:t> の</a:t>
            </a:r>
            <a:r>
              <a:rPr lang="en-US" altLang="ja-JP" dirty="0"/>
              <a:t>3</a:t>
            </a:r>
            <a:r>
              <a:rPr lang="ja-JP" altLang="en-US" dirty="0"/>
              <a:t>グループに分類</a:t>
            </a:r>
            <a:endParaRPr lang="en-US" altLang="ja-JP" dirty="0"/>
          </a:p>
          <a:p>
            <a:r>
              <a:rPr kumimoji="1" lang="ja-JP" altLang="en-US" dirty="0"/>
              <a:t>２．</a:t>
            </a:r>
            <a:r>
              <a:rPr lang="ja-JP" altLang="en-US" dirty="0"/>
              <a:t>定量的データの抽出</a:t>
            </a:r>
            <a:r>
              <a:rPr lang="en-US" altLang="ja-JP" dirty="0"/>
              <a:t>:</a:t>
            </a:r>
            <a:r>
              <a:rPr lang="ja-JP" altLang="en-US" dirty="0"/>
              <a:t> </a:t>
            </a:r>
            <a:endParaRPr lang="en-US" altLang="ja-JP" dirty="0"/>
          </a:p>
          <a:p>
            <a:pPr lvl="1"/>
            <a:r>
              <a:rPr lang="ja-JP" altLang="en-US" dirty="0"/>
              <a:t>ユニークユーザー率</a:t>
            </a:r>
            <a:r>
              <a:rPr lang="ja-JP" altLang="en-US" b="1" dirty="0"/>
              <a:t> </a:t>
            </a:r>
            <a:r>
              <a:rPr lang="en-US" altLang="ja-JP" b="1" dirty="0"/>
              <a:t>:</a:t>
            </a:r>
            <a:r>
              <a:rPr lang="ja-JP" altLang="en-US" dirty="0"/>
              <a:t> コメント数に対する投稿者数の割合。</a:t>
            </a:r>
            <a:endParaRPr lang="en-US" altLang="ja-JP" dirty="0"/>
          </a:p>
          <a:p>
            <a:pPr lvl="1"/>
            <a:r>
              <a:rPr kumimoji="1" lang="en-US" altLang="ja-JP" dirty="0"/>
              <a:t>COS</a:t>
            </a:r>
            <a:r>
              <a:rPr kumimoji="1" lang="ja-JP" altLang="en-US" dirty="0"/>
              <a:t>類似度（配信者とコメント）：配信者の発話</a:t>
            </a:r>
            <a:r>
              <a:rPr kumimoji="1" lang="en-US" altLang="ja-JP" dirty="0"/>
              <a:t>hi</a:t>
            </a:r>
            <a:r>
              <a:rPr kumimoji="1" lang="ja-JP" altLang="en-US" dirty="0"/>
              <a:t>とコメント平均</a:t>
            </a:r>
            <a:r>
              <a:rPr kumimoji="1" lang="en-US" altLang="ja-JP" dirty="0"/>
              <a:t>vi</a:t>
            </a:r>
            <a:r>
              <a:rPr kumimoji="1" lang="ja-JP" altLang="en-US" dirty="0"/>
              <a:t>のコサイン類似度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COS</a:t>
            </a:r>
            <a:r>
              <a:rPr kumimoji="1" lang="ja-JP" altLang="en-US" dirty="0"/>
              <a:t>類似度（コメント間）</a:t>
            </a:r>
            <a:endParaRPr kumimoji="1" lang="en-US" altLang="ja-JP" dirty="0"/>
          </a:p>
          <a:p>
            <a:pPr lvl="1"/>
            <a:r>
              <a:rPr lang="ja-JP" altLang="en-US" dirty="0"/>
              <a:t>区間内での瞬間的な最大密度と平均密度の比率</a:t>
            </a:r>
            <a:endParaRPr lang="en-US" altLang="ja-JP" dirty="0"/>
          </a:p>
          <a:p>
            <a:pPr lvl="1"/>
            <a:r>
              <a:rPr lang="ja-JP" altLang="en-US" dirty="0"/>
              <a:t>区間内での極性スコアの平均 </a:t>
            </a:r>
            <a:endParaRPr lang="en-US" altLang="ja-JP" dirty="0"/>
          </a:p>
          <a:p>
            <a:r>
              <a:rPr kumimoji="1" lang="ja-JP" altLang="en-US" dirty="0"/>
              <a:t>３．それぞれの指標とコメント密度の相関関係を確認</a:t>
            </a:r>
            <a:endParaRPr kumimoji="1"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737AAD-E063-29DE-1F23-80FAE6ADC8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4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760ABF-EAEC-17EE-C665-FED4378AF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指標の意図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DE76F3-F4C3-3683-9487-7B92A37E1E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D0D2DBE1-3004-0271-7E21-93F5DE8E3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639253"/>
              </p:ext>
            </p:extLst>
          </p:nvPr>
        </p:nvGraphicFramePr>
        <p:xfrm>
          <a:off x="939800" y="2099734"/>
          <a:ext cx="10413999" cy="3756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71333">
                  <a:extLst>
                    <a:ext uri="{9D8B030D-6E8A-4147-A177-3AD203B41FA5}">
                      <a16:colId xmlns:a16="http://schemas.microsoft.com/office/drawing/2014/main" val="815118663"/>
                    </a:ext>
                  </a:extLst>
                </a:gridCol>
                <a:gridCol w="3471333">
                  <a:extLst>
                    <a:ext uri="{9D8B030D-6E8A-4147-A177-3AD203B41FA5}">
                      <a16:colId xmlns:a16="http://schemas.microsoft.com/office/drawing/2014/main" val="3003022208"/>
                    </a:ext>
                  </a:extLst>
                </a:gridCol>
                <a:gridCol w="3471333">
                  <a:extLst>
                    <a:ext uri="{9D8B030D-6E8A-4147-A177-3AD203B41FA5}">
                      <a16:colId xmlns:a16="http://schemas.microsoft.com/office/drawing/2014/main" val="3572131377"/>
                    </a:ext>
                  </a:extLst>
                </a:gridCol>
              </a:tblGrid>
              <a:tr h="202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kern="0">
                          <a:effectLst/>
                        </a:rPr>
                        <a:t>分析指標</a:t>
                      </a:r>
                      <a:endParaRPr lang="ja-JP" sz="1050" kern="10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kern="0">
                          <a:effectLst/>
                        </a:rPr>
                        <a:t>対象・定義</a:t>
                      </a:r>
                      <a:endParaRPr lang="ja-JP" sz="1050" kern="10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kern="0">
                          <a:effectLst/>
                        </a:rPr>
                        <a:t>分析の意図（指標導入の目的）</a:t>
                      </a:r>
                      <a:endParaRPr lang="ja-JP" sz="1050" kern="10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4606104"/>
                  </a:ext>
                </a:extLst>
              </a:tr>
              <a:tr h="7642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ja-JP" sz="1200" kern="0" dirty="0">
                        <a:effectLst/>
                      </a:endParaRPr>
                    </a:p>
                    <a:p>
                      <a:pPr algn="ctr">
                        <a:buNone/>
                      </a:pPr>
                      <a:endParaRPr lang="en-US" altLang="ja-JP" sz="1200" kern="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ja-JP" sz="1200" kern="0" dirty="0">
                          <a:effectLst/>
                        </a:rPr>
                        <a:t>ユニークユーザー率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 kern="0" dirty="0">
                          <a:effectLst/>
                        </a:rPr>
                        <a:t>コメント総数に対する投稿者（</a:t>
                      </a:r>
                      <a:r>
                        <a:rPr lang="en-US" sz="1200" kern="0" dirty="0">
                          <a:effectLst/>
                        </a:rPr>
                        <a:t>ID</a:t>
                      </a:r>
                      <a:r>
                        <a:rPr lang="ja-JP" sz="1200" kern="0" dirty="0">
                          <a:effectLst/>
                        </a:rPr>
                        <a:t>）数の割合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 b="1" kern="0" dirty="0">
                          <a:effectLst/>
                        </a:rPr>
                        <a:t>盛り上がりの大衆性の測定</a:t>
                      </a:r>
                      <a:endParaRPr lang="ja-JP" sz="1050" b="1" kern="1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ja-JP" sz="1200" kern="0" dirty="0">
                          <a:effectLst/>
                        </a:rPr>
                        <a:t>特定少数の連投による数値上昇か、広範な視聴者が反応した「場全体の盛り上がり」かを識別するため。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0092712"/>
                  </a:ext>
                </a:extLst>
              </a:tr>
              <a:tr h="7642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 kern="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200" kern="0" dirty="0">
                          <a:effectLst/>
                        </a:rPr>
                        <a:t>COS</a:t>
                      </a:r>
                      <a:r>
                        <a:rPr lang="ja-JP" sz="1200" kern="0" dirty="0">
                          <a:effectLst/>
                        </a:rPr>
                        <a:t>類似度</a:t>
                      </a:r>
                      <a:endParaRPr lang="ja-JP" sz="105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200" kern="0" dirty="0">
                          <a:effectLst/>
                        </a:rPr>
                        <a:t>(</a:t>
                      </a:r>
                      <a:r>
                        <a:rPr lang="ja-JP" sz="1200" kern="0" dirty="0">
                          <a:effectLst/>
                        </a:rPr>
                        <a:t>配信者</a:t>
                      </a:r>
                      <a:r>
                        <a:rPr lang="en-US" sz="1200" kern="0" dirty="0">
                          <a:effectLst/>
                        </a:rPr>
                        <a:t>-</a:t>
                      </a:r>
                      <a:r>
                        <a:rPr lang="ja-JP" sz="1200" kern="0" dirty="0">
                          <a:effectLst/>
                        </a:rPr>
                        <a:t>コメント</a:t>
                      </a:r>
                      <a:r>
                        <a:rPr lang="en-US" sz="1200" kern="0" dirty="0">
                          <a:effectLst/>
                        </a:rPr>
                        <a:t>)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 kern="0" dirty="0">
                          <a:effectLst/>
                        </a:rPr>
                        <a:t>配信者の発話ベクトルとコメント平均ベクトルのコサイン類似度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 b="1" kern="0" dirty="0">
                          <a:effectLst/>
                        </a:rPr>
                        <a:t>文脈的連動性の測定</a:t>
                      </a:r>
                      <a:endParaRPr lang="ja-JP" sz="1050" b="1" kern="1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ja-JP" sz="1200" kern="0" dirty="0">
                          <a:effectLst/>
                        </a:rPr>
                        <a:t>視聴者の反応が配信内容（トピック）に即したものか、あるいは文脈を無視した脱線状態かを評価するため。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0943541"/>
                  </a:ext>
                </a:extLst>
              </a:tr>
              <a:tr h="810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 kern="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200" kern="0" dirty="0">
                          <a:effectLst/>
                        </a:rPr>
                        <a:t>COS</a:t>
                      </a:r>
                      <a:r>
                        <a:rPr lang="ja-JP" sz="1200" kern="0" dirty="0">
                          <a:effectLst/>
                        </a:rPr>
                        <a:t>類似度</a:t>
                      </a:r>
                      <a:endParaRPr lang="ja-JP" sz="105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200" kern="0" dirty="0">
                          <a:effectLst/>
                        </a:rPr>
                        <a:t>(</a:t>
                      </a:r>
                      <a:r>
                        <a:rPr lang="ja-JP" sz="1200" kern="0" dirty="0">
                          <a:effectLst/>
                        </a:rPr>
                        <a:t>コメント間</a:t>
                      </a:r>
                      <a:r>
                        <a:rPr lang="en-US" sz="1200" kern="0" dirty="0">
                          <a:effectLst/>
                        </a:rPr>
                        <a:t>)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 kern="0" dirty="0">
                          <a:effectLst/>
                        </a:rPr>
                        <a:t>セグメント内における各コメントベクトル相互の平均類似度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 b="1" kern="0" dirty="0">
                          <a:effectLst/>
                        </a:rPr>
                        <a:t>視聴者反応の収束度の測定</a:t>
                      </a:r>
                      <a:endParaRPr lang="ja-JP" sz="1050" b="1" kern="1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ja-JP" sz="1200" kern="0" dirty="0">
                          <a:effectLst/>
                        </a:rPr>
                        <a:t>語彙が特定の言葉に集中（一体感のある反応）しているか、個別の感想が分散（多様な反応）しているかを判別するため。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6220870"/>
                  </a:ext>
                </a:extLst>
              </a:tr>
              <a:tr h="607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200" kern="0" dirty="0">
                          <a:effectLst/>
                        </a:rPr>
                        <a:t>密度比</a:t>
                      </a:r>
                      <a:endParaRPr lang="ja-JP" sz="105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200" kern="0" dirty="0">
                          <a:effectLst/>
                        </a:rPr>
                        <a:t>(Max/Avg)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 kern="0" dirty="0">
                          <a:effectLst/>
                        </a:rPr>
                        <a:t>区間内の平均密度に対する瞬間最大密度の比率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 b="1" kern="0" dirty="0">
                          <a:effectLst/>
                        </a:rPr>
                        <a:t>時間的集中力の測定</a:t>
                      </a:r>
                      <a:endParaRPr lang="ja-JP" sz="1050" b="1" kern="1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ja-JP" sz="1200" kern="0" dirty="0">
                          <a:effectLst/>
                        </a:rPr>
                        <a:t>セグメント全体を通じた持続的な関心か、特定シーンへの突発的な反応かを定量化するため。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3628341"/>
                  </a:ext>
                </a:extLst>
              </a:tr>
              <a:tr h="607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ja-JP" sz="1200" kern="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ja-JP" sz="1200" kern="0" dirty="0">
                          <a:effectLst/>
                        </a:rPr>
                        <a:t>極性スコア平均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 kern="0" dirty="0">
                          <a:effectLst/>
                        </a:rPr>
                        <a:t>セグメント内コメント群の感情極性値の平均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200" b="1" kern="0" dirty="0">
                          <a:effectLst/>
                        </a:rPr>
                        <a:t>情動的性質の特定</a:t>
                      </a:r>
                      <a:endParaRPr lang="ja-JP" sz="1050" b="1" kern="1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ja-JP" sz="1200" kern="0" dirty="0">
                          <a:effectLst/>
                        </a:rPr>
                        <a:t>注目シーンの性質が、肯定的（笑い・称賛等）か批判的（炎上・指摘等）かを分類するため。</a:t>
                      </a:r>
                      <a:endParaRPr lang="ja-JP" sz="1050" kern="100" dirty="0">
                        <a:effectLst/>
                        <a:latin typeface="游明朝" panose="02020400000000000000" pitchFamily="18" charset="-128"/>
                        <a:ea typeface="游明朝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8666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275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9E3755-AC4E-E4A7-32A1-69B861A4B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54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春休みおよび</a:t>
            </a:r>
            <a:r>
              <a:rPr kumimoji="1" lang="en-US" altLang="ja-JP" dirty="0"/>
              <a:t>4</a:t>
            </a:r>
            <a:r>
              <a:rPr kumimoji="1" lang="ja-JP" altLang="en-US" dirty="0"/>
              <a:t>月以降の研究予定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D4E1BB-7302-AB79-C28E-82A33BBCD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859" y="929013"/>
            <a:ext cx="11548907" cy="5792461"/>
          </a:xfrm>
        </p:spPr>
        <p:txBody>
          <a:bodyPr/>
          <a:lstStyle/>
          <a:p>
            <a:pPr lvl="1"/>
            <a:r>
              <a:rPr kumimoji="1" lang="ja-JP" altLang="en-US" dirty="0"/>
              <a:t>春休み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セグメント区間内のコメント分析、注目度のスコア定義</a:t>
            </a:r>
            <a:endParaRPr kumimoji="1" lang="en-US" altLang="ja-JP" dirty="0"/>
          </a:p>
          <a:p>
            <a:pPr marL="1028700" lvl="2" indent="0">
              <a:buNone/>
            </a:pPr>
            <a:r>
              <a:rPr kumimoji="1" lang="ja-JP" altLang="en-US" dirty="0"/>
              <a:t>→注目度の高い区間の抽出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４月以降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トピックセグメント精度向上に取り組む</a:t>
            </a:r>
            <a:endParaRPr kumimoji="1" lang="en-US" altLang="ja-JP" dirty="0"/>
          </a:p>
          <a:p>
            <a:pPr lvl="3"/>
            <a:r>
              <a:rPr lang="ja-JP" altLang="en-US" dirty="0"/>
              <a:t>トピックセグメント生成における誤差分析</a:t>
            </a:r>
            <a:endParaRPr lang="en-US" altLang="ja-JP" dirty="0"/>
          </a:p>
          <a:p>
            <a:pPr lvl="3"/>
            <a:r>
              <a:rPr lang="ja-JP" altLang="en-US" dirty="0"/>
              <a:t>画像処理も組み合わせて精度向上を目指す</a:t>
            </a:r>
            <a:endParaRPr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30A6C6-433C-05DC-5008-8997C14CC1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30309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23859</TotalTime>
  <Words>468</Words>
  <Application>Microsoft Office PowerPoint</Application>
  <PresentationFormat>ワイド画面</PresentationFormat>
  <Paragraphs>66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游明朝</vt:lpstr>
      <vt:lpstr>Open Sans</vt:lpstr>
      <vt:lpstr>Arial</vt:lpstr>
      <vt:lpstr>GradientVTI</vt:lpstr>
      <vt:lpstr>進捗報告</vt:lpstr>
      <vt:lpstr>現在の研究の進捗</vt:lpstr>
      <vt:lpstr>PowerPoint プレゼンテーション</vt:lpstr>
      <vt:lpstr>注目度の定義を決めるために</vt:lpstr>
      <vt:lpstr>指標の意図</vt:lpstr>
      <vt:lpstr>春休みおよび4月以降の研究予定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昇汰 三輪</dc:creator>
  <cp:lastModifiedBy>昇汰 三輪</cp:lastModifiedBy>
  <cp:revision>75</cp:revision>
  <dcterms:created xsi:type="dcterms:W3CDTF">2025-05-18T22:20:18Z</dcterms:created>
  <dcterms:modified xsi:type="dcterms:W3CDTF">2026-01-30T04:36:37Z</dcterms:modified>
</cp:coreProperties>
</file>